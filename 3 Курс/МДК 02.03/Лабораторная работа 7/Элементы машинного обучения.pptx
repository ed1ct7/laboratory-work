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42"/>
  </p:notesMasterIdLst>
  <p:handoutMasterIdLst>
    <p:handoutMasterId r:id="rId43"/>
  </p:handoutMasterIdLst>
  <p:sldIdLst>
    <p:sldId id="257" r:id="rId2"/>
    <p:sldId id="295" r:id="rId3"/>
    <p:sldId id="294" r:id="rId4"/>
    <p:sldId id="296" r:id="rId5"/>
    <p:sldId id="300" r:id="rId6"/>
    <p:sldId id="281" r:id="rId7"/>
    <p:sldId id="260" r:id="rId8"/>
    <p:sldId id="282" r:id="rId9"/>
    <p:sldId id="259" r:id="rId10"/>
    <p:sldId id="298" r:id="rId11"/>
    <p:sldId id="302" r:id="rId12"/>
    <p:sldId id="262" r:id="rId13"/>
    <p:sldId id="265" r:id="rId14"/>
    <p:sldId id="266" r:id="rId15"/>
    <p:sldId id="267" r:id="rId16"/>
    <p:sldId id="264" r:id="rId17"/>
    <p:sldId id="268" r:id="rId18"/>
    <p:sldId id="269" r:id="rId19"/>
    <p:sldId id="271" r:id="rId20"/>
    <p:sldId id="261" r:id="rId21"/>
    <p:sldId id="275" r:id="rId22"/>
    <p:sldId id="286" r:id="rId23"/>
    <p:sldId id="288" r:id="rId24"/>
    <p:sldId id="287" r:id="rId25"/>
    <p:sldId id="277" r:id="rId26"/>
    <p:sldId id="276" r:id="rId27"/>
    <p:sldId id="279" r:id="rId28"/>
    <p:sldId id="284" r:id="rId29"/>
    <p:sldId id="290" r:id="rId30"/>
    <p:sldId id="292" r:id="rId31"/>
    <p:sldId id="299" r:id="rId32"/>
    <p:sldId id="258" r:id="rId33"/>
    <p:sldId id="301" r:id="rId34"/>
    <p:sldId id="270" r:id="rId35"/>
    <p:sldId id="263" r:id="rId36"/>
    <p:sldId id="272" r:id="rId37"/>
    <p:sldId id="273" r:id="rId38"/>
    <p:sldId id="274" r:id="rId39"/>
    <p:sldId id="280" r:id="rId40"/>
    <p:sldId id="297" r:id="rId41"/>
  </p:sldIdLst>
  <p:sldSz cx="9144000" cy="6858000" type="screen4x3"/>
  <p:notesSz cx="6858000" cy="9144000"/>
  <p:defaultTextStyle>
    <a:defPPr rtl="0">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1" autoAdjust="0"/>
    <p:restoredTop sz="79151" autoAdjust="0"/>
  </p:normalViewPr>
  <p:slideViewPr>
    <p:cSldViewPr snapToGrid="0">
      <p:cViewPr varScale="1">
        <p:scale>
          <a:sx n="71" d="100"/>
          <a:sy n="71" d="100"/>
        </p:scale>
        <p:origin x="1482" y="72"/>
      </p:cViewPr>
      <p:guideLst/>
    </p:cSldViewPr>
  </p:slideViewPr>
  <p:notesTextViewPr>
    <p:cViewPr>
      <p:scale>
        <a:sx n="1" d="1"/>
        <a:sy n="1" d="1"/>
      </p:scale>
      <p:origin x="0" y="0"/>
    </p:cViewPr>
  </p:notesTextViewPr>
  <p:notesViewPr>
    <p:cSldViewPr snapToGrid="0">
      <p:cViewPr varScale="1">
        <p:scale>
          <a:sx n="124" d="100"/>
          <a:sy n="124" d="100"/>
        </p:scale>
        <p:origin x="4950"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rtlCol="0"/>
        <a:lstStyle/>
        <a:p>
          <a:pPr rtl="0"/>
          <a:endParaRPr lang="en-US"/>
        </a:p>
      </dgm:t>
    </dgm:pt>
    <dgm:pt modelId="{8DB5D7D5-6A1C-4ABC-8850-759A9D876047}">
      <dgm:prSet custT="1"/>
      <dgm:spPr/>
      <dgm:t>
        <a:bodyPr rtlCol="0"/>
        <a:lstStyle/>
        <a:p>
          <a:pPr rtl="0"/>
          <a:r>
            <a:rPr lang="ru" sz="2800" dirty="0"/>
            <a:t>80%</a:t>
          </a:r>
        </a:p>
      </dgm:t>
    </dgm:pt>
    <dgm:pt modelId="{D8874F40-D7B0-41DE-BB6F-A6014FEAB2D7}" type="parTrans" cxnId="{C5202EE1-10E9-4076-9D55-9E0CF8B152AF}">
      <dgm:prSet/>
      <dgm:spPr/>
      <dgm:t>
        <a:bodyPr rtlCol="0"/>
        <a:lstStyle/>
        <a:p>
          <a:pPr rtl="0"/>
          <a:endParaRPr lang="en-US" sz="4400"/>
        </a:p>
      </dgm:t>
    </dgm:pt>
    <dgm:pt modelId="{BD6E0A2E-99C8-4F5A-971A-CD211D1099FF}" type="sibTrans" cxnId="{C5202EE1-10E9-4076-9D55-9E0CF8B152AF}">
      <dgm:prSet/>
      <dgm:spPr/>
      <dgm:t>
        <a:bodyPr rtlCol="0"/>
        <a:lstStyle/>
        <a:p>
          <a:pPr rtl="0"/>
          <a:endParaRPr lang="en-US" sz="4400"/>
        </a:p>
      </dgm:t>
    </dgm:pt>
    <dgm:pt modelId="{96262926-A67D-4E4E-9515-5EBC67F0B634}">
      <dgm:prSet custT="1"/>
      <dgm:spPr/>
      <dgm:t>
        <a:bodyPr rtlCol="0"/>
        <a:lstStyle/>
        <a:p>
          <a:pPr rtl="0"/>
          <a:r>
            <a:rPr lang="ru-RU" sz="2800" dirty="0"/>
            <a:t>Обучающая выборка</a:t>
          </a:r>
          <a:endParaRPr lang="ru" sz="2800" dirty="0"/>
        </a:p>
      </dgm:t>
    </dgm:pt>
    <dgm:pt modelId="{EC74E552-C501-4B0E-9400-E8B410F53D50}" type="parTrans" cxnId="{8C5B110A-FBC3-4CBF-BED2-413E87D4DAD5}">
      <dgm:prSet/>
      <dgm:spPr/>
      <dgm:t>
        <a:bodyPr rtlCol="0"/>
        <a:lstStyle/>
        <a:p>
          <a:pPr rtl="0"/>
          <a:endParaRPr lang="en-US" sz="4400"/>
        </a:p>
      </dgm:t>
    </dgm:pt>
    <dgm:pt modelId="{1DA7ACEB-F642-43C1-BCB5-F580B9B985B9}" type="sibTrans" cxnId="{8C5B110A-FBC3-4CBF-BED2-413E87D4DAD5}">
      <dgm:prSet/>
      <dgm:spPr/>
      <dgm:t>
        <a:bodyPr rtlCol="0"/>
        <a:lstStyle/>
        <a:p>
          <a:pPr rtl="0"/>
          <a:endParaRPr lang="en-US" sz="4400"/>
        </a:p>
      </dgm:t>
    </dgm:pt>
    <dgm:pt modelId="{C5146535-FD3D-4589-98A3-623B8DA4B8DB}">
      <dgm:prSet custT="1"/>
      <dgm:spPr/>
      <dgm:t>
        <a:bodyPr rtlCol="0"/>
        <a:lstStyle/>
        <a:p>
          <a:pPr rtl="0"/>
          <a:r>
            <a:rPr lang="ru" sz="2800" dirty="0"/>
            <a:t>20%</a:t>
          </a:r>
        </a:p>
      </dgm:t>
    </dgm:pt>
    <dgm:pt modelId="{20848F78-EC70-4162-96CE-CC68006930F0}" type="parTrans" cxnId="{8EBF857E-7408-4941-91E4-293B0F59EEF7}">
      <dgm:prSet/>
      <dgm:spPr/>
      <dgm:t>
        <a:bodyPr rtlCol="0"/>
        <a:lstStyle/>
        <a:p>
          <a:pPr rtl="0"/>
          <a:endParaRPr lang="en-US" sz="4400"/>
        </a:p>
      </dgm:t>
    </dgm:pt>
    <dgm:pt modelId="{7A3CCAF8-AC3A-401E-AEDD-44BBC1AA9C31}" type="sibTrans" cxnId="{8EBF857E-7408-4941-91E4-293B0F59EEF7}">
      <dgm:prSet/>
      <dgm:spPr/>
      <dgm:t>
        <a:bodyPr rtlCol="0"/>
        <a:lstStyle/>
        <a:p>
          <a:pPr rtl="0"/>
          <a:endParaRPr lang="en-US" sz="4400"/>
        </a:p>
      </dgm:t>
    </dgm:pt>
    <dgm:pt modelId="{E80CA270-6C90-4E17-ACEA-46B56AD54DD1}">
      <dgm:prSet custT="1"/>
      <dgm:spPr/>
      <dgm:t>
        <a:bodyPr rtlCol="0"/>
        <a:lstStyle/>
        <a:p>
          <a:pPr rtl="0"/>
          <a:r>
            <a:rPr lang="ru" sz="2800" dirty="0"/>
            <a:t>Валидационная выборка</a:t>
          </a:r>
        </a:p>
      </dgm:t>
    </dgm:pt>
    <dgm:pt modelId="{7EEC8067-96EF-4BE0-8BE3-BA59ED78A31F}" type="parTrans" cxnId="{2DC28DF8-5C1B-4F53-A4C1-D5B63FB54BAF}">
      <dgm:prSet/>
      <dgm:spPr/>
      <dgm:t>
        <a:bodyPr rtlCol="0"/>
        <a:lstStyle/>
        <a:p>
          <a:pPr rtl="0"/>
          <a:endParaRPr lang="en-US" sz="4400"/>
        </a:p>
      </dgm:t>
    </dgm:pt>
    <dgm:pt modelId="{1AFE46E5-6B07-4894-8ECB-21BD7E7B8AF1}" type="sibTrans" cxnId="{2DC28DF8-5C1B-4F53-A4C1-D5B63FB54BAF}">
      <dgm:prSet/>
      <dgm:spPr/>
      <dgm:t>
        <a:bodyPr rtlCol="0"/>
        <a:lstStyle/>
        <a:p>
          <a:pPr rtl="0"/>
          <a:endParaRPr lang="en-US" sz="4400"/>
        </a:p>
      </dgm:t>
    </dgm:pt>
    <dgm:pt modelId="{09C152DA-7620-4852-8162-A77EC3609F3F}">
      <dgm:prSet custT="1"/>
      <dgm:spPr/>
      <dgm:t>
        <a:bodyPr rtlCol="0"/>
        <a:lstStyle/>
        <a:p>
          <a:pPr rtl="0"/>
          <a:r>
            <a:rPr lang="ru-RU" sz="2000" dirty="0"/>
            <a:t>П</a:t>
          </a:r>
          <a:r>
            <a:rPr lang="ru" sz="1600" dirty="0"/>
            <a:t>ериод</a:t>
          </a:r>
          <a:r>
            <a:rPr lang="ru" sz="2000" dirty="0"/>
            <a:t> </a:t>
          </a:r>
          <a:r>
            <a:rPr lang="ru" sz="1600" dirty="0"/>
            <a:t>упреждения</a:t>
          </a:r>
          <a:endParaRPr lang="ru" sz="2000" dirty="0"/>
        </a:p>
      </dgm:t>
    </dgm:pt>
    <dgm:pt modelId="{9F6D14C0-6C82-4CBD-8D6D-B0E117B6F2ED}" type="parTrans" cxnId="{23ECAC8B-17A4-4883-AA0E-06D66B7E788A}">
      <dgm:prSet/>
      <dgm:spPr/>
      <dgm:t>
        <a:bodyPr rtlCol="0"/>
        <a:lstStyle/>
        <a:p>
          <a:pPr rtl="0"/>
          <a:endParaRPr lang="en-US" sz="4400"/>
        </a:p>
      </dgm:t>
    </dgm:pt>
    <dgm:pt modelId="{0AE8D36D-0F0F-4206-AE39-0A2D73987B68}" type="sibTrans" cxnId="{23ECAC8B-17A4-4883-AA0E-06D66B7E788A}">
      <dgm:prSet/>
      <dgm:spPr/>
      <dgm:t>
        <a:bodyPr rtlCol="0"/>
        <a:lstStyle/>
        <a:p>
          <a:pPr rtl="0"/>
          <a:endParaRPr lang="en-US" sz="4400"/>
        </a:p>
      </dgm:t>
    </dgm:pt>
    <dgm:pt modelId="{6C8937BE-93F8-4DED-8538-1C601DAEBA66}">
      <dgm:prSet custT="1"/>
      <dgm:spPr/>
      <dgm:t>
        <a:bodyPr rtlCol="0"/>
        <a:lstStyle/>
        <a:p>
          <a:pPr rtl="0"/>
          <a:r>
            <a:rPr lang="ru" sz="2800" dirty="0"/>
            <a:t>Прогнозные значения</a:t>
          </a:r>
        </a:p>
      </dgm:t>
    </dgm:pt>
    <dgm:pt modelId="{77D169C6-D77F-456D-B18B-D7BE016AD87A}" type="parTrans" cxnId="{FAA8D3DD-12E8-457D-9144-B037C5678347}">
      <dgm:prSet/>
      <dgm:spPr/>
      <dgm:t>
        <a:bodyPr rtlCol="0"/>
        <a:lstStyle/>
        <a:p>
          <a:pPr rtl="0"/>
          <a:endParaRPr lang="en-US" sz="4400"/>
        </a:p>
      </dgm:t>
    </dgm:pt>
    <dgm:pt modelId="{A97BE953-FA9D-4BA6-A92C-494DB1F3BA59}" type="sibTrans" cxnId="{FAA8D3DD-12E8-457D-9144-B037C5678347}">
      <dgm:prSet/>
      <dgm:spPr/>
      <dgm:t>
        <a:bodyPr rtlCol="0"/>
        <a:lstStyle/>
        <a:p>
          <a:pPr rtl="0"/>
          <a:endParaRPr lang="en-US" sz="4400"/>
        </a:p>
      </dgm:t>
    </dgm:pt>
    <dgm:pt modelId="{AB52B3CC-6563-466D-BFC3-9B6B5AFA0881}" type="pres">
      <dgm:prSet presAssocID="{6A70FD8F-0050-42E3-8B3A-6ED7CFB9852E}" presName="Name0" presStyleCnt="0">
        <dgm:presLayoutVars>
          <dgm:chMax/>
          <dgm:chPref/>
          <dgm:animLvl val="lvl"/>
        </dgm:presLayoutVars>
      </dgm:prSet>
      <dgm:spPr/>
    </dgm:pt>
    <dgm:pt modelId="{815EDF7B-AC93-4A61-87AA-CAA5D85C31A8}" type="pres">
      <dgm:prSet presAssocID="{8DB5D7D5-6A1C-4ABC-8850-759A9D876047}" presName="composite1" presStyleCnt="0"/>
      <dgm:spPr/>
    </dgm:pt>
    <dgm:pt modelId="{954381E7-0584-46DD-8108-E9BF4F2B5005}" type="pres">
      <dgm:prSet presAssocID="{8DB5D7D5-6A1C-4ABC-8850-759A9D876047}" presName="parent1" presStyleLbl="alignNode1" presStyleIdx="0" presStyleCnt="3">
        <dgm:presLayoutVars>
          <dgm:chMax val="1"/>
          <dgm:chPref val="1"/>
          <dgm:bulletEnabled val="1"/>
        </dgm:presLayoutVars>
      </dgm:prSet>
      <dgm:spPr/>
    </dgm:pt>
    <dgm:pt modelId="{5A1B764B-0DC5-47CD-BDEA-9E67799496EC}" type="pres">
      <dgm:prSet presAssocID="{8DB5D7D5-6A1C-4ABC-8850-759A9D876047}" presName="Childtext1" presStyleLbl="revTx" presStyleIdx="0" presStyleCnt="3">
        <dgm:presLayoutVars>
          <dgm:bulletEnabled val="1"/>
        </dgm:presLayoutVars>
      </dgm:prSet>
      <dgm:spPr/>
    </dgm:pt>
    <dgm:pt modelId="{122B38A3-0442-4747-820C-1F37877E2B0E}" type="pres">
      <dgm:prSet presAssocID="{8DB5D7D5-6A1C-4ABC-8850-759A9D876047}" presName="ConnectLine1" presStyleLbl="sibTrans1D1" presStyleIdx="0" presStyleCnt="3"/>
      <dgm:spPr>
        <a:noFill/>
        <a:ln w="12700" cap="rnd" cmpd="sng" algn="ctr">
          <a:solidFill>
            <a:schemeClr val="accent1">
              <a:shade val="90000"/>
              <a:hueOff val="93466"/>
              <a:satOff val="1924"/>
              <a:lumOff val="8231"/>
              <a:alphaOff val="0"/>
            </a:schemeClr>
          </a:solidFill>
          <a:prstDash val="dash"/>
        </a:ln>
        <a:effectLst/>
      </dgm:spPr>
    </dgm:pt>
    <dgm:pt modelId="{A73181F6-69BB-4A47-8277-4671A45AC8C8}" type="pres">
      <dgm:prSet presAssocID="{8DB5D7D5-6A1C-4ABC-8850-759A9D876047}" presName="ConnectLineEnd1" presStyleLbl="lnNode1" presStyleIdx="0" presStyleCnt="3"/>
      <dgm:spPr/>
    </dgm:pt>
    <dgm:pt modelId="{6E76EADA-5F61-4A59-B2F8-FA10112079FC}" type="pres">
      <dgm:prSet presAssocID="{8DB5D7D5-6A1C-4ABC-8850-759A9D876047}" presName="EmptyPane1" presStyleCnt="0"/>
      <dgm:spPr/>
    </dgm:pt>
    <dgm:pt modelId="{A8189248-0785-43F1-844C-4DE92841F254}" type="pres">
      <dgm:prSet presAssocID="{BD6E0A2E-99C8-4F5A-971A-CD211D1099FF}" presName="spaceBetweenRectangles1" presStyleCnt="0"/>
      <dgm:spPr/>
    </dgm:pt>
    <dgm:pt modelId="{218D9CD7-D48D-464C-9A1C-0F322EC540B3}" type="pres">
      <dgm:prSet presAssocID="{C5146535-FD3D-4589-98A3-623B8DA4B8DB}" presName="composite1" presStyleCnt="0"/>
      <dgm:spPr/>
    </dgm:pt>
    <dgm:pt modelId="{30804A27-188E-4A17-8FFE-97BCCA0597B8}" type="pres">
      <dgm:prSet presAssocID="{C5146535-FD3D-4589-98A3-623B8DA4B8DB}" presName="parent1" presStyleLbl="alignNode1" presStyleIdx="1" presStyleCnt="3">
        <dgm:presLayoutVars>
          <dgm:chMax val="1"/>
          <dgm:chPref val="1"/>
          <dgm:bulletEnabled val="1"/>
        </dgm:presLayoutVars>
      </dgm:prSet>
      <dgm:spPr/>
    </dgm:pt>
    <dgm:pt modelId="{DF65791B-462E-4589-B98D-F60587330CA8}" type="pres">
      <dgm:prSet presAssocID="{C5146535-FD3D-4589-98A3-623B8DA4B8DB}" presName="Childtext1" presStyleLbl="revTx" presStyleIdx="1" presStyleCnt="3">
        <dgm:presLayoutVars>
          <dgm:bulletEnabled val="1"/>
        </dgm:presLayoutVars>
      </dgm:prSet>
      <dgm:spPr/>
    </dgm:pt>
    <dgm:pt modelId="{DBA410EB-5F61-4F46-92D9-C5B0AA59EE15}" type="pres">
      <dgm:prSet presAssocID="{C5146535-FD3D-4589-98A3-623B8DA4B8DB}" presName="ConnectLine1" presStyleLbl="sibTrans1D1" presStyleIdx="1" presStyleCnt="3"/>
      <dgm:spPr>
        <a:noFill/>
        <a:ln w="12700" cap="rnd" cmpd="sng" algn="ctr">
          <a:solidFill>
            <a:schemeClr val="accent1">
              <a:shade val="90000"/>
              <a:hueOff val="140199"/>
              <a:satOff val="2886"/>
              <a:lumOff val="12346"/>
              <a:alphaOff val="0"/>
            </a:schemeClr>
          </a:solidFill>
          <a:prstDash val="dash"/>
        </a:ln>
        <a:effectLst/>
      </dgm:spPr>
    </dgm:pt>
    <dgm:pt modelId="{E1220EDB-B75C-43A5-B862-97E4C09130A7}" type="pres">
      <dgm:prSet presAssocID="{C5146535-FD3D-4589-98A3-623B8DA4B8DB}" presName="ConnectLineEnd1" presStyleLbl="lnNode1" presStyleIdx="1" presStyleCnt="3"/>
      <dgm:spPr/>
    </dgm:pt>
    <dgm:pt modelId="{D8849157-215F-4E70-9735-315E97B5AC5C}" type="pres">
      <dgm:prSet presAssocID="{C5146535-FD3D-4589-98A3-623B8DA4B8DB}" presName="EmptyPane1" presStyleCnt="0"/>
      <dgm:spPr/>
    </dgm:pt>
    <dgm:pt modelId="{7C467054-22FE-4C18-9934-29D7168DFF63}" type="pres">
      <dgm:prSet presAssocID="{7A3CCAF8-AC3A-401E-AEDD-44BBC1AA9C31}" presName="spaceBetweenRectangles1" presStyleCnt="0"/>
      <dgm:spPr/>
    </dgm:pt>
    <dgm:pt modelId="{3E3E944D-A6EC-4962-9AC1-C585A4F97BDA}" type="pres">
      <dgm:prSet presAssocID="{09C152DA-7620-4852-8162-A77EC3609F3F}" presName="composite1" presStyleCnt="0"/>
      <dgm:spPr/>
    </dgm:pt>
    <dgm:pt modelId="{566B79CB-1A41-4F5C-BF91-58D94BF93913}" type="pres">
      <dgm:prSet presAssocID="{09C152DA-7620-4852-8162-A77EC3609F3F}" presName="parent1" presStyleLbl="alignNode1" presStyleIdx="2" presStyleCnt="3">
        <dgm:presLayoutVars>
          <dgm:chMax val="1"/>
          <dgm:chPref val="1"/>
          <dgm:bulletEnabled val="1"/>
        </dgm:presLayoutVars>
      </dgm:prSet>
      <dgm:spPr/>
    </dgm:pt>
    <dgm:pt modelId="{B4723E2A-4FF1-452A-BD25-8EC364F15A6F}" type="pres">
      <dgm:prSet presAssocID="{09C152DA-7620-4852-8162-A77EC3609F3F}" presName="Childtext1" presStyleLbl="revTx" presStyleIdx="2" presStyleCnt="3">
        <dgm:presLayoutVars>
          <dgm:bulletEnabled val="1"/>
        </dgm:presLayoutVars>
      </dgm:prSet>
      <dgm:spPr/>
    </dgm:pt>
    <dgm:pt modelId="{440E9361-37D2-4157-AF38-7B49AD23708B}" type="pres">
      <dgm:prSet presAssocID="{09C152DA-7620-4852-8162-A77EC3609F3F}" presName="ConnectLine1" presStyleLbl="sibTrans1D1" presStyleIdx="2" presStyleCnt="3"/>
      <dgm:spPr>
        <a:noFill/>
        <a:ln w="12700" cap="rnd" cmpd="sng" algn="ctr">
          <a:solidFill>
            <a:schemeClr val="accent1">
              <a:shade val="90000"/>
              <a:hueOff val="186931"/>
              <a:satOff val="3848"/>
              <a:lumOff val="16461"/>
              <a:alphaOff val="0"/>
            </a:schemeClr>
          </a:solidFill>
          <a:prstDash val="dash"/>
        </a:ln>
        <a:effectLst/>
      </dgm:spPr>
    </dgm:pt>
    <dgm:pt modelId="{C45E7B63-1C71-483E-A3A8-705CE86D4D8E}" type="pres">
      <dgm:prSet presAssocID="{09C152DA-7620-4852-8162-A77EC3609F3F}" presName="ConnectLineEnd1" presStyleLbl="lnNode1" presStyleIdx="2" presStyleCnt="3"/>
      <dgm:spPr/>
    </dgm:pt>
    <dgm:pt modelId="{4174F691-D9D3-451C-9893-D177DC3AED58}" type="pres">
      <dgm:prSet presAssocID="{09C152DA-7620-4852-8162-A77EC3609F3F}" presName="EmptyPane1" presStyleCnt="0"/>
      <dgm:spPr/>
    </dgm:pt>
  </dgm:ptLst>
  <dgm:cxnLst>
    <dgm:cxn modelId="{5C25BB02-FA66-40A4-9DA6-9E1CAE3A8D4E}" type="presOf" srcId="{C5146535-FD3D-4589-98A3-623B8DA4B8DB}" destId="{30804A27-188E-4A17-8FFE-97BCCA0597B8}" srcOrd="0" destOrd="0" presId="urn:microsoft.com/office/officeart/2016/7/layout/RoundedRectangleTimeline"/>
    <dgm:cxn modelId="{8C5B110A-FBC3-4CBF-BED2-413E87D4DAD5}" srcId="{8DB5D7D5-6A1C-4ABC-8850-759A9D876047}" destId="{96262926-A67D-4E4E-9515-5EBC67F0B634}" srcOrd="0" destOrd="0" parTransId="{EC74E552-C501-4B0E-9400-E8B410F53D50}" sibTransId="{1DA7ACEB-F642-43C1-BCB5-F580B9B985B9}"/>
    <dgm:cxn modelId="{84C67813-55CE-4EBC-9032-03BD847DC17E}" type="presOf" srcId="{6A70FD8F-0050-42E3-8B3A-6ED7CFB9852E}" destId="{AB52B3CC-6563-466D-BFC3-9B6B5AFA0881}" srcOrd="0" destOrd="0" presId="urn:microsoft.com/office/officeart/2016/7/layout/RoundedRectangleTimeline"/>
    <dgm:cxn modelId="{22ECA226-C4EA-44F1-BCB5-77F78841DA6F}" type="presOf" srcId="{09C152DA-7620-4852-8162-A77EC3609F3F}" destId="{566B79CB-1A41-4F5C-BF91-58D94BF93913}" srcOrd="0" destOrd="0" presId="urn:microsoft.com/office/officeart/2016/7/layout/RoundedRectangleTimeline"/>
    <dgm:cxn modelId="{E2BBA750-A5E4-4F50-BE16-016934379F81}" type="presOf" srcId="{6C8937BE-93F8-4DED-8538-1C601DAEBA66}" destId="{B4723E2A-4FF1-452A-BD25-8EC364F15A6F}" srcOrd="0" destOrd="0" presId="urn:microsoft.com/office/officeart/2016/7/layout/RoundedRectangleTimeline"/>
    <dgm:cxn modelId="{F9B2D375-40BE-4E5D-AA88-61805FBFF819}" type="presOf" srcId="{8DB5D7D5-6A1C-4ABC-8850-759A9D876047}" destId="{954381E7-0584-46DD-8108-E9BF4F2B5005}" srcOrd="0" destOrd="0" presId="urn:microsoft.com/office/officeart/2016/7/layout/RoundedRectangleTimeline"/>
    <dgm:cxn modelId="{8EBF857E-7408-4941-91E4-293B0F59EEF7}" srcId="{6A70FD8F-0050-42E3-8B3A-6ED7CFB9852E}" destId="{C5146535-FD3D-4589-98A3-623B8DA4B8DB}" srcOrd="1" destOrd="0" parTransId="{20848F78-EC70-4162-96CE-CC68006930F0}" sibTransId="{7A3CCAF8-AC3A-401E-AEDD-44BBC1AA9C31}"/>
    <dgm:cxn modelId="{23ECAC8B-17A4-4883-AA0E-06D66B7E788A}" srcId="{6A70FD8F-0050-42E3-8B3A-6ED7CFB9852E}" destId="{09C152DA-7620-4852-8162-A77EC3609F3F}" srcOrd="2" destOrd="0" parTransId="{9F6D14C0-6C82-4CBD-8D6D-B0E117B6F2ED}" sibTransId="{0AE8D36D-0F0F-4206-AE39-0A2D73987B68}"/>
    <dgm:cxn modelId="{F9540599-A193-456C-A9A9-8962E3855B0B}" type="presOf" srcId="{96262926-A67D-4E4E-9515-5EBC67F0B634}" destId="{5A1B764B-0DC5-47CD-BDEA-9E67799496EC}" srcOrd="0" destOrd="0" presId="urn:microsoft.com/office/officeart/2016/7/layout/RoundedRectangleTimeline"/>
    <dgm:cxn modelId="{E13585A2-54F2-486A-B317-F4D6AF7E83B9}" type="presOf" srcId="{E80CA270-6C90-4E17-ACEA-46B56AD54DD1}" destId="{DF65791B-462E-4589-B98D-F60587330CA8}" srcOrd="0" destOrd="0" presId="urn:microsoft.com/office/officeart/2016/7/layout/RoundedRectangleTimeline"/>
    <dgm:cxn modelId="{FAA8D3DD-12E8-457D-9144-B037C5678347}" srcId="{09C152DA-7620-4852-8162-A77EC3609F3F}" destId="{6C8937BE-93F8-4DED-8538-1C601DAEBA66}" srcOrd="0" destOrd="0" parTransId="{77D169C6-D77F-456D-B18B-D7BE016AD87A}" sibTransId="{A97BE953-FA9D-4BA6-A92C-494DB1F3BA59}"/>
    <dgm:cxn modelId="{C5202EE1-10E9-4076-9D55-9E0CF8B152AF}" srcId="{6A70FD8F-0050-42E3-8B3A-6ED7CFB9852E}" destId="{8DB5D7D5-6A1C-4ABC-8850-759A9D876047}" srcOrd="0" destOrd="0" parTransId="{D8874F40-D7B0-41DE-BB6F-A6014FEAB2D7}" sibTransId="{BD6E0A2E-99C8-4F5A-971A-CD211D1099FF}"/>
    <dgm:cxn modelId="{2DC28DF8-5C1B-4F53-A4C1-D5B63FB54BAF}" srcId="{C5146535-FD3D-4589-98A3-623B8DA4B8DB}" destId="{E80CA270-6C90-4E17-ACEA-46B56AD54DD1}" srcOrd="0" destOrd="0" parTransId="{7EEC8067-96EF-4BE0-8BE3-BA59ED78A31F}" sibTransId="{1AFE46E5-6B07-4894-8ECB-21BD7E7B8AF1}"/>
    <dgm:cxn modelId="{76459B4A-BC95-4631-A3CC-1410E80D5DFD}" type="presParOf" srcId="{AB52B3CC-6563-466D-BFC3-9B6B5AFA0881}" destId="{815EDF7B-AC93-4A61-87AA-CAA5D85C31A8}" srcOrd="0" destOrd="0" presId="urn:microsoft.com/office/officeart/2016/7/layout/RoundedRectangleTimeline"/>
    <dgm:cxn modelId="{4238FA88-CE43-4680-BFB0-73DED5612698}" type="presParOf" srcId="{815EDF7B-AC93-4A61-87AA-CAA5D85C31A8}" destId="{954381E7-0584-46DD-8108-E9BF4F2B5005}" srcOrd="0" destOrd="0" presId="urn:microsoft.com/office/officeart/2016/7/layout/RoundedRectangleTimeline"/>
    <dgm:cxn modelId="{6497CE05-0893-4952-B18A-28D71D90B841}" type="presParOf" srcId="{815EDF7B-AC93-4A61-87AA-CAA5D85C31A8}" destId="{5A1B764B-0DC5-47CD-BDEA-9E67799496EC}" srcOrd="1" destOrd="0" presId="urn:microsoft.com/office/officeart/2016/7/layout/RoundedRectangleTimeline"/>
    <dgm:cxn modelId="{CB8BA570-C0D4-4400-BED8-C9BC961A6553}" type="presParOf" srcId="{815EDF7B-AC93-4A61-87AA-CAA5D85C31A8}" destId="{122B38A3-0442-4747-820C-1F37877E2B0E}" srcOrd="2" destOrd="0" presId="urn:microsoft.com/office/officeart/2016/7/layout/RoundedRectangleTimeline"/>
    <dgm:cxn modelId="{82FC1E36-99F3-4E1F-8BD1-229D77A82EB1}" type="presParOf" srcId="{815EDF7B-AC93-4A61-87AA-CAA5D85C31A8}" destId="{A73181F6-69BB-4A47-8277-4671A45AC8C8}" srcOrd="3" destOrd="0" presId="urn:microsoft.com/office/officeart/2016/7/layout/RoundedRectangleTimeline"/>
    <dgm:cxn modelId="{7EAD7967-836C-4AB6-AAA2-ED2EF3F29E78}" type="presParOf" srcId="{815EDF7B-AC93-4A61-87AA-CAA5D85C31A8}" destId="{6E76EADA-5F61-4A59-B2F8-FA10112079FC}" srcOrd="4" destOrd="0" presId="urn:microsoft.com/office/officeart/2016/7/layout/RoundedRectangleTimeline"/>
    <dgm:cxn modelId="{3783DE09-7B3D-423E-960C-ED9DB81E314E}" type="presParOf" srcId="{AB52B3CC-6563-466D-BFC3-9B6B5AFA0881}" destId="{A8189248-0785-43F1-844C-4DE92841F254}" srcOrd="1" destOrd="0" presId="urn:microsoft.com/office/officeart/2016/7/layout/RoundedRectangleTimeline"/>
    <dgm:cxn modelId="{38B07C9C-D21D-4E2B-A78B-C30877B2689A}" type="presParOf" srcId="{AB52B3CC-6563-466D-BFC3-9B6B5AFA0881}" destId="{218D9CD7-D48D-464C-9A1C-0F322EC540B3}" srcOrd="2" destOrd="0" presId="urn:microsoft.com/office/officeart/2016/7/layout/RoundedRectangleTimeline"/>
    <dgm:cxn modelId="{E6790483-7B9E-44FB-9EAE-A282A4B9AB73}" type="presParOf" srcId="{218D9CD7-D48D-464C-9A1C-0F322EC540B3}" destId="{30804A27-188E-4A17-8FFE-97BCCA0597B8}" srcOrd="0" destOrd="0" presId="urn:microsoft.com/office/officeart/2016/7/layout/RoundedRectangleTimeline"/>
    <dgm:cxn modelId="{B31BDB48-FB8E-47F4-8F76-B90009D28A96}" type="presParOf" srcId="{218D9CD7-D48D-464C-9A1C-0F322EC540B3}" destId="{DF65791B-462E-4589-B98D-F60587330CA8}" srcOrd="1" destOrd="0" presId="urn:microsoft.com/office/officeart/2016/7/layout/RoundedRectangleTimeline"/>
    <dgm:cxn modelId="{517AE913-68B2-41AC-BE20-5D4195845D6F}" type="presParOf" srcId="{218D9CD7-D48D-464C-9A1C-0F322EC540B3}" destId="{DBA410EB-5F61-4F46-92D9-C5B0AA59EE15}" srcOrd="2" destOrd="0" presId="urn:microsoft.com/office/officeart/2016/7/layout/RoundedRectangleTimeline"/>
    <dgm:cxn modelId="{0F089045-7542-47F1-8B17-68354869406A}" type="presParOf" srcId="{218D9CD7-D48D-464C-9A1C-0F322EC540B3}" destId="{E1220EDB-B75C-43A5-B862-97E4C09130A7}" srcOrd="3" destOrd="0" presId="urn:microsoft.com/office/officeart/2016/7/layout/RoundedRectangleTimeline"/>
    <dgm:cxn modelId="{79B44ECC-99D2-49DD-9DEE-58B1D2AE6C6C}" type="presParOf" srcId="{218D9CD7-D48D-464C-9A1C-0F322EC540B3}" destId="{D8849157-215F-4E70-9735-315E97B5AC5C}" srcOrd="4" destOrd="0" presId="urn:microsoft.com/office/officeart/2016/7/layout/RoundedRectangleTimeline"/>
    <dgm:cxn modelId="{6930EC12-FB60-44F8-973F-19AC06AA90BB}" type="presParOf" srcId="{AB52B3CC-6563-466D-BFC3-9B6B5AFA0881}" destId="{7C467054-22FE-4C18-9934-29D7168DFF63}" srcOrd="3" destOrd="0" presId="urn:microsoft.com/office/officeart/2016/7/layout/RoundedRectangleTimeline"/>
    <dgm:cxn modelId="{1F4A4777-E935-453F-A5B9-015C6946FC6A}" type="presParOf" srcId="{AB52B3CC-6563-466D-BFC3-9B6B5AFA0881}" destId="{3E3E944D-A6EC-4962-9AC1-C585A4F97BDA}" srcOrd="4" destOrd="0" presId="urn:microsoft.com/office/officeart/2016/7/layout/RoundedRectangleTimeline"/>
    <dgm:cxn modelId="{94AC8B5D-A9B9-4EF3-AD1C-6024606B5BF8}" type="presParOf" srcId="{3E3E944D-A6EC-4962-9AC1-C585A4F97BDA}" destId="{566B79CB-1A41-4F5C-BF91-58D94BF93913}" srcOrd="0" destOrd="0" presId="urn:microsoft.com/office/officeart/2016/7/layout/RoundedRectangleTimeline"/>
    <dgm:cxn modelId="{A151554E-10B3-429A-9E0D-D40262ED6857}" type="presParOf" srcId="{3E3E944D-A6EC-4962-9AC1-C585A4F97BDA}" destId="{B4723E2A-4FF1-452A-BD25-8EC364F15A6F}" srcOrd="1" destOrd="0" presId="urn:microsoft.com/office/officeart/2016/7/layout/RoundedRectangleTimeline"/>
    <dgm:cxn modelId="{329635D9-081F-4DC9-88AA-E074B7400415}" type="presParOf" srcId="{3E3E944D-A6EC-4962-9AC1-C585A4F97BDA}" destId="{440E9361-37D2-4157-AF38-7B49AD23708B}" srcOrd="2" destOrd="0" presId="urn:microsoft.com/office/officeart/2016/7/layout/RoundedRectangleTimeline"/>
    <dgm:cxn modelId="{0F0D3AEA-9F0C-400E-A955-6CD1F474B6A4}" type="presParOf" srcId="{3E3E944D-A6EC-4962-9AC1-C585A4F97BDA}" destId="{C45E7B63-1C71-483E-A3A8-705CE86D4D8E}" srcOrd="3" destOrd="0" presId="urn:microsoft.com/office/officeart/2016/7/layout/RoundedRectangleTimeline"/>
    <dgm:cxn modelId="{91F0BE33-39D4-4457-A5CC-3F1682DB166D}" type="presParOf" srcId="{3E3E944D-A6EC-4962-9AC1-C585A4F97BDA}" destId="{4174F691-D9D3-451C-9893-D177DC3AED58}"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381E7-0584-46DD-8108-E9BF4F2B5005}">
      <dsp:nvSpPr>
        <dsp:cNvPr id="0" name=""/>
        <dsp:cNvSpPr/>
      </dsp:nvSpPr>
      <dsp:spPr>
        <a:xfrm rot="16200000">
          <a:off x="1746041" y="235708"/>
          <a:ext cx="272534" cy="2253923"/>
        </a:xfrm>
        <a:prstGeom prst="round2Same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rtlCol="0" anchor="ctr" anchorCtr="1">
          <a:noAutofit/>
        </a:bodyPr>
        <a:lstStyle/>
        <a:p>
          <a:pPr marL="0" lvl="0" indent="0" algn="ctr" defTabSz="1244600" rtl="0">
            <a:lnSpc>
              <a:spcPct val="90000"/>
            </a:lnSpc>
            <a:spcBef>
              <a:spcPct val="0"/>
            </a:spcBef>
            <a:spcAft>
              <a:spcPct val="35000"/>
            </a:spcAft>
            <a:buNone/>
          </a:pPr>
          <a:r>
            <a:rPr lang="ru" sz="2800" kern="1200" dirty="0"/>
            <a:t>80%</a:t>
          </a:r>
        </a:p>
      </dsp:txBody>
      <dsp:txXfrm rot="5400000">
        <a:off x="768651" y="1239706"/>
        <a:ext cx="2240619" cy="245926"/>
      </dsp:txXfrm>
    </dsp:sp>
    <dsp:sp modelId="{5A1B764B-0DC5-47CD-BDEA-9E67799496EC}">
      <dsp:nvSpPr>
        <dsp:cNvPr id="0" name=""/>
        <dsp:cNvSpPr/>
      </dsp:nvSpPr>
      <dsp:spPr>
        <a:xfrm>
          <a:off x="4039" y="0"/>
          <a:ext cx="3756538" cy="953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213360" numCol="1" spcCol="1270" rtlCol="0" anchor="b" anchorCtr="1">
          <a:noAutofit/>
        </a:bodyPr>
        <a:lstStyle/>
        <a:p>
          <a:pPr marL="0" lvl="0" indent="0" algn="ctr" defTabSz="1244600" rtl="0">
            <a:lnSpc>
              <a:spcPct val="90000"/>
            </a:lnSpc>
            <a:spcBef>
              <a:spcPct val="0"/>
            </a:spcBef>
            <a:spcAft>
              <a:spcPct val="35000"/>
            </a:spcAft>
            <a:buNone/>
          </a:pPr>
          <a:r>
            <a:rPr lang="ru-RU" sz="2800" kern="1200" dirty="0"/>
            <a:t>Обучающая выборка</a:t>
          </a:r>
          <a:endParaRPr lang="ru" sz="2800" kern="1200" dirty="0"/>
        </a:p>
      </dsp:txBody>
      <dsp:txXfrm>
        <a:off x="4039" y="0"/>
        <a:ext cx="3756538" cy="953869"/>
      </dsp:txXfrm>
    </dsp:sp>
    <dsp:sp modelId="{122B38A3-0442-4747-820C-1F37877E2B0E}">
      <dsp:nvSpPr>
        <dsp:cNvPr id="0" name=""/>
        <dsp:cNvSpPr/>
      </dsp:nvSpPr>
      <dsp:spPr>
        <a:xfrm>
          <a:off x="1882308" y="1008375"/>
          <a:ext cx="0" cy="218027"/>
        </a:xfrm>
        <a:prstGeom prst="line">
          <a:avLst/>
        </a:prstGeom>
        <a:noFill/>
        <a:ln w="12700" cap="rnd" cmpd="sng" algn="ctr">
          <a:solidFill>
            <a:schemeClr val="accent1">
              <a:shade val="90000"/>
              <a:hueOff val="93466"/>
              <a:satOff val="1924"/>
              <a:lumOff val="8231"/>
              <a:alphaOff val="0"/>
            </a:schemeClr>
          </a:solidFill>
          <a:prstDash val="dash"/>
        </a:ln>
        <a:effectLst/>
      </dsp:spPr>
      <dsp:style>
        <a:lnRef idx="1">
          <a:scrgbClr r="0" g="0" b="0"/>
        </a:lnRef>
        <a:fillRef idx="0">
          <a:scrgbClr r="0" g="0" b="0"/>
        </a:fillRef>
        <a:effectRef idx="0">
          <a:scrgbClr r="0" g="0" b="0"/>
        </a:effectRef>
        <a:fontRef idx="minor"/>
      </dsp:style>
    </dsp:sp>
    <dsp:sp modelId="{A73181F6-69BB-4A47-8277-4671A45AC8C8}">
      <dsp:nvSpPr>
        <dsp:cNvPr id="0" name=""/>
        <dsp:cNvSpPr/>
      </dsp:nvSpPr>
      <dsp:spPr>
        <a:xfrm>
          <a:off x="1855055" y="953869"/>
          <a:ext cx="54506" cy="54506"/>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804A27-188E-4A17-8FFE-97BCCA0597B8}">
      <dsp:nvSpPr>
        <dsp:cNvPr id="0" name=""/>
        <dsp:cNvSpPr/>
      </dsp:nvSpPr>
      <dsp:spPr>
        <a:xfrm>
          <a:off x="3009269" y="1226402"/>
          <a:ext cx="2253923" cy="272534"/>
        </a:xfrm>
        <a:prstGeom prst="rect">
          <a:avLst/>
        </a:prstGeom>
        <a:solidFill>
          <a:schemeClr val="accent1">
            <a:shade val="80000"/>
            <a:hueOff val="223096"/>
            <a:satOff val="-4529"/>
            <a:lumOff val="15339"/>
            <a:alphaOff val="0"/>
          </a:schemeClr>
        </a:solidFill>
        <a:ln w="22225" cap="rnd" cmpd="sng" algn="ctr">
          <a:solidFill>
            <a:schemeClr val="accent1">
              <a:shade val="80000"/>
              <a:hueOff val="223096"/>
              <a:satOff val="-4529"/>
              <a:lumOff val="1533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rtlCol="0" anchor="ctr" anchorCtr="1">
          <a:noAutofit/>
        </a:bodyPr>
        <a:lstStyle/>
        <a:p>
          <a:pPr marL="0" lvl="0" indent="0" algn="ctr" defTabSz="1244600" rtl="0">
            <a:lnSpc>
              <a:spcPct val="90000"/>
            </a:lnSpc>
            <a:spcBef>
              <a:spcPct val="0"/>
            </a:spcBef>
            <a:spcAft>
              <a:spcPct val="35000"/>
            </a:spcAft>
            <a:buNone/>
          </a:pPr>
          <a:r>
            <a:rPr lang="ru" sz="2800" kern="1200" dirty="0"/>
            <a:t>20%</a:t>
          </a:r>
        </a:p>
      </dsp:txBody>
      <dsp:txXfrm>
        <a:off x="3009269" y="1226402"/>
        <a:ext cx="2253923" cy="272534"/>
      </dsp:txXfrm>
    </dsp:sp>
    <dsp:sp modelId="{DF65791B-462E-4589-B98D-F60587330CA8}">
      <dsp:nvSpPr>
        <dsp:cNvPr id="0" name=""/>
        <dsp:cNvSpPr/>
      </dsp:nvSpPr>
      <dsp:spPr>
        <a:xfrm>
          <a:off x="2257962" y="1771471"/>
          <a:ext cx="3756538" cy="953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13360" rIns="0" bIns="0" numCol="1" spcCol="1270" rtlCol="0" anchor="t" anchorCtr="1">
          <a:noAutofit/>
        </a:bodyPr>
        <a:lstStyle/>
        <a:p>
          <a:pPr marL="0" lvl="0" indent="0" algn="ctr" defTabSz="1244600" rtl="0">
            <a:lnSpc>
              <a:spcPct val="90000"/>
            </a:lnSpc>
            <a:spcBef>
              <a:spcPct val="0"/>
            </a:spcBef>
            <a:spcAft>
              <a:spcPct val="35000"/>
            </a:spcAft>
            <a:buNone/>
          </a:pPr>
          <a:r>
            <a:rPr lang="ru" sz="2800" kern="1200" dirty="0"/>
            <a:t>Валидационная выборка</a:t>
          </a:r>
        </a:p>
      </dsp:txBody>
      <dsp:txXfrm>
        <a:off x="2257962" y="1771471"/>
        <a:ext cx="3756538" cy="953869"/>
      </dsp:txXfrm>
    </dsp:sp>
    <dsp:sp modelId="{DBA410EB-5F61-4F46-92D9-C5B0AA59EE15}">
      <dsp:nvSpPr>
        <dsp:cNvPr id="0" name=""/>
        <dsp:cNvSpPr/>
      </dsp:nvSpPr>
      <dsp:spPr>
        <a:xfrm>
          <a:off x="4136231" y="1498936"/>
          <a:ext cx="0" cy="218027"/>
        </a:xfrm>
        <a:prstGeom prst="line">
          <a:avLst/>
        </a:prstGeom>
        <a:noFill/>
        <a:ln w="12700" cap="rnd" cmpd="sng" algn="ctr">
          <a:solidFill>
            <a:schemeClr val="accent1">
              <a:shade val="90000"/>
              <a:hueOff val="140199"/>
              <a:satOff val="2886"/>
              <a:lumOff val="12346"/>
              <a:alphaOff val="0"/>
            </a:schemeClr>
          </a:solidFill>
          <a:prstDash val="dash"/>
        </a:ln>
        <a:effectLst/>
      </dsp:spPr>
      <dsp:style>
        <a:lnRef idx="1">
          <a:scrgbClr r="0" g="0" b="0"/>
        </a:lnRef>
        <a:fillRef idx="0">
          <a:scrgbClr r="0" g="0" b="0"/>
        </a:fillRef>
        <a:effectRef idx="0">
          <a:scrgbClr r="0" g="0" b="0"/>
        </a:effectRef>
        <a:fontRef idx="minor"/>
      </dsp:style>
    </dsp:sp>
    <dsp:sp modelId="{E1220EDB-B75C-43A5-B862-97E4C09130A7}">
      <dsp:nvSpPr>
        <dsp:cNvPr id="0" name=""/>
        <dsp:cNvSpPr/>
      </dsp:nvSpPr>
      <dsp:spPr>
        <a:xfrm>
          <a:off x="4108978" y="1716964"/>
          <a:ext cx="54506" cy="54506"/>
        </a:xfrm>
        <a:prstGeom prst="ellipse">
          <a:avLst/>
        </a:prstGeom>
        <a:solidFill>
          <a:schemeClr val="accent1">
            <a:shade val="80000"/>
            <a:hueOff val="223096"/>
            <a:satOff val="-4529"/>
            <a:lumOff val="1533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6B79CB-1A41-4F5C-BF91-58D94BF93913}">
      <dsp:nvSpPr>
        <dsp:cNvPr id="0" name=""/>
        <dsp:cNvSpPr/>
      </dsp:nvSpPr>
      <dsp:spPr>
        <a:xfrm rot="5400000">
          <a:off x="6253887" y="235708"/>
          <a:ext cx="272534" cy="2253923"/>
        </a:xfrm>
        <a:prstGeom prst="round2SameRect">
          <a:avLst/>
        </a:prstGeom>
        <a:solidFill>
          <a:schemeClr val="accent1">
            <a:shade val="80000"/>
            <a:hueOff val="446191"/>
            <a:satOff val="-9058"/>
            <a:lumOff val="30677"/>
            <a:alphaOff val="0"/>
          </a:schemeClr>
        </a:solidFill>
        <a:ln w="22225" cap="rnd" cmpd="sng" algn="ctr">
          <a:solidFill>
            <a:schemeClr val="accent1">
              <a:shade val="80000"/>
              <a:hueOff val="446191"/>
              <a:satOff val="-9058"/>
              <a:lumOff val="306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rtlCol="0" anchor="ctr" anchorCtr="1">
          <a:noAutofit/>
        </a:bodyPr>
        <a:lstStyle/>
        <a:p>
          <a:pPr marL="0" lvl="0" indent="0" algn="ctr" defTabSz="889000" rtl="0">
            <a:lnSpc>
              <a:spcPct val="90000"/>
            </a:lnSpc>
            <a:spcBef>
              <a:spcPct val="0"/>
            </a:spcBef>
            <a:spcAft>
              <a:spcPct val="35000"/>
            </a:spcAft>
            <a:buNone/>
          </a:pPr>
          <a:r>
            <a:rPr lang="ru-RU" sz="2000" kern="1200" dirty="0"/>
            <a:t>П</a:t>
          </a:r>
          <a:r>
            <a:rPr lang="ru" sz="1600" kern="1200" dirty="0"/>
            <a:t>ериод</a:t>
          </a:r>
          <a:r>
            <a:rPr lang="ru" sz="2000" kern="1200" dirty="0"/>
            <a:t> </a:t>
          </a:r>
          <a:r>
            <a:rPr lang="ru" sz="1600" kern="1200" dirty="0"/>
            <a:t>упреждения</a:t>
          </a:r>
          <a:endParaRPr lang="ru" sz="2000" kern="1200" dirty="0"/>
        </a:p>
      </dsp:txBody>
      <dsp:txXfrm rot="-5400000">
        <a:off x="5263193" y="1239706"/>
        <a:ext cx="2240619" cy="245926"/>
      </dsp:txXfrm>
    </dsp:sp>
    <dsp:sp modelId="{B4723E2A-4FF1-452A-BD25-8EC364F15A6F}">
      <dsp:nvSpPr>
        <dsp:cNvPr id="0" name=""/>
        <dsp:cNvSpPr/>
      </dsp:nvSpPr>
      <dsp:spPr>
        <a:xfrm>
          <a:off x="4511885" y="0"/>
          <a:ext cx="3756538" cy="953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213360" numCol="1" spcCol="1270" rtlCol="0" anchor="b" anchorCtr="1">
          <a:noAutofit/>
        </a:bodyPr>
        <a:lstStyle/>
        <a:p>
          <a:pPr marL="0" lvl="0" indent="0" algn="ctr" defTabSz="1244600" rtl="0">
            <a:lnSpc>
              <a:spcPct val="90000"/>
            </a:lnSpc>
            <a:spcBef>
              <a:spcPct val="0"/>
            </a:spcBef>
            <a:spcAft>
              <a:spcPct val="35000"/>
            </a:spcAft>
            <a:buNone/>
          </a:pPr>
          <a:r>
            <a:rPr lang="ru" sz="2800" kern="1200" dirty="0"/>
            <a:t>Прогнозные значения</a:t>
          </a:r>
        </a:p>
      </dsp:txBody>
      <dsp:txXfrm>
        <a:off x="4511885" y="0"/>
        <a:ext cx="3756538" cy="953869"/>
      </dsp:txXfrm>
    </dsp:sp>
    <dsp:sp modelId="{440E9361-37D2-4157-AF38-7B49AD23708B}">
      <dsp:nvSpPr>
        <dsp:cNvPr id="0" name=""/>
        <dsp:cNvSpPr/>
      </dsp:nvSpPr>
      <dsp:spPr>
        <a:xfrm>
          <a:off x="6390154" y="1008375"/>
          <a:ext cx="0" cy="218027"/>
        </a:xfrm>
        <a:prstGeom prst="line">
          <a:avLst/>
        </a:prstGeom>
        <a:noFill/>
        <a:ln w="12700" cap="rnd" cmpd="sng" algn="ctr">
          <a:solidFill>
            <a:schemeClr val="accent1">
              <a:shade val="90000"/>
              <a:hueOff val="186931"/>
              <a:satOff val="3848"/>
              <a:lumOff val="16461"/>
              <a:alphaOff val="0"/>
            </a:schemeClr>
          </a:solidFill>
          <a:prstDash val="dash"/>
        </a:ln>
        <a:effectLst/>
      </dsp:spPr>
      <dsp:style>
        <a:lnRef idx="1">
          <a:scrgbClr r="0" g="0" b="0"/>
        </a:lnRef>
        <a:fillRef idx="0">
          <a:scrgbClr r="0" g="0" b="0"/>
        </a:fillRef>
        <a:effectRef idx="0">
          <a:scrgbClr r="0" g="0" b="0"/>
        </a:effectRef>
        <a:fontRef idx="minor"/>
      </dsp:style>
    </dsp:sp>
    <dsp:sp modelId="{C45E7B63-1C71-483E-A3A8-705CE86D4D8E}">
      <dsp:nvSpPr>
        <dsp:cNvPr id="0" name=""/>
        <dsp:cNvSpPr/>
      </dsp:nvSpPr>
      <dsp:spPr>
        <a:xfrm>
          <a:off x="6362901" y="953869"/>
          <a:ext cx="54506" cy="54506"/>
        </a:xfrm>
        <a:prstGeom prst="ellipse">
          <a:avLst/>
        </a:prstGeom>
        <a:solidFill>
          <a:schemeClr val="accent1">
            <a:shade val="80000"/>
            <a:hueOff val="446191"/>
            <a:satOff val="-9058"/>
            <a:lumOff val="3067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9F2607F-EAB8-462D-9596-B11A1C51125F}" type="datetime1">
              <a:rPr lang="ru-RU" smtClean="0"/>
              <a:t>03.12.2024</a:t>
            </a:fld>
            <a:endParaRPr lang="en-US" dirty="0"/>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975D426-A9DD-4244-A2CE-1FB6623742C7}" type="slidenum">
              <a:rPr lang="en-US" smtClean="0"/>
              <a:t>‹#›</a:t>
            </a:fld>
            <a:endParaRPr lang="en-US"/>
          </a:p>
        </p:txBody>
      </p:sp>
    </p:spTree>
    <p:extLst>
      <p:ext uri="{BB962C8B-B14F-4D97-AF65-F5344CB8AC3E}">
        <p14:creationId xmlns:p14="http://schemas.microsoft.com/office/powerpoint/2010/main" val="88248445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50EC31D-9C0F-4EDB-9AC9-93AE84D7514D}" type="datetime1">
              <a:rPr lang="ru-RU" smtClean="0"/>
              <a:t>03.12.2024</a:t>
            </a:fld>
            <a:endParaRPr lang="en-US"/>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u"/>
              <a:t>Щелкните, чтобы изменить стили текста образца слайда</a:t>
            </a:r>
            <a:endParaRPr lang="en-US"/>
          </a:p>
          <a:p>
            <a:pPr lvl="1" rtl="0"/>
            <a:r>
              <a:rPr lang="ru"/>
              <a:t>Второй уровень</a:t>
            </a:r>
          </a:p>
          <a:p>
            <a:pPr lvl="2" rtl="0"/>
            <a:r>
              <a:rPr lang="ru"/>
              <a:t>Третий уровень</a:t>
            </a:r>
          </a:p>
          <a:p>
            <a:pPr lvl="3" rtl="0"/>
            <a:r>
              <a:rPr lang="ru"/>
              <a:t>Четвертый уровень</a:t>
            </a:r>
          </a:p>
          <a:p>
            <a:pPr lvl="4" rtl="0"/>
            <a:r>
              <a:rPr lang="ru"/>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B41D33-19C8-4450-B3C5-BE83E9C8F0BC}" type="slidenum">
              <a:rPr lang="en-US" smtClean="0"/>
              <a:t>‹#›</a:t>
            </a:fld>
            <a:endParaRPr lang="en-US"/>
          </a:p>
        </p:txBody>
      </p:sp>
    </p:spTree>
    <p:extLst>
      <p:ext uri="{BB962C8B-B14F-4D97-AF65-F5344CB8AC3E}">
        <p14:creationId xmlns:p14="http://schemas.microsoft.com/office/powerpoint/2010/main" val="3571455252"/>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Дата 3"/>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p:cNvSpPr>
            <a:spLocks noGrp="1"/>
          </p:cNvSpPr>
          <p:nvPr>
            <p:ph type="sldNum" sz="quarter" idx="5"/>
          </p:nvPr>
        </p:nvSpPr>
        <p:spPr/>
        <p:txBody>
          <a:bodyPr/>
          <a:lstStyle/>
          <a:p>
            <a:pPr rtl="0"/>
            <a:fld id="{01B41D33-19C8-4450-B3C5-BE83E9C8F0BC}" type="slidenum">
              <a:rPr lang="en-US" smtClean="0"/>
              <a:t>2</a:t>
            </a:fld>
            <a:endParaRPr lang="en-US"/>
          </a:p>
        </p:txBody>
      </p:sp>
    </p:spTree>
    <p:extLst>
      <p:ext uri="{BB962C8B-B14F-4D97-AF65-F5344CB8AC3E}">
        <p14:creationId xmlns:p14="http://schemas.microsoft.com/office/powerpoint/2010/main" val="1356659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solidFill>
                  <a:srgbClr val="1A1B22"/>
                </a:solidFill>
                <a:effectLst/>
                <a:latin typeface="Arial" panose="020B0604020202020204" pitchFamily="34" charset="0"/>
                <a:ea typeface="DengXian" panose="02010600030101010101" pitchFamily="2" charset="-122"/>
                <a:cs typeface="Mangal" panose="02040503050203030202" pitchFamily="18" charset="0"/>
              </a:rPr>
              <a:t>Последний глобальный тип алгоритмов — </a:t>
            </a:r>
            <a:r>
              <a:rPr lang="ru-RU" sz="1800" b="1" dirty="0">
                <a:solidFill>
                  <a:srgbClr val="1A1B22"/>
                </a:solidFill>
                <a:effectLst/>
                <a:latin typeface="Arial" panose="020B0604020202020204" pitchFamily="34" charset="0"/>
                <a:ea typeface="DengXian" panose="02010600030101010101" pitchFamily="2" charset="-122"/>
                <a:cs typeface="Mangal" panose="02040503050203030202" pitchFamily="18" charset="0"/>
              </a:rPr>
              <a:t>обучение с подкреплением</a:t>
            </a:r>
            <a:r>
              <a:rPr lang="ru-RU" sz="1800" dirty="0">
                <a:solidFill>
                  <a:srgbClr val="1A1B22"/>
                </a:solidFill>
                <a:effectLst/>
                <a:latin typeface="Arial" panose="020B0604020202020204" pitchFamily="34" charset="0"/>
                <a:ea typeface="DengXian" panose="02010600030101010101" pitchFamily="2" charset="-122"/>
                <a:cs typeface="Mangal" panose="02040503050203030202" pitchFamily="18" charset="0"/>
              </a:rPr>
              <a:t> (англ. </a:t>
            </a:r>
            <a:r>
              <a:rPr lang="ru-RU" sz="1800" i="1" dirty="0" err="1">
                <a:solidFill>
                  <a:srgbClr val="1A1B22"/>
                </a:solidFill>
                <a:effectLst/>
                <a:latin typeface="Arial" panose="020B0604020202020204" pitchFamily="34" charset="0"/>
                <a:ea typeface="DengXian" panose="02010600030101010101" pitchFamily="2" charset="-122"/>
                <a:cs typeface="Mangal" panose="02040503050203030202" pitchFamily="18" charset="0"/>
              </a:rPr>
              <a:t>reinforcement</a:t>
            </a:r>
            <a:r>
              <a:rPr lang="ru-RU" sz="1800" i="1" dirty="0">
                <a:solidFill>
                  <a:srgbClr val="1A1B22"/>
                </a:solidFill>
                <a:effectLst/>
                <a:latin typeface="Arial" panose="020B0604020202020204" pitchFamily="34" charset="0"/>
                <a:ea typeface="DengXian" panose="02010600030101010101" pitchFamily="2" charset="-122"/>
                <a:cs typeface="Mangal" panose="02040503050203030202" pitchFamily="18" charset="0"/>
              </a:rPr>
              <a:t> </a:t>
            </a:r>
            <a:r>
              <a:rPr lang="ru-RU" sz="1800" i="1" dirty="0" err="1">
                <a:solidFill>
                  <a:srgbClr val="1A1B22"/>
                </a:solidFill>
                <a:effectLst/>
                <a:latin typeface="Arial" panose="020B0604020202020204" pitchFamily="34" charset="0"/>
                <a:ea typeface="DengXian" panose="02010600030101010101" pitchFamily="2" charset="-122"/>
                <a:cs typeface="Mangal" panose="02040503050203030202" pitchFamily="18" charset="0"/>
              </a:rPr>
              <a:t>learning</a:t>
            </a:r>
            <a:r>
              <a:rPr lang="ru-RU" sz="1800" dirty="0">
                <a:solidFill>
                  <a:srgbClr val="1A1B22"/>
                </a:solidFill>
                <a:effectLst/>
                <a:latin typeface="Arial" panose="020B0604020202020204" pitchFamily="34" charset="0"/>
                <a:ea typeface="DengXian" panose="02010600030101010101" pitchFamily="2" charset="-122"/>
                <a:cs typeface="Mangal" panose="02040503050203030202" pitchFamily="18" charset="0"/>
              </a:rPr>
              <a:t>). В этом случае модель обучается поэтапно и на каждом шаге немного меняет алгоритм своего действия, исходя из «подсказок» внешней среды. Обучение с подкреплением — популярная и модная область машинного обучения. Однако в этом курсе не будем в неё углубляться.</a:t>
            </a:r>
            <a:endParaRPr lang="ru-RU" sz="1800" dirty="0">
              <a:effectLst/>
              <a:latin typeface="Calibri" panose="020F0502020204030204" pitchFamily="34" charset="0"/>
              <a:ea typeface="DengXian" panose="02010600030101010101" pitchFamily="2" charset="-122"/>
              <a:cs typeface="Mangal" panose="02040503050203030202" pitchFamily="18" charset="0"/>
            </a:endParaRPr>
          </a:p>
          <a:p>
            <a:endParaRPr lang="ru-RU" dirty="0"/>
          </a:p>
        </p:txBody>
      </p:sp>
      <p:sp>
        <p:nvSpPr>
          <p:cNvPr id="4" name="Дата 3"/>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p:cNvSpPr>
            <a:spLocks noGrp="1"/>
          </p:cNvSpPr>
          <p:nvPr>
            <p:ph type="sldNum" sz="quarter" idx="5"/>
          </p:nvPr>
        </p:nvSpPr>
        <p:spPr/>
        <p:txBody>
          <a:bodyPr/>
          <a:lstStyle/>
          <a:p>
            <a:pPr rtl="0"/>
            <a:fld id="{01B41D33-19C8-4450-B3C5-BE83E9C8F0BC}" type="slidenum">
              <a:rPr lang="en-US" smtClean="0"/>
              <a:t>8</a:t>
            </a:fld>
            <a:endParaRPr lang="en-US"/>
          </a:p>
        </p:txBody>
      </p:sp>
    </p:spTree>
    <p:extLst>
      <p:ext uri="{BB962C8B-B14F-4D97-AF65-F5344CB8AC3E}">
        <p14:creationId xmlns:p14="http://schemas.microsoft.com/office/powerpoint/2010/main" val="1473477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371600" y="1143000"/>
            <a:ext cx="4114800" cy="3086100"/>
          </a:xfrm>
        </p:spPr>
      </p:sp>
      <p:sp>
        <p:nvSpPr>
          <p:cNvPr id="3" name="Заметки 2"/>
          <p:cNvSpPr>
            <a:spLocks noGrp="1"/>
          </p:cNvSpPr>
          <p:nvPr>
            <p:ph type="body" idx="1"/>
          </p:nvPr>
        </p:nvSpPr>
        <p:spPr/>
        <p:txBody>
          <a:bodyPr/>
          <a:lstStyle/>
          <a:p>
            <a:r>
              <a:rPr lang="ru-RU" sz="1200" dirty="0"/>
              <a:t>И в бизнесе, и в быту нужно уметь прогнозировать наступление какого-либо события или значение какой-то величины. Чтобы прогнозировать успешно, вы учитесь выстраивать взаимосвязи. Они основаны на вашем опыте, или эмпирических данных. </a:t>
            </a:r>
          </a:p>
          <a:p>
            <a:r>
              <a:rPr lang="ru-RU" sz="1800"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Умение выстраивать определённые взаимосвязи для прогноза называют </a:t>
            </a:r>
            <a:r>
              <a:rPr lang="ru-RU" sz="1800" b="1"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обучением</a:t>
            </a:r>
            <a:r>
              <a:rPr lang="ru-RU" sz="1800"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 Продав десяток курсов и открыв полсотни пальмовых лавок, вы обучаетесь сами ценой дорогостоящего опыта. А вот аналитик данных со знанием ML обучает модель.</a:t>
            </a:r>
            <a:endParaRPr lang="ru-RU" sz="1800" dirty="0">
              <a:effectLst/>
              <a:latin typeface="Calibri" panose="020F0502020204030204" pitchFamily="34" charset="0"/>
              <a:ea typeface="DengXian" panose="02010600030101010101" pitchFamily="2" charset="-122"/>
              <a:cs typeface="Mangal" panose="02040503050203030202" pitchFamily="18" charset="0"/>
            </a:endParaRPr>
          </a:p>
          <a:p>
            <a:endParaRPr lang="ru-RU" dirty="0"/>
          </a:p>
        </p:txBody>
      </p:sp>
      <p:sp>
        <p:nvSpPr>
          <p:cNvPr id="4" name="Дата 3"/>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p:cNvSpPr>
            <a:spLocks noGrp="1"/>
          </p:cNvSpPr>
          <p:nvPr>
            <p:ph type="sldNum" sz="quarter" idx="5"/>
          </p:nvPr>
        </p:nvSpPr>
        <p:spPr/>
        <p:txBody>
          <a:bodyPr/>
          <a:lstStyle/>
          <a:p>
            <a:pPr rtl="0"/>
            <a:fld id="{01B41D33-19C8-4450-B3C5-BE83E9C8F0BC}" type="slidenum">
              <a:rPr lang="en-US" smtClean="0"/>
              <a:t>9</a:t>
            </a:fld>
            <a:endParaRPr lang="en-US"/>
          </a:p>
        </p:txBody>
      </p:sp>
    </p:spTree>
    <p:extLst>
      <p:ext uri="{BB962C8B-B14F-4D97-AF65-F5344CB8AC3E}">
        <p14:creationId xmlns:p14="http://schemas.microsoft.com/office/powerpoint/2010/main" val="2921429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solidFill>
                  <a:srgbClr val="00B050"/>
                </a:solidFill>
                <a:effectLst/>
                <a:latin typeface="Arial" panose="020B0604020202020204" pitchFamily="34" charset="0"/>
                <a:ea typeface="Times New Roman" panose="02020603050405020304" pitchFamily="18" charset="0"/>
                <a:cs typeface="Mangal" panose="02040503050203030202" pitchFamily="18" charset="0"/>
              </a:rPr>
              <a:t>Количество посетителей в конкретном ресторане в каждый час на неделю вперёд </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(Всё верно. Довольно неплохая задачка для машинного обучения.)</a:t>
            </a:r>
            <a:endParaRPr lang="ru-RU" sz="1200" dirty="0">
              <a:effectLst/>
              <a:latin typeface="Calibri" panose="020F0502020204030204" pitchFamily="34" charset="0"/>
              <a:ea typeface="DengXian" panose="02010600030101010101" pitchFamily="2" charset="-122"/>
              <a:cs typeface="Mangal" panose="02040503050203030202" pitchFamily="18" charset="0"/>
            </a:endParaRPr>
          </a:p>
          <a:p>
            <a:endParaRPr lang="ru-RU" dirty="0"/>
          </a:p>
        </p:txBody>
      </p:sp>
      <p:sp>
        <p:nvSpPr>
          <p:cNvPr id="4" name="Дата 3"/>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p:cNvSpPr>
            <a:spLocks noGrp="1"/>
          </p:cNvSpPr>
          <p:nvPr>
            <p:ph type="sldNum" sz="quarter" idx="5"/>
          </p:nvPr>
        </p:nvSpPr>
        <p:spPr/>
        <p:txBody>
          <a:bodyPr/>
          <a:lstStyle/>
          <a:p>
            <a:pPr rtl="0"/>
            <a:fld id="{01B41D33-19C8-4450-B3C5-BE83E9C8F0BC}" type="slidenum">
              <a:rPr lang="en-US" smtClean="0"/>
              <a:t>10</a:t>
            </a:fld>
            <a:endParaRPr lang="en-US"/>
          </a:p>
        </p:txBody>
      </p:sp>
    </p:spTree>
    <p:extLst>
      <p:ext uri="{BB962C8B-B14F-4D97-AF65-F5344CB8AC3E}">
        <p14:creationId xmlns:p14="http://schemas.microsoft.com/office/powerpoint/2010/main" val="884377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F6D82-616C-DAC2-01CD-32A07766805F}"/>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0A57936B-9B0E-B0CE-1D46-F3D0E516BED0}"/>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BF58D2BC-F38E-C062-58BD-F51DD89BE9B5}"/>
              </a:ext>
            </a:extLst>
          </p:cNvPr>
          <p:cNvSpPr>
            <a:spLocks noGrp="1"/>
          </p:cNvSpPr>
          <p:nvPr>
            <p:ph type="body" idx="1"/>
          </p:nvPr>
        </p:nvSpPr>
        <p:spPr/>
        <p:txBody>
          <a:bodyPr/>
          <a:lstStyle/>
          <a:p>
            <a:pPr marL="0" lvl="0" indent="0">
              <a:lnSpc>
                <a:spcPct val="107000"/>
              </a:lnSpc>
              <a:buFont typeface="Symbol" panose="05050102010706020507" pitchFamily="18" charset="2"/>
              <a:buNone/>
            </a:pPr>
            <a:r>
              <a:rPr lang="ru-RU" sz="1200"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Бюро кредитных историй (Это, скорее всего, будет источником наблюдений)</a:t>
            </a:r>
            <a:endParaRPr lang="ru-RU" sz="1200" dirty="0">
              <a:effectLst/>
              <a:latin typeface="Calibri" panose="020F0502020204030204" pitchFamily="34" charset="0"/>
              <a:ea typeface="DengXian" panose="02010600030101010101" pitchFamily="2" charset="-122"/>
              <a:cs typeface="Mangal" panose="02040503050203030202" pitchFamily="18" charset="0"/>
            </a:endParaRPr>
          </a:p>
          <a:p>
            <a:pPr marL="0" lvl="0" indent="0">
              <a:lnSpc>
                <a:spcPct val="107000"/>
              </a:lnSpc>
              <a:buFont typeface="Symbol" panose="05050102010706020507" pitchFamily="18" charset="2"/>
              <a:buNone/>
            </a:pPr>
            <a:endParaRPr lang="ru-RU" sz="1200" dirty="0">
              <a:solidFill>
                <a:srgbClr val="1A1B22"/>
              </a:solidFill>
              <a:effectLst/>
              <a:latin typeface="Arial" panose="020B0604020202020204" pitchFamily="34" charset="0"/>
              <a:ea typeface="Times New Roman" panose="02020603050405020304" pitchFamily="18" charset="0"/>
              <a:cs typeface="Mangal" panose="02040503050203030202" pitchFamily="18" charset="0"/>
            </a:endParaRPr>
          </a:p>
          <a:p>
            <a:pPr marL="0" marR="0" lvl="0" indent="0" algn="l" defTabSz="914400" rtl="0" eaLnBrk="1" fontAlgn="auto" latinLnBrk="0" hangingPunct="1">
              <a:lnSpc>
                <a:spcPct val="107000"/>
              </a:lnSpc>
              <a:spcBef>
                <a:spcPts val="0"/>
              </a:spcBef>
              <a:spcAft>
                <a:spcPts val="0"/>
              </a:spcAft>
              <a:buClrTx/>
              <a:buSzTx/>
              <a:buFont typeface="Symbol" panose="05050102010706020507" pitchFamily="18" charset="2"/>
              <a:buNone/>
              <a:tabLst/>
              <a:defRPr/>
            </a:pPr>
            <a:r>
              <a:rPr lang="ru-RU" sz="1200" dirty="0">
                <a:solidFill>
                  <a:srgbClr val="00B050"/>
                </a:solidFill>
                <a:effectLst/>
                <a:latin typeface="Arial" panose="020B0604020202020204" pitchFamily="34" charset="0"/>
                <a:ea typeface="Times New Roman" panose="02020603050405020304" pitchFamily="18" charset="0"/>
                <a:cs typeface="Mangal" panose="02040503050203030202" pitchFamily="18" charset="0"/>
              </a:rPr>
              <a:t>Информация о каждом выданном кредите — условиях, заёмщике и возврате на заданном горизонте</a:t>
            </a:r>
            <a:endParaRPr lang="ru-RU" sz="1000" dirty="0"/>
          </a:p>
          <a:p>
            <a:pPr marL="0" lvl="0" indent="0">
              <a:lnSpc>
                <a:spcPct val="107000"/>
              </a:lnSpc>
              <a:buFont typeface="Symbol" panose="05050102010706020507" pitchFamily="18" charset="2"/>
              <a:buNone/>
            </a:pPr>
            <a:r>
              <a:rPr lang="ru-RU" sz="1200"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(Верно. Наблюдение включает в себя и результат (возврат или невозврат кредита), и признаки, сформированные на основании информации из бюро кредитных историй (данные о заёмщике)</a:t>
            </a:r>
            <a:endParaRPr lang="ru-RU" sz="1200" dirty="0">
              <a:effectLst/>
              <a:latin typeface="Calibri" panose="020F0502020204030204" pitchFamily="34" charset="0"/>
              <a:ea typeface="DengXian" panose="02010600030101010101" pitchFamily="2" charset="-122"/>
              <a:cs typeface="Mangal" panose="02040503050203030202" pitchFamily="18" charset="0"/>
            </a:endParaRPr>
          </a:p>
          <a:p>
            <a:endParaRPr lang="ru-RU" dirty="0"/>
          </a:p>
        </p:txBody>
      </p:sp>
      <p:sp>
        <p:nvSpPr>
          <p:cNvPr id="4" name="Дата 3">
            <a:extLst>
              <a:ext uri="{FF2B5EF4-FFF2-40B4-BE49-F238E27FC236}">
                <a16:creationId xmlns:a16="http://schemas.microsoft.com/office/drawing/2014/main" id="{2C3CA6BC-81A8-8000-1046-1462048B4106}"/>
              </a:ext>
            </a:extLst>
          </p:cNvPr>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a:extLst>
              <a:ext uri="{FF2B5EF4-FFF2-40B4-BE49-F238E27FC236}">
                <a16:creationId xmlns:a16="http://schemas.microsoft.com/office/drawing/2014/main" id="{395122FF-41CB-2E86-312D-AF6C5B81425C}"/>
              </a:ext>
            </a:extLst>
          </p:cNvPr>
          <p:cNvSpPr>
            <a:spLocks noGrp="1"/>
          </p:cNvSpPr>
          <p:nvPr>
            <p:ph type="sldNum" sz="quarter" idx="5"/>
          </p:nvPr>
        </p:nvSpPr>
        <p:spPr/>
        <p:txBody>
          <a:bodyPr/>
          <a:lstStyle/>
          <a:p>
            <a:pPr rtl="0"/>
            <a:fld id="{01B41D33-19C8-4450-B3C5-BE83E9C8F0BC}" type="slidenum">
              <a:rPr lang="en-US" smtClean="0"/>
              <a:t>11</a:t>
            </a:fld>
            <a:endParaRPr lang="en-US"/>
          </a:p>
        </p:txBody>
      </p:sp>
    </p:spTree>
    <p:extLst>
      <p:ext uri="{BB962C8B-B14F-4D97-AF65-F5344CB8AC3E}">
        <p14:creationId xmlns:p14="http://schemas.microsoft.com/office/powerpoint/2010/main" val="598645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371600" y="1143000"/>
            <a:ext cx="4114800" cy="3086100"/>
          </a:xfrm>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Обозначим набор значений целевой переменной так:</a:t>
            </a:r>
          </a:p>
          <a:p>
            <a:endParaRPr lang="ru-RU" dirty="0"/>
          </a:p>
        </p:txBody>
      </p:sp>
      <p:sp>
        <p:nvSpPr>
          <p:cNvPr id="4" name="Дата 3"/>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p:cNvSpPr>
            <a:spLocks noGrp="1"/>
          </p:cNvSpPr>
          <p:nvPr>
            <p:ph type="sldNum" sz="quarter" idx="5"/>
          </p:nvPr>
        </p:nvSpPr>
        <p:spPr/>
        <p:txBody>
          <a:bodyPr/>
          <a:lstStyle/>
          <a:p>
            <a:pPr rtl="0"/>
            <a:fld id="{01B41D33-19C8-4450-B3C5-BE83E9C8F0BC}" type="slidenum">
              <a:rPr lang="en-US" smtClean="0"/>
              <a:t>12</a:t>
            </a:fld>
            <a:endParaRPr lang="en-US"/>
          </a:p>
        </p:txBody>
      </p:sp>
    </p:spTree>
    <p:extLst>
      <p:ext uri="{BB962C8B-B14F-4D97-AF65-F5344CB8AC3E}">
        <p14:creationId xmlns:p14="http://schemas.microsoft.com/office/powerpoint/2010/main" val="3912506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371600" y="1143000"/>
            <a:ext cx="4114800" cy="3086100"/>
          </a:xfrm>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Обозначим набор значений целевой переменной так:</a:t>
            </a:r>
          </a:p>
          <a:p>
            <a:endParaRPr lang="ru-RU" dirty="0"/>
          </a:p>
        </p:txBody>
      </p:sp>
      <p:sp>
        <p:nvSpPr>
          <p:cNvPr id="4" name="Дата 3"/>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p:cNvSpPr>
            <a:spLocks noGrp="1"/>
          </p:cNvSpPr>
          <p:nvPr>
            <p:ph type="sldNum" sz="quarter" idx="5"/>
          </p:nvPr>
        </p:nvSpPr>
        <p:spPr/>
        <p:txBody>
          <a:bodyPr/>
          <a:lstStyle/>
          <a:p>
            <a:pPr rtl="0"/>
            <a:fld id="{01B41D33-19C8-4450-B3C5-BE83E9C8F0BC}" type="slidenum">
              <a:rPr lang="en-US" smtClean="0"/>
              <a:t>13</a:t>
            </a:fld>
            <a:endParaRPr lang="en-US"/>
          </a:p>
        </p:txBody>
      </p:sp>
    </p:spTree>
    <p:extLst>
      <p:ext uri="{BB962C8B-B14F-4D97-AF65-F5344CB8AC3E}">
        <p14:creationId xmlns:p14="http://schemas.microsoft.com/office/powerpoint/2010/main" val="3741206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371600" y="1143000"/>
            <a:ext cx="4114800" cy="3086100"/>
          </a:xfrm>
        </p:spPr>
      </p:sp>
      <p:sp>
        <p:nvSpPr>
          <p:cNvPr id="3" name="Заметки 2"/>
          <p:cNvSpPr>
            <a:spLocks noGrp="1"/>
          </p:cNvSpPr>
          <p:nvPr>
            <p:ph type="body" idx="1"/>
          </p:nvPr>
        </p:nvSpPr>
        <p:spPr/>
        <p:txBody>
          <a:bodyPr/>
          <a:lstStyle/>
          <a:p>
            <a:pPr marL="0" indent="0">
              <a:buNone/>
            </a:pPr>
            <a:r>
              <a:rPr lang="ru-RU" sz="1200" dirty="0"/>
              <a:t>Когда в большинстве случаев ваша формула будет давать прогноз, или</a:t>
            </a:r>
          </a:p>
          <a:p>
            <a:pPr marL="0" indent="0">
              <a:buNone/>
            </a:pPr>
            <a:r>
              <a:rPr lang="ru-RU" sz="1200" dirty="0"/>
              <a:t>оценку целевой переменной, близкую к её реальному историческому</a:t>
            </a:r>
          </a:p>
          <a:p>
            <a:pPr marL="0" indent="0">
              <a:buNone/>
            </a:pPr>
            <a:r>
              <a:rPr lang="ru-RU" sz="1200" dirty="0"/>
              <a:t>значению, можно сказать, что вы отыскали скрытую связь между</a:t>
            </a:r>
          </a:p>
          <a:p>
            <a:pPr marL="0" indent="0">
              <a:buNone/>
            </a:pPr>
            <a:r>
              <a:rPr lang="ru-RU" sz="1200" dirty="0"/>
              <a:t>величинами. Как же вывести эту формулу? </a:t>
            </a:r>
            <a:endParaRPr lang="ru-RU" dirty="0"/>
          </a:p>
        </p:txBody>
      </p:sp>
      <p:sp>
        <p:nvSpPr>
          <p:cNvPr id="4" name="Дата 3"/>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p:cNvSpPr>
            <a:spLocks noGrp="1"/>
          </p:cNvSpPr>
          <p:nvPr>
            <p:ph type="sldNum" sz="quarter" idx="5"/>
          </p:nvPr>
        </p:nvSpPr>
        <p:spPr/>
        <p:txBody>
          <a:bodyPr/>
          <a:lstStyle/>
          <a:p>
            <a:pPr rtl="0"/>
            <a:fld id="{01B41D33-19C8-4450-B3C5-BE83E9C8F0BC}" type="slidenum">
              <a:rPr lang="en-US" smtClean="0"/>
              <a:t>18</a:t>
            </a:fld>
            <a:endParaRPr lang="en-US"/>
          </a:p>
        </p:txBody>
      </p:sp>
    </p:spTree>
    <p:extLst>
      <p:ext uri="{BB962C8B-B14F-4D97-AF65-F5344CB8AC3E}">
        <p14:creationId xmlns:p14="http://schemas.microsoft.com/office/powerpoint/2010/main" val="3644108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371600" y="1143000"/>
            <a:ext cx="4114800" cy="3086100"/>
          </a:xfrm>
        </p:spPr>
      </p:sp>
      <p:sp>
        <p:nvSpPr>
          <p:cNvPr id="3" name="Заметки 2"/>
          <p:cNvSpPr>
            <a:spLocks noGrp="1"/>
          </p:cNvSpPr>
          <p:nvPr>
            <p:ph type="body" idx="1"/>
          </p:nvPr>
        </p:nvSpPr>
        <p:spPr/>
        <p:txBody>
          <a:bodyPr/>
          <a:lstStyle/>
          <a:p>
            <a:r>
              <a:rPr lang="ru-RU" dirty="0"/>
              <a:t>Моделям такого типа на вход подают большое количество наблюдений, причём для каждого известны значения признаков X и значение целевой переменной y , или «метка» (</a:t>
            </a:r>
            <a:r>
              <a:rPr lang="ru-RU" dirty="0" err="1"/>
              <a:t>label</a:t>
            </a:r>
            <a:r>
              <a:rPr lang="ru-RU" dirty="0"/>
              <a:t>) . Поэтому говорят «на вход подают размеченные данные». Задача модели — восстановить зависимость между X и y , и научиться предсказывать y для новых объектов, у которых известен только вектор значений признаков X . Здесь учитель модели — вы, поскольку определяете, что считать признаками (объектами), а что — целевой переменной, или правильным ответом.</a:t>
            </a:r>
          </a:p>
        </p:txBody>
      </p:sp>
      <p:sp>
        <p:nvSpPr>
          <p:cNvPr id="4" name="Дата 3"/>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p:cNvSpPr>
            <a:spLocks noGrp="1"/>
          </p:cNvSpPr>
          <p:nvPr>
            <p:ph type="sldNum" sz="quarter" idx="5"/>
          </p:nvPr>
        </p:nvSpPr>
        <p:spPr/>
        <p:txBody>
          <a:bodyPr/>
          <a:lstStyle/>
          <a:p>
            <a:pPr rtl="0"/>
            <a:fld id="{01B41D33-19C8-4450-B3C5-BE83E9C8F0BC}" type="slidenum">
              <a:rPr lang="en-US" smtClean="0"/>
              <a:t>20</a:t>
            </a:fld>
            <a:endParaRPr lang="en-US"/>
          </a:p>
        </p:txBody>
      </p:sp>
    </p:spTree>
    <p:extLst>
      <p:ext uri="{BB962C8B-B14F-4D97-AF65-F5344CB8AC3E}">
        <p14:creationId xmlns:p14="http://schemas.microsoft.com/office/powerpoint/2010/main" val="1351507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371600" y="1143000"/>
            <a:ext cx="4114800" cy="3086100"/>
          </a:xfrm>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Модели машинного обучения с учителем делят на классификацию и регрессию. Классификацию применяют, когда в ответе модели нужно получить название класса каждого нового объекта. Число классов (N) может быть любым (главное, конечным и больше 1). Когда N=2, классификация будет бинарной. Пример задачи на бинарную классификацию — кредитный скоринг. В этой задаче нужно определить, вернёт ли заёмщик кредит или нет. Если N</a:t>
            </a:r>
            <a:r>
              <a:rPr lang="en-US" dirty="0"/>
              <a:t>&gt;</a:t>
            </a:r>
            <a:r>
              <a:rPr lang="ru-RU" dirty="0"/>
              <a:t>2, это — </a:t>
            </a:r>
            <a:r>
              <a:rPr lang="ru-RU" dirty="0" err="1"/>
              <a:t>мультиклассификация</a:t>
            </a:r>
            <a:r>
              <a:rPr lang="ru-RU" dirty="0"/>
              <a:t>. Например, в случае если нужно сказать, вернёт ли клиент кредит в срок, вернёт с опозданием не вернёт, перед вами будет стоять как раз задача </a:t>
            </a:r>
            <a:r>
              <a:rPr lang="ru-RU" dirty="0" err="1"/>
              <a:t>мультиклассификации</a:t>
            </a:r>
            <a:r>
              <a:rPr lang="ru-RU" dirty="0"/>
              <a:t>. В</a:t>
            </a:r>
            <a:r>
              <a:rPr lang="en-US" dirty="0"/>
              <a:t> </a:t>
            </a:r>
            <a:r>
              <a:rPr lang="ru-RU" dirty="0"/>
              <a:t>случае регрессии ответ будет непрерывной величиной. Пример задачи регрессии — предсказание стоимости квартиры на основе её</a:t>
            </a:r>
            <a:r>
              <a:rPr lang="en-US" dirty="0"/>
              <a:t> </a:t>
            </a:r>
            <a:r>
              <a:rPr lang="ru-RU" dirty="0"/>
              <a:t>параметров.</a:t>
            </a:r>
          </a:p>
        </p:txBody>
      </p:sp>
      <p:sp>
        <p:nvSpPr>
          <p:cNvPr id="4" name="Дата 3"/>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p:cNvSpPr>
            <a:spLocks noGrp="1"/>
          </p:cNvSpPr>
          <p:nvPr>
            <p:ph type="sldNum" sz="quarter" idx="5"/>
          </p:nvPr>
        </p:nvSpPr>
        <p:spPr/>
        <p:txBody>
          <a:bodyPr/>
          <a:lstStyle/>
          <a:p>
            <a:pPr rtl="0"/>
            <a:fld id="{01B41D33-19C8-4450-B3C5-BE83E9C8F0BC}" type="slidenum">
              <a:rPr lang="en-US" smtClean="0"/>
              <a:t>21</a:t>
            </a:fld>
            <a:endParaRPr lang="en-US"/>
          </a:p>
        </p:txBody>
      </p:sp>
    </p:spTree>
    <p:extLst>
      <p:ext uri="{BB962C8B-B14F-4D97-AF65-F5344CB8AC3E}">
        <p14:creationId xmlns:p14="http://schemas.microsoft.com/office/powerpoint/2010/main" val="2080797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solidFill>
                  <a:srgbClr val="1A1B22"/>
                </a:solidFill>
                <a:effectLst/>
                <a:latin typeface="Arial" panose="020B0604020202020204" pitchFamily="34" charset="0"/>
                <a:ea typeface="DengXian" panose="02010600030101010101" pitchFamily="2" charset="-122"/>
                <a:cs typeface="Mangal" panose="02040503050203030202" pitchFamily="18" charset="0"/>
              </a:rPr>
              <a:t>Если в </a:t>
            </a:r>
            <a:r>
              <a:rPr lang="ru-RU" sz="1800" i="1" dirty="0">
                <a:solidFill>
                  <a:srgbClr val="1A1B22"/>
                </a:solidFill>
                <a:effectLst/>
                <a:latin typeface="Arial" panose="020B0604020202020204" pitchFamily="34" charset="0"/>
                <a:ea typeface="DengXian" panose="02010600030101010101" pitchFamily="2" charset="-122"/>
                <a:cs typeface="Mangal" panose="02040503050203030202" pitchFamily="18" charset="0"/>
              </a:rPr>
              <a:t>Excel</a:t>
            </a:r>
            <a:r>
              <a:rPr lang="ru-RU" sz="1800" dirty="0">
                <a:solidFill>
                  <a:srgbClr val="1A1B22"/>
                </a:solidFill>
                <a:effectLst/>
                <a:latin typeface="Arial" panose="020B0604020202020204" pitchFamily="34" charset="0"/>
                <a:ea typeface="DengXian" panose="02010600030101010101" pitchFamily="2" charset="-122"/>
                <a:cs typeface="Mangal" panose="02040503050203030202" pitchFamily="18" charset="0"/>
              </a:rPr>
              <a:t> вы строили линейную регрессию и вычисляли коэффициенты, связывающие значения переменных с целевой величиной, знайте — вы решали задачу машинного обучения.</a:t>
            </a:r>
            <a:endParaRPr lang="ru-RU" sz="1800" dirty="0">
              <a:effectLst/>
              <a:latin typeface="Calibri" panose="020F0502020204030204" pitchFamily="34" charset="0"/>
              <a:ea typeface="DengXian" panose="02010600030101010101" pitchFamily="2" charset="-122"/>
              <a:cs typeface="Mangal" panose="02040503050203030202" pitchFamily="18" charset="0"/>
            </a:endParaRPr>
          </a:p>
          <a:p>
            <a:r>
              <a:rPr lang="ru-RU" sz="1800" dirty="0">
                <a:solidFill>
                  <a:srgbClr val="1A1B22"/>
                </a:solidFill>
                <a:effectLst/>
                <a:latin typeface="Arial" panose="020B0604020202020204" pitchFamily="34" charset="0"/>
                <a:ea typeface="DengXian" panose="02010600030101010101" pitchFamily="2" charset="-122"/>
              </a:rPr>
              <a:t>В случае </a:t>
            </a:r>
            <a:r>
              <a:rPr lang="ru-RU" sz="1800" b="1" dirty="0">
                <a:solidFill>
                  <a:srgbClr val="1A1B22"/>
                </a:solidFill>
                <a:effectLst/>
                <a:latin typeface="Arial" panose="020B0604020202020204" pitchFamily="34" charset="0"/>
                <a:ea typeface="DengXian" panose="02010600030101010101" pitchFamily="2" charset="-122"/>
              </a:rPr>
              <a:t>регрессии</a:t>
            </a:r>
            <a:r>
              <a:rPr lang="ru-RU" sz="1800" dirty="0">
                <a:solidFill>
                  <a:srgbClr val="1A1B22"/>
                </a:solidFill>
                <a:effectLst/>
                <a:latin typeface="Arial" panose="020B0604020202020204" pitchFamily="34" charset="0"/>
                <a:ea typeface="DengXian" panose="02010600030101010101" pitchFamily="2" charset="-122"/>
              </a:rPr>
              <a:t> ответ будет </a:t>
            </a:r>
            <a:r>
              <a:rPr lang="ru-RU" sz="1800" b="1" dirty="0">
                <a:solidFill>
                  <a:srgbClr val="1A1B22"/>
                </a:solidFill>
                <a:effectLst/>
                <a:latin typeface="Arial" panose="020B0604020202020204" pitchFamily="34" charset="0"/>
                <a:ea typeface="DengXian" panose="02010600030101010101" pitchFamily="2" charset="-122"/>
              </a:rPr>
              <a:t>непрерывной величиной</a:t>
            </a:r>
            <a:r>
              <a:rPr lang="ru-RU" sz="1800" dirty="0">
                <a:solidFill>
                  <a:srgbClr val="1A1B22"/>
                </a:solidFill>
                <a:effectLst/>
                <a:latin typeface="Arial" panose="020B0604020202020204" pitchFamily="34" charset="0"/>
                <a:ea typeface="DengXian" panose="02010600030101010101" pitchFamily="2" charset="-122"/>
              </a:rPr>
              <a:t>. В бизнесе задач регрессии много: скажем, прогнозирование выручки от клиентов, доходности новой точки продаж, оценка стоимости жилья на рынке недвижимости.</a:t>
            </a:r>
            <a:endParaRPr lang="ru-RU" dirty="0"/>
          </a:p>
        </p:txBody>
      </p:sp>
      <p:sp>
        <p:nvSpPr>
          <p:cNvPr id="4" name="Дата 3"/>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p:cNvSpPr>
            <a:spLocks noGrp="1"/>
          </p:cNvSpPr>
          <p:nvPr>
            <p:ph type="sldNum" sz="quarter" idx="5"/>
          </p:nvPr>
        </p:nvSpPr>
        <p:spPr/>
        <p:txBody>
          <a:bodyPr/>
          <a:lstStyle/>
          <a:p>
            <a:pPr rtl="0"/>
            <a:fld id="{01B41D33-19C8-4450-B3C5-BE83E9C8F0BC}" type="slidenum">
              <a:rPr lang="en-US" smtClean="0"/>
              <a:t>23</a:t>
            </a:fld>
            <a:endParaRPr lang="en-US"/>
          </a:p>
        </p:txBody>
      </p:sp>
    </p:spTree>
    <p:extLst>
      <p:ext uri="{BB962C8B-B14F-4D97-AF65-F5344CB8AC3E}">
        <p14:creationId xmlns:p14="http://schemas.microsoft.com/office/powerpoint/2010/main" val="1771462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371600" y="1143000"/>
            <a:ext cx="4114800" cy="3086100"/>
          </a:xfrm>
        </p:spPr>
      </p:sp>
      <p:sp>
        <p:nvSpPr>
          <p:cNvPr id="3" name="Заметки 2"/>
          <p:cNvSpPr>
            <a:spLocks noGrp="1"/>
          </p:cNvSpPr>
          <p:nvPr>
            <p:ph type="body" idx="1"/>
          </p:nvPr>
        </p:nvSpPr>
        <p:spPr/>
        <p:txBody>
          <a:bodyPr/>
          <a:lstStyle/>
          <a:p>
            <a:r>
              <a:rPr lang="ru-RU" dirty="0"/>
              <a:t>Мы рассмотрели задачи, для которых «истинные ответы» (</a:t>
            </a:r>
            <a:r>
              <a:rPr lang="ru-RU" dirty="0" err="1"/>
              <a:t>ground</a:t>
            </a:r>
            <a:r>
              <a:rPr lang="ru-RU" dirty="0"/>
              <a:t> </a:t>
            </a:r>
            <a:r>
              <a:rPr lang="ru-RU" dirty="0" err="1"/>
              <a:t>truth</a:t>
            </a:r>
            <a:r>
              <a:rPr lang="ru-RU" dirty="0"/>
              <a:t>)</a:t>
            </a:r>
            <a:r>
              <a:rPr lang="en-US" dirty="0"/>
              <a:t> </a:t>
            </a:r>
            <a:r>
              <a:rPr lang="ru-RU" dirty="0"/>
              <a:t>известны. Однако можно предоставлять модели данные без целевой переменной. Так на вход алгоритму передают большое количество</a:t>
            </a:r>
            <a:r>
              <a:rPr lang="en-US" dirty="0"/>
              <a:t> </a:t>
            </a:r>
            <a:r>
              <a:rPr lang="ru-RU" dirty="0"/>
              <a:t>наблюдений с признаками, но без ответа ( y ), и обучают его строить взаимосвязи уже между объектами. Модель способна определить, какие</a:t>
            </a:r>
            <a:r>
              <a:rPr lang="en-US" dirty="0"/>
              <a:t> </a:t>
            </a:r>
            <a:r>
              <a:rPr lang="ru-RU" dirty="0"/>
              <a:t>объекты похожи друг на друга, а какие — нет. Такой процесс называют обучение без учителя. Это второй глобальный тип задач машинного</a:t>
            </a:r>
            <a:r>
              <a:rPr lang="en-US" dirty="0"/>
              <a:t> </a:t>
            </a:r>
            <a:r>
              <a:rPr lang="ru-RU" dirty="0"/>
              <a:t>обучения.</a:t>
            </a:r>
          </a:p>
        </p:txBody>
      </p:sp>
      <p:sp>
        <p:nvSpPr>
          <p:cNvPr id="4" name="Дата 3"/>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p:cNvSpPr>
            <a:spLocks noGrp="1"/>
          </p:cNvSpPr>
          <p:nvPr>
            <p:ph type="sldNum" sz="quarter" idx="5"/>
          </p:nvPr>
        </p:nvSpPr>
        <p:spPr/>
        <p:txBody>
          <a:bodyPr/>
          <a:lstStyle/>
          <a:p>
            <a:pPr rtl="0"/>
            <a:fld id="{01B41D33-19C8-4450-B3C5-BE83E9C8F0BC}" type="slidenum">
              <a:rPr lang="en-US" smtClean="0"/>
              <a:t>25</a:t>
            </a:fld>
            <a:endParaRPr lang="en-US"/>
          </a:p>
        </p:txBody>
      </p:sp>
    </p:spTree>
    <p:extLst>
      <p:ext uri="{BB962C8B-B14F-4D97-AF65-F5344CB8AC3E}">
        <p14:creationId xmlns:p14="http://schemas.microsoft.com/office/powerpoint/2010/main" val="3051918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371600" y="1143000"/>
            <a:ext cx="4114800" cy="3086100"/>
          </a:xfrm>
        </p:spPr>
      </p:sp>
      <p:sp>
        <p:nvSpPr>
          <p:cNvPr id="3" name="Заметки 2"/>
          <p:cNvSpPr>
            <a:spLocks noGrp="1"/>
          </p:cNvSpPr>
          <p:nvPr>
            <p:ph type="body" idx="1"/>
          </p:nvPr>
        </p:nvSpPr>
        <p:spPr/>
        <p:txBody>
          <a:bodyPr/>
          <a:lstStyle/>
          <a:p>
            <a:r>
              <a:rPr lang="ru-RU" sz="1200" dirty="0"/>
              <a:t>В кластеризации заранее заданных классов нет. Их формирует алгоритм, а не вы. Ещё обучение без учителя применяют для снижения размерности матрицы признаков:</a:t>
            </a:r>
          </a:p>
          <a:p>
            <a:r>
              <a:rPr lang="ru-RU" dirty="0"/>
              <a:t>Зачем это нужно? Кажется, чем больше признаков — тем лучше. Однако это не всегда так. Размерность снижают потому, что алгоритмы не так хорошо работают, когда в условиях ограниченного объёма наблюдений признаков становится слишком много. Последний глобальный тип алгоритмов — обучение с подкреплением (</a:t>
            </a:r>
            <a:r>
              <a:rPr lang="ru-RU" dirty="0" err="1"/>
              <a:t>reinforcment</a:t>
            </a:r>
            <a:r>
              <a:rPr lang="ru-RU" dirty="0"/>
              <a:t> </a:t>
            </a:r>
            <a:r>
              <a:rPr lang="ru-RU" dirty="0" err="1"/>
              <a:t>learning</a:t>
            </a:r>
            <a:r>
              <a:rPr lang="ru-RU" dirty="0"/>
              <a:t>). В этом случае модель обучается поэтапно и на каждом шаге немного меняет алгоритм своего действия, исходя из «подсказок» внешней среды. Обучение с подкреплением — популярная и модная область машинного обучения. Однако в этом курсе не будем в неё углубляться.</a:t>
            </a:r>
          </a:p>
        </p:txBody>
      </p:sp>
      <p:sp>
        <p:nvSpPr>
          <p:cNvPr id="4" name="Дата 3"/>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p:cNvSpPr>
            <a:spLocks noGrp="1"/>
          </p:cNvSpPr>
          <p:nvPr>
            <p:ph type="sldNum" sz="quarter" idx="5"/>
          </p:nvPr>
        </p:nvSpPr>
        <p:spPr/>
        <p:txBody>
          <a:bodyPr/>
          <a:lstStyle/>
          <a:p>
            <a:pPr rtl="0"/>
            <a:fld id="{01B41D33-19C8-4450-B3C5-BE83E9C8F0BC}" type="slidenum">
              <a:rPr lang="en-US" smtClean="0"/>
              <a:t>26</a:t>
            </a:fld>
            <a:endParaRPr lang="en-US"/>
          </a:p>
        </p:txBody>
      </p:sp>
    </p:spTree>
    <p:extLst>
      <p:ext uri="{BB962C8B-B14F-4D97-AF65-F5344CB8AC3E}">
        <p14:creationId xmlns:p14="http://schemas.microsoft.com/office/powerpoint/2010/main" val="2601226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371600" y="1143000"/>
            <a:ext cx="4114800" cy="3086100"/>
          </a:xfrm>
        </p:spPr>
      </p:sp>
      <p:sp>
        <p:nvSpPr>
          <p:cNvPr id="3" name="Заметки 2"/>
          <p:cNvSpPr>
            <a:spLocks noGrp="1"/>
          </p:cNvSpPr>
          <p:nvPr>
            <p:ph type="body" idx="1"/>
          </p:nvPr>
        </p:nvSpPr>
        <p:spPr/>
        <p:txBody>
          <a:bodyPr/>
          <a:lstStyle/>
          <a:p>
            <a:endParaRPr lang="ru-RU" dirty="0"/>
          </a:p>
        </p:txBody>
      </p:sp>
      <p:sp>
        <p:nvSpPr>
          <p:cNvPr id="4" name="Дата 3"/>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p:cNvSpPr>
            <a:spLocks noGrp="1"/>
          </p:cNvSpPr>
          <p:nvPr>
            <p:ph type="sldNum" sz="quarter" idx="5"/>
          </p:nvPr>
        </p:nvSpPr>
        <p:spPr/>
        <p:txBody>
          <a:bodyPr/>
          <a:lstStyle/>
          <a:p>
            <a:pPr rtl="0"/>
            <a:fld id="{01B41D33-19C8-4450-B3C5-BE83E9C8F0BC}" type="slidenum">
              <a:rPr lang="en-US" smtClean="0"/>
              <a:t>27</a:t>
            </a:fld>
            <a:endParaRPr lang="en-US"/>
          </a:p>
        </p:txBody>
      </p:sp>
    </p:spTree>
    <p:extLst>
      <p:ext uri="{BB962C8B-B14F-4D97-AF65-F5344CB8AC3E}">
        <p14:creationId xmlns:p14="http://schemas.microsoft.com/office/powerpoint/2010/main" val="12112107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nSpc>
                <a:spcPct val="107000"/>
              </a:lnSpc>
              <a:spcAft>
                <a:spcPts val="800"/>
              </a:spcAft>
            </a:pPr>
            <a:r>
              <a:rPr lang="ru-RU" sz="1800" dirty="0">
                <a:solidFill>
                  <a:srgbClr val="000000"/>
                </a:solidFill>
                <a:effectLst/>
                <a:latin typeface="Arial" panose="020B0604020202020204" pitchFamily="34" charset="0"/>
                <a:ea typeface="DengXian" panose="02010600030101010101" pitchFamily="2" charset="-122"/>
                <a:cs typeface="Mangal" panose="02040503050203030202" pitchFamily="18" charset="0"/>
              </a:rPr>
              <a:t>В машинном обучении работает правило </a:t>
            </a:r>
            <a:r>
              <a:rPr lang="ru-RU" sz="1800" b="1" dirty="0">
                <a:solidFill>
                  <a:srgbClr val="000000"/>
                </a:solidFill>
                <a:effectLst/>
                <a:latin typeface="Arial" panose="020B0604020202020204" pitchFamily="34" charset="0"/>
                <a:ea typeface="DengXian" panose="02010600030101010101" pitchFamily="2" charset="-122"/>
                <a:cs typeface="Mangal" panose="02040503050203030202" pitchFamily="18" charset="0"/>
              </a:rPr>
              <a:t>GIGO</a:t>
            </a:r>
            <a:r>
              <a:rPr lang="ru-RU" sz="1800" dirty="0">
                <a:solidFill>
                  <a:srgbClr val="000000"/>
                </a:solidFill>
                <a:effectLst/>
                <a:latin typeface="Arial" panose="020B0604020202020204" pitchFamily="34" charset="0"/>
                <a:ea typeface="DengXian" panose="02010600030101010101" pitchFamily="2" charset="-122"/>
                <a:cs typeface="Mangal" panose="02040503050203030202" pitchFamily="18" charset="0"/>
              </a:rPr>
              <a:t> (англ. </a:t>
            </a:r>
            <a:r>
              <a:rPr lang="ru-RU" sz="1800" i="1" dirty="0" err="1">
                <a:solidFill>
                  <a:srgbClr val="000000"/>
                </a:solidFill>
                <a:effectLst/>
                <a:latin typeface="Arial" panose="020B0604020202020204" pitchFamily="34" charset="0"/>
                <a:ea typeface="DengXian" panose="02010600030101010101" pitchFamily="2" charset="-122"/>
                <a:cs typeface="Mangal" panose="02040503050203030202" pitchFamily="18" charset="0"/>
              </a:rPr>
              <a:t>Garbage</a:t>
            </a:r>
            <a:r>
              <a:rPr lang="ru-RU" sz="1800" i="1" dirty="0">
                <a:solidFill>
                  <a:srgbClr val="000000"/>
                </a:solidFill>
                <a:effectLst/>
                <a:latin typeface="Arial" panose="020B0604020202020204" pitchFamily="34" charset="0"/>
                <a:ea typeface="DengXian" panose="02010600030101010101" pitchFamily="2" charset="-122"/>
                <a:cs typeface="Mangal" panose="02040503050203030202" pitchFamily="18" charset="0"/>
              </a:rPr>
              <a:t> In, </a:t>
            </a:r>
            <a:r>
              <a:rPr lang="ru-RU" sz="1800" i="1" dirty="0" err="1">
                <a:solidFill>
                  <a:srgbClr val="000000"/>
                </a:solidFill>
                <a:effectLst/>
                <a:latin typeface="Arial" panose="020B0604020202020204" pitchFamily="34" charset="0"/>
                <a:ea typeface="DengXian" panose="02010600030101010101" pitchFamily="2" charset="-122"/>
                <a:cs typeface="Mangal" panose="02040503050203030202" pitchFamily="18" charset="0"/>
              </a:rPr>
              <a:t>Garbage</a:t>
            </a:r>
            <a:r>
              <a:rPr lang="ru-RU" sz="1800" i="1" dirty="0">
                <a:solidFill>
                  <a:srgbClr val="000000"/>
                </a:solidFill>
                <a:effectLst/>
                <a:latin typeface="Arial" panose="020B0604020202020204" pitchFamily="34" charset="0"/>
                <a:ea typeface="DengXian" panose="02010600030101010101" pitchFamily="2" charset="-122"/>
                <a:cs typeface="Mangal" panose="02040503050203030202" pitchFamily="18" charset="0"/>
              </a:rPr>
              <a:t> Out</a:t>
            </a:r>
            <a:r>
              <a:rPr lang="ru-RU" sz="1800" dirty="0">
                <a:solidFill>
                  <a:srgbClr val="000000"/>
                </a:solidFill>
                <a:effectLst/>
                <a:latin typeface="Arial" panose="020B0604020202020204" pitchFamily="34" charset="0"/>
                <a:ea typeface="DengXian" panose="02010600030101010101" pitchFamily="2" charset="-122"/>
                <a:cs typeface="Mangal" panose="02040503050203030202" pitchFamily="18" charset="0"/>
              </a:rPr>
              <a:t>, «Мусор на входе — мусор на выходе»)</a:t>
            </a:r>
            <a:r>
              <a:rPr lang="ru-RU" sz="1800" b="1" dirty="0">
                <a:solidFill>
                  <a:srgbClr val="000000"/>
                </a:solidFill>
                <a:effectLst/>
                <a:latin typeface="Arial" panose="020B0604020202020204" pitchFamily="34" charset="0"/>
                <a:ea typeface="DengXian" panose="02010600030101010101" pitchFamily="2" charset="-122"/>
                <a:cs typeface="Mangal" panose="02040503050203030202" pitchFamily="18" charset="0"/>
              </a:rPr>
              <a:t>.</a:t>
            </a:r>
            <a:r>
              <a:rPr lang="ru-RU" sz="1800" dirty="0">
                <a:solidFill>
                  <a:srgbClr val="000000"/>
                </a:solidFill>
                <a:effectLst/>
                <a:latin typeface="Arial" panose="020B0604020202020204" pitchFamily="34" charset="0"/>
                <a:ea typeface="DengXian" panose="02010600030101010101" pitchFamily="2" charset="-122"/>
                <a:cs typeface="Mangal" panose="02040503050203030202" pitchFamily="18" charset="0"/>
              </a:rPr>
              <a:t> Если на вход модели передать некачественные данные, даже при правильном выборе алгоритма на выходе получите неверные результаты. Вот потенциальные проблемы с качеством данных:</a:t>
            </a:r>
            <a:endParaRPr lang="ru-RU" sz="1800" dirty="0">
              <a:effectLst/>
              <a:latin typeface="Calibri" panose="020F0502020204030204" pitchFamily="34" charset="0"/>
              <a:ea typeface="DengXian" panose="02010600030101010101" pitchFamily="2" charset="-122"/>
              <a:cs typeface="Mangal" panose="02040503050203030202"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ru-RU" sz="1800" dirty="0">
                <a:solidFill>
                  <a:srgbClr val="000000"/>
                </a:solidFill>
                <a:effectLst/>
                <a:latin typeface="Arial" panose="020B0604020202020204" pitchFamily="34" charset="0"/>
                <a:ea typeface="DengXian" panose="02010600030101010101" pitchFamily="2" charset="-122"/>
                <a:cs typeface="Mangal" panose="02040503050203030202" pitchFamily="18" charset="0"/>
              </a:rPr>
              <a:t>шум;</a:t>
            </a:r>
            <a:endParaRPr lang="ru-RU" sz="1800" dirty="0">
              <a:solidFill>
                <a:srgbClr val="000000"/>
              </a:solidFill>
              <a:effectLst/>
              <a:latin typeface="Calibri" panose="020F0502020204030204" pitchFamily="34" charset="0"/>
              <a:ea typeface="DengXian" panose="02010600030101010101" pitchFamily="2" charset="-122"/>
              <a:cs typeface="Mangal" panose="02040503050203030202"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ru-RU" sz="1800" dirty="0">
                <a:solidFill>
                  <a:srgbClr val="000000"/>
                </a:solidFill>
                <a:effectLst/>
                <a:latin typeface="Arial" panose="020B0604020202020204" pitchFamily="34" charset="0"/>
                <a:ea typeface="DengXian" panose="02010600030101010101" pitchFamily="2" charset="-122"/>
                <a:cs typeface="Mangal" panose="02040503050203030202" pitchFamily="18" charset="0"/>
              </a:rPr>
              <a:t>пропуски;</a:t>
            </a:r>
            <a:endParaRPr lang="ru-RU" sz="1800" dirty="0">
              <a:solidFill>
                <a:srgbClr val="000000"/>
              </a:solidFill>
              <a:effectLst/>
              <a:latin typeface="Calibri" panose="020F0502020204030204" pitchFamily="34" charset="0"/>
              <a:ea typeface="DengXian" panose="02010600030101010101" pitchFamily="2" charset="-122"/>
              <a:cs typeface="Mangal" panose="02040503050203030202"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ru-RU" sz="1800" dirty="0">
                <a:solidFill>
                  <a:srgbClr val="000000"/>
                </a:solidFill>
                <a:effectLst/>
                <a:latin typeface="Arial" panose="020B0604020202020204" pitchFamily="34" charset="0"/>
                <a:ea typeface="DengXian" panose="02010600030101010101" pitchFamily="2" charset="-122"/>
                <a:cs typeface="Mangal" panose="02040503050203030202" pitchFamily="18" charset="0"/>
              </a:rPr>
              <a:t>ошибки и выбросы;</a:t>
            </a:r>
            <a:endParaRPr lang="ru-RU" sz="1800" dirty="0">
              <a:solidFill>
                <a:srgbClr val="000000"/>
              </a:solidFill>
              <a:effectLst/>
              <a:latin typeface="Calibri" panose="020F0502020204030204" pitchFamily="34" charset="0"/>
              <a:ea typeface="DengXian" panose="02010600030101010101" pitchFamily="2" charset="-122"/>
              <a:cs typeface="Mangal" panose="02040503050203030202"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ru-RU" sz="1800" dirty="0">
                <a:solidFill>
                  <a:srgbClr val="000000"/>
                </a:solidFill>
                <a:effectLst/>
                <a:latin typeface="Arial" panose="020B0604020202020204" pitchFamily="34" charset="0"/>
                <a:ea typeface="DengXian" panose="02010600030101010101" pitchFamily="2" charset="-122"/>
                <a:cs typeface="Mangal" panose="02040503050203030202" pitchFamily="18" charset="0"/>
              </a:rPr>
              <a:t>изменение в распределении данных со временем.</a:t>
            </a:r>
            <a:endParaRPr lang="ru-RU" sz="1800" dirty="0">
              <a:solidFill>
                <a:srgbClr val="000000"/>
              </a:solidFill>
              <a:effectLst/>
              <a:latin typeface="Calibri" panose="020F0502020204030204" pitchFamily="34" charset="0"/>
              <a:ea typeface="DengXian" panose="02010600030101010101" pitchFamily="2" charset="-122"/>
              <a:cs typeface="Mangal" panose="02040503050203030202" pitchFamily="18" charset="0"/>
            </a:endParaRPr>
          </a:p>
          <a:p>
            <a:endParaRPr lang="ru-RU" dirty="0"/>
          </a:p>
        </p:txBody>
      </p:sp>
      <p:sp>
        <p:nvSpPr>
          <p:cNvPr id="4" name="Дата 3"/>
          <p:cNvSpPr>
            <a:spLocks noGrp="1"/>
          </p:cNvSpPr>
          <p:nvPr>
            <p:ph type="dt" idx="1"/>
          </p:nvPr>
        </p:nvSpPr>
        <p:spPr/>
        <p:txBody>
          <a:bodyPr/>
          <a:lstStyle/>
          <a:p>
            <a:pPr rtl="0"/>
            <a:fld id="{150EC31D-9C0F-4EDB-9AC9-93AE84D7514D}" type="datetime1">
              <a:rPr lang="ru-RU" smtClean="0"/>
              <a:t>03.12.2024</a:t>
            </a:fld>
            <a:endParaRPr lang="en-US"/>
          </a:p>
        </p:txBody>
      </p:sp>
      <p:sp>
        <p:nvSpPr>
          <p:cNvPr id="5" name="Номер слайда 4"/>
          <p:cNvSpPr>
            <a:spLocks noGrp="1"/>
          </p:cNvSpPr>
          <p:nvPr>
            <p:ph type="sldNum" sz="quarter" idx="5"/>
          </p:nvPr>
        </p:nvSpPr>
        <p:spPr/>
        <p:txBody>
          <a:bodyPr/>
          <a:lstStyle/>
          <a:p>
            <a:pPr rtl="0"/>
            <a:fld id="{01B41D33-19C8-4450-B3C5-BE83E9C8F0BC}" type="slidenum">
              <a:rPr lang="en-US" smtClean="0"/>
              <a:t>31</a:t>
            </a:fld>
            <a:endParaRPr lang="en-US"/>
          </a:p>
        </p:txBody>
      </p:sp>
    </p:spTree>
    <p:extLst>
      <p:ext uri="{BB962C8B-B14F-4D97-AF65-F5344CB8AC3E}">
        <p14:creationId xmlns:p14="http://schemas.microsoft.com/office/powerpoint/2010/main" val="694103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7" name="Прямоугольник 6"/>
          <p:cNvSpPr/>
          <p:nvPr/>
        </p:nvSpPr>
        <p:spPr>
          <a:xfrm>
            <a:off x="334901" y="3085767"/>
            <a:ext cx="8474199"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Заголовок 1"/>
          <p:cNvSpPr>
            <a:spLocks noGrp="1"/>
          </p:cNvSpPr>
          <p:nvPr>
            <p:ph type="ctrTitle"/>
          </p:nvPr>
        </p:nvSpPr>
        <p:spPr>
          <a:xfrm>
            <a:off x="435894" y="1020431"/>
            <a:ext cx="8245162" cy="1475013"/>
          </a:xfrm>
          <a:effectLst/>
        </p:spPr>
        <p:txBody>
          <a:bodyPr rtlCol="0" anchor="b">
            <a:normAutofit/>
          </a:bodyPr>
          <a:lstStyle>
            <a:lvl1pPr>
              <a:defRPr sz="2700">
                <a:solidFill>
                  <a:schemeClr val="tx1">
                    <a:lumMod val="75000"/>
                    <a:lumOff val="25000"/>
                  </a:schemeClr>
                </a:solidFill>
              </a:defRPr>
            </a:lvl1pPr>
          </a:lstStyle>
          <a:p>
            <a:pPr rtl="0"/>
            <a:r>
              <a:rPr lang="ru-RU"/>
              <a:t>Образец заголовка</a:t>
            </a:r>
            <a:endParaRPr lang="en-US" dirty="0"/>
          </a:p>
        </p:txBody>
      </p:sp>
      <p:sp>
        <p:nvSpPr>
          <p:cNvPr id="3" name="Подзаголовок 2"/>
          <p:cNvSpPr>
            <a:spLocks noGrp="1"/>
          </p:cNvSpPr>
          <p:nvPr>
            <p:ph type="subTitle" idx="1"/>
          </p:nvPr>
        </p:nvSpPr>
        <p:spPr>
          <a:xfrm>
            <a:off x="435895" y="2495448"/>
            <a:ext cx="8245160" cy="590321"/>
          </a:xfrm>
        </p:spPr>
        <p:txBody>
          <a:bodyPr rtlCol="0" anchor="t">
            <a:normAutofit/>
          </a:bodyPr>
          <a:lstStyle>
            <a:lvl1pPr marL="0" indent="0" algn="l">
              <a:buNone/>
              <a:defRPr sz="1200" cap="all">
                <a:solidFill>
                  <a:schemeClr val="accent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rtl="0"/>
            <a:r>
              <a:rPr lang="ru-RU"/>
              <a:t>Образец подзаголовка</a:t>
            </a:r>
            <a:endParaRPr lang="en-US" dirty="0"/>
          </a:p>
        </p:txBody>
      </p:sp>
      <p:sp>
        <p:nvSpPr>
          <p:cNvPr id="8" name="Дата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1948E6C3-8E12-426B-A56F-861F8B162AC6}" type="datetime1">
              <a:rPr lang="ru-RU" smtClean="0"/>
              <a:t>03.12.2024</a:t>
            </a:fld>
            <a:endParaRPr lang="en-US" dirty="0"/>
          </a:p>
        </p:txBody>
      </p:sp>
      <p:sp>
        <p:nvSpPr>
          <p:cNvPr id="9" name="Нижний колонтитул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n-US" dirty="0"/>
          </a:p>
        </p:txBody>
      </p:sp>
      <p:sp>
        <p:nvSpPr>
          <p:cNvPr id="10" name="Номер слайда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5894" y="702156"/>
            <a:ext cx="8272212" cy="1188720"/>
          </a:xfrm>
        </p:spPr>
        <p:txBody>
          <a:bodyPr rtlCol="0"/>
          <a:lstStyle/>
          <a:p>
            <a:pPr rtl="0"/>
            <a:r>
              <a:rPr lang="ru-RU"/>
              <a:t>Образец заголовка</a:t>
            </a:r>
            <a:endParaRPr lang="en-US" dirty="0"/>
          </a:p>
        </p:txBody>
      </p:sp>
      <p:sp>
        <p:nvSpPr>
          <p:cNvPr id="3" name="Объект 2"/>
          <p:cNvSpPr>
            <a:spLocks noGrp="1"/>
          </p:cNvSpPr>
          <p:nvPr>
            <p:ph idx="1"/>
          </p:nvPr>
        </p:nvSpPr>
        <p:spPr>
          <a:xfrm>
            <a:off x="435896" y="2340864"/>
            <a:ext cx="8272211" cy="3634486"/>
          </a:xfrm>
        </p:spPr>
        <p:txBody>
          <a:bodyPr rtlCol="0"/>
          <a:lstStyle/>
          <a:p>
            <a:pPr lvl="0" rtl="0"/>
            <a:r>
              <a:rPr lang="ru-RU"/>
              <a:t>Образец текста</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endParaRPr lang="en-US" dirty="0"/>
          </a:p>
        </p:txBody>
      </p:sp>
      <p:sp>
        <p:nvSpPr>
          <p:cNvPr id="8" name="Дата 7">
            <a:extLst>
              <a:ext uri="{FF2B5EF4-FFF2-40B4-BE49-F238E27FC236}">
                <a16:creationId xmlns:a16="http://schemas.microsoft.com/office/drawing/2014/main" id="{770E6237-3456-439F-802D-3BA93FC7E3E5}"/>
              </a:ext>
            </a:extLst>
          </p:cNvPr>
          <p:cNvSpPr>
            <a:spLocks noGrp="1"/>
          </p:cNvSpPr>
          <p:nvPr>
            <p:ph type="dt" sz="half" idx="10"/>
          </p:nvPr>
        </p:nvSpPr>
        <p:spPr/>
        <p:txBody>
          <a:bodyPr rtlCol="0"/>
          <a:lstStyle/>
          <a:p>
            <a:pPr rtl="0"/>
            <a:fld id="{6E13CF11-4D7C-4367-8D00-578223D03103}" type="datetime1">
              <a:rPr lang="ru-RU" smtClean="0"/>
              <a:t>03.12.2024</a:t>
            </a:fld>
            <a:endParaRPr lang="en-US" dirty="0"/>
          </a:p>
        </p:txBody>
      </p:sp>
      <p:sp>
        <p:nvSpPr>
          <p:cNvPr id="9" name="Нижний колонтитул 8">
            <a:extLst>
              <a:ext uri="{FF2B5EF4-FFF2-40B4-BE49-F238E27FC236}">
                <a16:creationId xmlns:a16="http://schemas.microsoft.com/office/drawing/2014/main" id="{1356D3B5-6063-4A89-B88F-9D3043916FF8}"/>
              </a:ext>
            </a:extLst>
          </p:cNvPr>
          <p:cNvSpPr>
            <a:spLocks noGrp="1"/>
          </p:cNvSpPr>
          <p:nvPr>
            <p:ph type="ftr" sz="quarter" idx="11"/>
          </p:nvPr>
        </p:nvSpPr>
        <p:spPr/>
        <p:txBody>
          <a:bodyPr rtlCol="0"/>
          <a:lstStyle/>
          <a:p>
            <a:pPr rtl="0"/>
            <a:endParaRPr lang="en-US" dirty="0"/>
          </a:p>
        </p:txBody>
      </p:sp>
      <p:sp>
        <p:nvSpPr>
          <p:cNvPr id="10" name="Номер слайда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8" name="Прямоугольник 7"/>
          <p:cNvSpPr>
            <a:spLocks noChangeAspect="1"/>
          </p:cNvSpPr>
          <p:nvPr/>
        </p:nvSpPr>
        <p:spPr>
          <a:xfrm>
            <a:off x="335864" y="5141977"/>
            <a:ext cx="8468145"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Заголовок 1"/>
          <p:cNvSpPr>
            <a:spLocks noGrp="1"/>
          </p:cNvSpPr>
          <p:nvPr>
            <p:ph type="title"/>
          </p:nvPr>
        </p:nvSpPr>
        <p:spPr>
          <a:xfrm>
            <a:off x="435896" y="2393953"/>
            <a:ext cx="8272211" cy="2147467"/>
          </a:xfrm>
        </p:spPr>
        <p:txBody>
          <a:bodyPr rtlCol="0" anchor="b">
            <a:normAutofit/>
          </a:bodyPr>
          <a:lstStyle>
            <a:lvl1pPr algn="l">
              <a:defRPr sz="2700" b="0" cap="all">
                <a:solidFill>
                  <a:schemeClr val="tx1">
                    <a:lumMod val="75000"/>
                    <a:lumOff val="25000"/>
                  </a:schemeClr>
                </a:solidFill>
              </a:defRPr>
            </a:lvl1pPr>
          </a:lstStyle>
          <a:p>
            <a:pPr rtl="0"/>
            <a:r>
              <a:rPr lang="ru-RU"/>
              <a:t>Образец заголовка</a:t>
            </a:r>
            <a:endParaRPr lang="en-US" dirty="0"/>
          </a:p>
        </p:txBody>
      </p:sp>
      <p:sp>
        <p:nvSpPr>
          <p:cNvPr id="3" name="Текст 2"/>
          <p:cNvSpPr>
            <a:spLocks noGrp="1"/>
          </p:cNvSpPr>
          <p:nvPr>
            <p:ph type="body" idx="1"/>
          </p:nvPr>
        </p:nvSpPr>
        <p:spPr>
          <a:xfrm>
            <a:off x="435896" y="4541417"/>
            <a:ext cx="8272211" cy="600556"/>
          </a:xfrm>
        </p:spPr>
        <p:txBody>
          <a:bodyPr rtlCol="0" anchor="t">
            <a:normAutofit/>
          </a:bodyPr>
          <a:lstStyle>
            <a:lvl1pPr marL="0" indent="0" algn="l">
              <a:buNone/>
              <a:defRPr sz="1350" cap="all">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rtl="0"/>
            <a:r>
              <a:rPr lang="ru-RU"/>
              <a:t>Образец текста</a:t>
            </a:r>
          </a:p>
        </p:txBody>
      </p:sp>
      <p:sp>
        <p:nvSpPr>
          <p:cNvPr id="7" name="Дата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4540FCE8-CB6C-4798-845F-C8260D76B307}" type="datetime1">
              <a:rPr lang="ru-RU" smtClean="0"/>
              <a:t>03.12.2024</a:t>
            </a:fld>
            <a:endParaRPr lang="en-US" dirty="0"/>
          </a:p>
        </p:txBody>
      </p:sp>
      <p:sp>
        <p:nvSpPr>
          <p:cNvPr id="9" name="Нижний колонтитул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n-US" dirty="0"/>
          </a:p>
        </p:txBody>
      </p:sp>
      <p:sp>
        <p:nvSpPr>
          <p:cNvPr id="10" name="Номер слайда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5895" y="729658"/>
            <a:ext cx="8272212" cy="988332"/>
          </a:xfrm>
        </p:spPr>
        <p:txBody>
          <a:bodyPr rtlCol="0"/>
          <a:lstStyle/>
          <a:p>
            <a:pPr rtl="0"/>
            <a:r>
              <a:rPr lang="ru-RU"/>
              <a:t>Образец заголовка</a:t>
            </a:r>
            <a:endParaRPr lang="en-US" dirty="0"/>
          </a:p>
        </p:txBody>
      </p:sp>
      <p:sp>
        <p:nvSpPr>
          <p:cNvPr id="3" name="Объект 2"/>
          <p:cNvSpPr>
            <a:spLocks noGrp="1"/>
          </p:cNvSpPr>
          <p:nvPr>
            <p:ph sz="half" idx="1"/>
          </p:nvPr>
        </p:nvSpPr>
        <p:spPr>
          <a:xfrm>
            <a:off x="435896" y="2228004"/>
            <a:ext cx="3896075" cy="3633047"/>
          </a:xfrm>
        </p:spPr>
        <p:txBody>
          <a:bodyPr rtlCol="0">
            <a:normAutofit/>
          </a:bodyPr>
          <a:lstStyle/>
          <a:p>
            <a:pPr lvl="0" rtl="0"/>
            <a:r>
              <a:rPr lang="ru-RU"/>
              <a:t>Образец текста</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endParaRPr lang="en-US" dirty="0"/>
          </a:p>
        </p:txBody>
      </p:sp>
      <p:sp>
        <p:nvSpPr>
          <p:cNvPr id="4" name="Объект 3"/>
          <p:cNvSpPr>
            <a:spLocks noGrp="1"/>
          </p:cNvSpPr>
          <p:nvPr>
            <p:ph sz="half" idx="2"/>
          </p:nvPr>
        </p:nvSpPr>
        <p:spPr>
          <a:xfrm>
            <a:off x="4812031" y="2228004"/>
            <a:ext cx="3896077" cy="3633047"/>
          </a:xfrm>
        </p:spPr>
        <p:txBody>
          <a:bodyPr rtlCol="0">
            <a:normAutofit/>
          </a:bodyPr>
          <a:lstStyle/>
          <a:p>
            <a:pPr lvl="0" rtl="0"/>
            <a:r>
              <a:rPr lang="ru-RU"/>
              <a:t>Образец текста</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endParaRPr lang="en-US" dirty="0"/>
          </a:p>
        </p:txBody>
      </p:sp>
      <p:sp>
        <p:nvSpPr>
          <p:cNvPr id="5" name="Дата 4"/>
          <p:cNvSpPr>
            <a:spLocks noGrp="1"/>
          </p:cNvSpPr>
          <p:nvPr>
            <p:ph type="dt" sz="half" idx="10"/>
          </p:nvPr>
        </p:nvSpPr>
        <p:spPr/>
        <p:txBody>
          <a:bodyPr rtlCol="0"/>
          <a:lstStyle/>
          <a:p>
            <a:pPr rtl="0"/>
            <a:fld id="{93C13A7E-4C64-47B0-B355-B165BE4012BA}" type="datetime1">
              <a:rPr lang="ru-RU" smtClean="0"/>
              <a:t>03.12.2024</a:t>
            </a:fld>
            <a:endParaRPr lang="en-US" dirty="0"/>
          </a:p>
        </p:txBody>
      </p:sp>
      <p:sp>
        <p:nvSpPr>
          <p:cNvPr id="6" name="Нижний колонтитул 5"/>
          <p:cNvSpPr>
            <a:spLocks noGrp="1"/>
          </p:cNvSpPr>
          <p:nvPr>
            <p:ph type="ftr" sz="quarter" idx="11"/>
          </p:nvPr>
        </p:nvSpPr>
        <p:spPr/>
        <p:txBody>
          <a:bodyPr rtlCol="0"/>
          <a:lstStyle/>
          <a:p>
            <a:pPr rtl="0"/>
            <a:endParaRPr lang="en-US" dirty="0"/>
          </a:p>
        </p:txBody>
      </p:sp>
      <p:sp>
        <p:nvSpPr>
          <p:cNvPr id="7" name="Номер слайда 6"/>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Сравнение">
    <p:spTree>
      <p:nvGrpSpPr>
        <p:cNvPr id="1" name=""/>
        <p:cNvGrpSpPr/>
        <p:nvPr/>
      </p:nvGrpSpPr>
      <p:grpSpPr>
        <a:xfrm>
          <a:off x="0" y="0"/>
          <a:ext cx="0" cy="0"/>
          <a:chOff x="0" y="0"/>
          <a:chExt cx="0" cy="0"/>
        </a:xfrm>
      </p:grpSpPr>
      <p:sp>
        <p:nvSpPr>
          <p:cNvPr id="12" name="Заголовок 1"/>
          <p:cNvSpPr>
            <a:spLocks noGrp="1"/>
          </p:cNvSpPr>
          <p:nvPr>
            <p:ph type="title"/>
          </p:nvPr>
        </p:nvSpPr>
        <p:spPr>
          <a:xfrm>
            <a:off x="435895" y="729658"/>
            <a:ext cx="8272212" cy="988332"/>
          </a:xfrm>
        </p:spPr>
        <p:txBody>
          <a:bodyPr rtlCol="0"/>
          <a:lstStyle/>
          <a:p>
            <a:pPr rtl="0"/>
            <a:r>
              <a:rPr lang="ru-RU"/>
              <a:t>Образец заголовка</a:t>
            </a:r>
            <a:endParaRPr lang="en-US" dirty="0"/>
          </a:p>
        </p:txBody>
      </p:sp>
      <p:sp>
        <p:nvSpPr>
          <p:cNvPr id="3" name="Текст 2"/>
          <p:cNvSpPr>
            <a:spLocks noGrp="1"/>
          </p:cNvSpPr>
          <p:nvPr>
            <p:ph type="body" idx="1"/>
          </p:nvPr>
        </p:nvSpPr>
        <p:spPr>
          <a:xfrm>
            <a:off x="435895" y="2250891"/>
            <a:ext cx="3896077" cy="557784"/>
          </a:xfrm>
        </p:spPr>
        <p:txBody>
          <a:bodyPr rtlCol="0" anchor="ctr">
            <a:noAutofit/>
          </a:bodyPr>
          <a:lstStyle>
            <a:lvl1pPr marL="0" indent="0">
              <a:buNone/>
              <a:defRPr sz="1500" b="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ru-RU"/>
              <a:t>Образец текста</a:t>
            </a:r>
          </a:p>
        </p:txBody>
      </p:sp>
      <p:sp>
        <p:nvSpPr>
          <p:cNvPr id="4" name="Объект 3"/>
          <p:cNvSpPr>
            <a:spLocks noGrp="1"/>
          </p:cNvSpPr>
          <p:nvPr>
            <p:ph sz="half" idx="2"/>
          </p:nvPr>
        </p:nvSpPr>
        <p:spPr>
          <a:xfrm>
            <a:off x="435896" y="2926055"/>
            <a:ext cx="3896075" cy="2934999"/>
          </a:xfrm>
        </p:spPr>
        <p:txBody>
          <a:bodyPr rtlCol="0" anchor="t">
            <a:normAutofit/>
          </a:bodyPr>
          <a:lstStyle/>
          <a:p>
            <a:pPr lvl="0" rtl="0"/>
            <a:r>
              <a:rPr lang="ru-RU"/>
              <a:t>Образец текста</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endParaRPr lang="en-US" dirty="0"/>
          </a:p>
        </p:txBody>
      </p:sp>
      <p:sp>
        <p:nvSpPr>
          <p:cNvPr id="5" name="Текст 4"/>
          <p:cNvSpPr>
            <a:spLocks noGrp="1"/>
          </p:cNvSpPr>
          <p:nvPr>
            <p:ph type="body" sz="quarter" idx="3"/>
          </p:nvPr>
        </p:nvSpPr>
        <p:spPr>
          <a:xfrm>
            <a:off x="4812030" y="2250895"/>
            <a:ext cx="3896078" cy="553373"/>
          </a:xfrm>
        </p:spPr>
        <p:txBody>
          <a:bodyPr rtlCol="0" anchor="ctr">
            <a:noAutofit/>
          </a:bodyPr>
          <a:lstStyle>
            <a:lvl1pPr marL="0" marR="0" indent="0" algn="l" defTabSz="342900"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sz="1500" b="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marR="0" lvl="0" indent="0" algn="l" defTabSz="342900"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a:pPr>
            <a:r>
              <a:rPr lang="ru-RU"/>
              <a:t>Образец текста</a:t>
            </a:r>
          </a:p>
        </p:txBody>
      </p:sp>
      <p:sp>
        <p:nvSpPr>
          <p:cNvPr id="6" name="Объект 5"/>
          <p:cNvSpPr>
            <a:spLocks noGrp="1"/>
          </p:cNvSpPr>
          <p:nvPr>
            <p:ph sz="quarter" idx="4"/>
          </p:nvPr>
        </p:nvSpPr>
        <p:spPr>
          <a:xfrm>
            <a:off x="4812028" y="2926055"/>
            <a:ext cx="3896078" cy="2934999"/>
          </a:xfrm>
        </p:spPr>
        <p:txBody>
          <a:bodyPr rtlCol="0" anchor="t">
            <a:normAutofit/>
          </a:bodyPr>
          <a:lstStyle/>
          <a:p>
            <a:pPr lvl="0" rtl="0"/>
            <a:r>
              <a:rPr lang="ru-RU"/>
              <a:t>Образец текста</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endParaRPr lang="en-US" dirty="0"/>
          </a:p>
        </p:txBody>
      </p:sp>
      <p:sp>
        <p:nvSpPr>
          <p:cNvPr id="7" name="Дата 6"/>
          <p:cNvSpPr>
            <a:spLocks noGrp="1"/>
          </p:cNvSpPr>
          <p:nvPr>
            <p:ph type="dt" sz="half" idx="10"/>
          </p:nvPr>
        </p:nvSpPr>
        <p:spPr/>
        <p:txBody>
          <a:bodyPr rtlCol="0"/>
          <a:lstStyle/>
          <a:p>
            <a:pPr rtl="0"/>
            <a:fld id="{731CA3B4-5CE4-4976-BBFE-4E91C7258FC5}" type="datetime1">
              <a:rPr lang="ru-RU" smtClean="0"/>
              <a:t>03.12.2024</a:t>
            </a:fld>
            <a:endParaRPr lang="en-US" dirty="0"/>
          </a:p>
        </p:txBody>
      </p:sp>
      <p:sp>
        <p:nvSpPr>
          <p:cNvPr id="8" name="Нижний колонтитул 7"/>
          <p:cNvSpPr>
            <a:spLocks noGrp="1"/>
          </p:cNvSpPr>
          <p:nvPr>
            <p:ph type="ftr" sz="quarter" idx="11"/>
          </p:nvPr>
        </p:nvSpPr>
        <p:spPr/>
        <p:txBody>
          <a:bodyPr rtlCol="0"/>
          <a:lstStyle/>
          <a:p>
            <a:pPr rtl="0"/>
            <a:endParaRPr lang="en-US" dirty="0"/>
          </a:p>
        </p:txBody>
      </p:sp>
      <p:sp>
        <p:nvSpPr>
          <p:cNvPr id="9" name="Номер слайда 8"/>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8" name="Заголовок 1"/>
          <p:cNvSpPr>
            <a:spLocks noGrp="1"/>
          </p:cNvSpPr>
          <p:nvPr>
            <p:ph type="title"/>
          </p:nvPr>
        </p:nvSpPr>
        <p:spPr>
          <a:xfrm>
            <a:off x="431921" y="729658"/>
            <a:ext cx="8272212" cy="988332"/>
          </a:xfrm>
        </p:spPr>
        <p:txBody>
          <a:bodyPr rtlCol="0"/>
          <a:lstStyle/>
          <a:p>
            <a:pPr rtl="0"/>
            <a:r>
              <a:rPr lang="ru-RU"/>
              <a:t>Образец заголовка</a:t>
            </a:r>
            <a:endParaRPr lang="en-US" dirty="0"/>
          </a:p>
        </p:txBody>
      </p:sp>
      <p:sp>
        <p:nvSpPr>
          <p:cNvPr id="3" name="Дата 2"/>
          <p:cNvSpPr>
            <a:spLocks noGrp="1"/>
          </p:cNvSpPr>
          <p:nvPr>
            <p:ph type="dt" sz="half" idx="10"/>
          </p:nvPr>
        </p:nvSpPr>
        <p:spPr/>
        <p:txBody>
          <a:bodyPr rtlCol="0"/>
          <a:lstStyle/>
          <a:p>
            <a:pPr rtl="0"/>
            <a:fld id="{D5316041-DA7D-4734-AA8C-761AB09393E2}" type="datetime1">
              <a:rPr lang="ru-RU" smtClean="0"/>
              <a:t>03.12.2024</a:t>
            </a:fld>
            <a:endParaRPr lang="en-US" dirty="0"/>
          </a:p>
        </p:txBody>
      </p:sp>
      <p:sp>
        <p:nvSpPr>
          <p:cNvPr id="4" name="Нижний колонтитул 3"/>
          <p:cNvSpPr>
            <a:spLocks noGrp="1"/>
          </p:cNvSpPr>
          <p:nvPr>
            <p:ph type="ftr" sz="quarter" idx="11"/>
          </p:nvPr>
        </p:nvSpPr>
        <p:spPr/>
        <p:txBody>
          <a:bodyPr rtlCol="0"/>
          <a:lstStyle/>
          <a:p>
            <a:pPr rtl="0"/>
            <a:endParaRPr lang="en-US" dirty="0"/>
          </a:p>
        </p:txBody>
      </p:sp>
      <p:sp>
        <p:nvSpPr>
          <p:cNvPr id="5" name="Номер слайда 4"/>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rtlCol="0"/>
          <a:lstStyle/>
          <a:p>
            <a:pPr rtl="0"/>
            <a:fld id="{8692EF8B-D3DF-4216-96A1-1B1DE794B37A}" type="datetime1">
              <a:rPr lang="ru-RU" smtClean="0"/>
              <a:t>03.12.2024</a:t>
            </a:fld>
            <a:endParaRPr lang="en-US" dirty="0"/>
          </a:p>
        </p:txBody>
      </p:sp>
      <p:sp>
        <p:nvSpPr>
          <p:cNvPr id="3" name="Нижний колонтитул 2"/>
          <p:cNvSpPr>
            <a:spLocks noGrp="1"/>
          </p:cNvSpPr>
          <p:nvPr>
            <p:ph type="ftr" sz="quarter" idx="11"/>
          </p:nvPr>
        </p:nvSpPr>
        <p:spPr/>
        <p:txBody>
          <a:bodyPr rtlCol="0"/>
          <a:lstStyle/>
          <a:p>
            <a:pPr rtl="0"/>
            <a:endParaRPr lang="en-US" dirty="0"/>
          </a:p>
        </p:txBody>
      </p:sp>
      <p:sp>
        <p:nvSpPr>
          <p:cNvPr id="4" name="Номер слайда 3"/>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9" name="Прямоугольник 8"/>
          <p:cNvSpPr>
            <a:spLocks noChangeAspect="1"/>
          </p:cNvSpPr>
          <p:nvPr/>
        </p:nvSpPr>
        <p:spPr>
          <a:xfrm>
            <a:off x="335863" y="601201"/>
            <a:ext cx="2762042"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Заголовок 1"/>
          <p:cNvSpPr>
            <a:spLocks noGrp="1"/>
          </p:cNvSpPr>
          <p:nvPr>
            <p:ph type="title"/>
          </p:nvPr>
        </p:nvSpPr>
        <p:spPr>
          <a:xfrm>
            <a:off x="575894" y="933453"/>
            <a:ext cx="2273889" cy="1722419"/>
          </a:xfrm>
        </p:spPr>
        <p:txBody>
          <a:bodyPr rtlCol="0" anchor="b">
            <a:normAutofit/>
          </a:bodyPr>
          <a:lstStyle>
            <a:lvl1pPr algn="l">
              <a:defRPr sz="1800" b="0">
                <a:solidFill>
                  <a:srgbClr val="FFFFFF"/>
                </a:solidFill>
              </a:defRPr>
            </a:lvl1pPr>
          </a:lstStyle>
          <a:p>
            <a:pPr rtl="0"/>
            <a:r>
              <a:rPr lang="ru-RU"/>
              <a:t>Образец заголовка</a:t>
            </a:r>
            <a:endParaRPr lang="en-US" dirty="0"/>
          </a:p>
        </p:txBody>
      </p:sp>
      <p:sp>
        <p:nvSpPr>
          <p:cNvPr id="3" name="Объект 2"/>
          <p:cNvSpPr>
            <a:spLocks noGrp="1"/>
          </p:cNvSpPr>
          <p:nvPr>
            <p:ph idx="1"/>
          </p:nvPr>
        </p:nvSpPr>
        <p:spPr>
          <a:xfrm>
            <a:off x="3675698" y="1179829"/>
            <a:ext cx="4988243" cy="4658216"/>
          </a:xfrm>
        </p:spPr>
        <p:txBody>
          <a:bodyPr rtlCol="0"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rtl="0"/>
            <a:r>
              <a:rPr lang="ru-RU"/>
              <a:t>Образец текста</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endParaRPr lang="en-US" dirty="0"/>
          </a:p>
        </p:txBody>
      </p:sp>
      <p:sp>
        <p:nvSpPr>
          <p:cNvPr id="4" name="Текст 3"/>
          <p:cNvSpPr>
            <a:spLocks noGrp="1"/>
          </p:cNvSpPr>
          <p:nvPr>
            <p:ph type="body" sz="half" idx="2"/>
          </p:nvPr>
        </p:nvSpPr>
        <p:spPr>
          <a:xfrm>
            <a:off x="575894" y="2836654"/>
            <a:ext cx="2273889" cy="3001392"/>
          </a:xfrm>
        </p:spPr>
        <p:txBody>
          <a:bodyPr rtlCol="0" anchor="t">
            <a:normAutofit/>
          </a:bodyPr>
          <a:lstStyle>
            <a:lvl1pPr marL="0" indent="0" algn="l">
              <a:buNone/>
              <a:defRPr sz="1200">
                <a:solidFill>
                  <a:srgbClr val="FFFFFF"/>
                </a:solidFill>
              </a:defRPr>
            </a:lvl1pPr>
            <a:lvl2pPr marL="342900" indent="0">
              <a:buNone/>
              <a:defRPr sz="825"/>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rtl="0"/>
            <a:r>
              <a:rPr lang="ru-RU"/>
              <a:t>Образец текста</a:t>
            </a:r>
          </a:p>
        </p:txBody>
      </p:sp>
      <p:sp>
        <p:nvSpPr>
          <p:cNvPr id="8" name="Дата 7">
            <a:extLst>
              <a:ext uri="{FF2B5EF4-FFF2-40B4-BE49-F238E27FC236}">
                <a16:creationId xmlns:a16="http://schemas.microsoft.com/office/drawing/2014/main" id="{0B919CC2-2A65-446F-B538-9E6249035445}"/>
              </a:ext>
            </a:extLst>
          </p:cNvPr>
          <p:cNvSpPr>
            <a:spLocks noGrp="1"/>
          </p:cNvSpPr>
          <p:nvPr>
            <p:ph type="dt" sz="half" idx="10"/>
          </p:nvPr>
        </p:nvSpPr>
        <p:spPr>
          <a:xfrm>
            <a:off x="5704465" y="6456919"/>
            <a:ext cx="2133599" cy="365125"/>
          </a:xfrm>
        </p:spPr>
        <p:txBody>
          <a:bodyPr rtlCol="0"/>
          <a:lstStyle/>
          <a:p>
            <a:pPr rtl="0"/>
            <a:fld id="{09563768-3096-48CB-A41A-8D454362CCAD}" type="datetime1">
              <a:rPr lang="ru-RU" smtClean="0"/>
              <a:t>03.12.2024</a:t>
            </a:fld>
            <a:endParaRPr lang="en-US" dirty="0"/>
          </a:p>
        </p:txBody>
      </p:sp>
      <p:sp>
        <p:nvSpPr>
          <p:cNvPr id="10" name="Нижний колонтитул 9">
            <a:extLst>
              <a:ext uri="{FF2B5EF4-FFF2-40B4-BE49-F238E27FC236}">
                <a16:creationId xmlns:a16="http://schemas.microsoft.com/office/drawing/2014/main" id="{B72412AE-119E-4982-8B24-63365EFCA796}"/>
              </a:ext>
            </a:extLst>
          </p:cNvPr>
          <p:cNvSpPr>
            <a:spLocks noGrp="1"/>
          </p:cNvSpPr>
          <p:nvPr>
            <p:ph type="ftr" sz="quarter" idx="11"/>
          </p:nvPr>
        </p:nvSpPr>
        <p:spPr>
          <a:xfrm>
            <a:off x="435895" y="6452593"/>
            <a:ext cx="5187908" cy="365125"/>
          </a:xfrm>
        </p:spPr>
        <p:txBody>
          <a:bodyPr rtlCol="0"/>
          <a:lstStyle/>
          <a:p>
            <a:pPr rtl="0"/>
            <a:endParaRPr lang="en-US" dirty="0"/>
          </a:p>
        </p:txBody>
      </p:sp>
      <p:sp>
        <p:nvSpPr>
          <p:cNvPr id="11" name="Номер слайда 10">
            <a:extLst>
              <a:ext uri="{FF2B5EF4-FFF2-40B4-BE49-F238E27FC236}">
                <a16:creationId xmlns:a16="http://schemas.microsoft.com/office/drawing/2014/main" id="{7FC4BB19-6AD1-45CF-9F99-00B109890FAB}"/>
              </a:ext>
            </a:extLst>
          </p:cNvPr>
          <p:cNvSpPr>
            <a:spLocks noGrp="1"/>
          </p:cNvSpPr>
          <p:nvPr>
            <p:ph type="sldNum" sz="quarter" idx="12"/>
          </p:nvPr>
        </p:nvSpPr>
        <p:spPr>
          <a:xfrm>
            <a:off x="7918726" y="6456919"/>
            <a:ext cx="789383" cy="365125"/>
          </a:xfrm>
        </p:spPr>
        <p:txBody>
          <a:bodyPr rtlCol="0"/>
          <a:lstStyle/>
          <a:p>
            <a:pPr rtl="0"/>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5895" y="4693389"/>
            <a:ext cx="8272212" cy="566738"/>
          </a:xfrm>
        </p:spPr>
        <p:txBody>
          <a:bodyPr rtlCol="0" anchor="b">
            <a:normAutofit/>
          </a:bodyPr>
          <a:lstStyle>
            <a:lvl1pPr algn="l">
              <a:defRPr sz="1800" b="0">
                <a:solidFill>
                  <a:schemeClr val="tx1">
                    <a:lumMod val="75000"/>
                    <a:lumOff val="25000"/>
                  </a:schemeClr>
                </a:solidFill>
              </a:defRPr>
            </a:lvl1pPr>
          </a:lstStyle>
          <a:p>
            <a:pPr rtl="0"/>
            <a:r>
              <a:rPr lang="ru-RU"/>
              <a:t>Образец заголовка</a:t>
            </a:r>
            <a:endParaRPr lang="en-US" dirty="0"/>
          </a:p>
        </p:txBody>
      </p:sp>
      <p:sp>
        <p:nvSpPr>
          <p:cNvPr id="3" name="Рисунок 2"/>
          <p:cNvSpPr>
            <a:spLocks noGrp="1" noChangeAspect="1"/>
          </p:cNvSpPr>
          <p:nvPr>
            <p:ph type="pic" idx="1"/>
          </p:nvPr>
        </p:nvSpPr>
        <p:spPr>
          <a:xfrm>
            <a:off x="335863" y="641353"/>
            <a:ext cx="8468144" cy="3651249"/>
          </a:xfrm>
        </p:spPr>
        <p:txBody>
          <a:bodyPr rtlCol="0"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rtl="0"/>
            <a:r>
              <a:rPr lang="ru-RU"/>
              <a:t>Вставка рисунка</a:t>
            </a:r>
            <a:endParaRPr lang="en-US" dirty="0"/>
          </a:p>
        </p:txBody>
      </p:sp>
      <p:sp>
        <p:nvSpPr>
          <p:cNvPr id="4" name="Текст 3"/>
          <p:cNvSpPr>
            <a:spLocks noGrp="1"/>
          </p:cNvSpPr>
          <p:nvPr>
            <p:ph type="body" sz="half" idx="2"/>
          </p:nvPr>
        </p:nvSpPr>
        <p:spPr>
          <a:xfrm>
            <a:off x="435895" y="5260127"/>
            <a:ext cx="8272213" cy="998148"/>
          </a:xfrm>
        </p:spPr>
        <p:txBody>
          <a:bodyPr rtlCol="0"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rtl="0"/>
            <a:r>
              <a:rPr lang="ru-RU"/>
              <a:t>Образец текста</a:t>
            </a:r>
          </a:p>
        </p:txBody>
      </p:sp>
      <p:sp>
        <p:nvSpPr>
          <p:cNvPr id="5" name="Дата 4"/>
          <p:cNvSpPr>
            <a:spLocks noGrp="1"/>
          </p:cNvSpPr>
          <p:nvPr>
            <p:ph type="dt" sz="half" idx="10"/>
          </p:nvPr>
        </p:nvSpPr>
        <p:spPr/>
        <p:txBody>
          <a:bodyPr rtlCol="0"/>
          <a:lstStyle/>
          <a:p>
            <a:pPr rtl="0"/>
            <a:fld id="{530088EE-0E82-4198-BDFF-3B9755AA8919}" type="datetime1">
              <a:rPr lang="ru-RU" smtClean="0"/>
              <a:t>03.12.2024</a:t>
            </a:fld>
            <a:endParaRPr lang="en-US" dirty="0"/>
          </a:p>
        </p:txBody>
      </p:sp>
      <p:sp>
        <p:nvSpPr>
          <p:cNvPr id="6" name="Нижний колонтитул 5"/>
          <p:cNvSpPr>
            <a:spLocks noGrp="1"/>
          </p:cNvSpPr>
          <p:nvPr>
            <p:ph type="ftr" sz="quarter" idx="11"/>
          </p:nvPr>
        </p:nvSpPr>
        <p:spPr/>
        <p:txBody>
          <a:bodyPr rtlCol="0"/>
          <a:lstStyle/>
          <a:p>
            <a:pPr algn="l" rtl="0"/>
            <a:endParaRPr lang="en-US" dirty="0"/>
          </a:p>
        </p:txBody>
      </p:sp>
      <p:sp>
        <p:nvSpPr>
          <p:cNvPr id="7" name="Номер слайда 6"/>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9" name="Заголовок 1"/>
          <p:cNvSpPr>
            <a:spLocks noGrp="1"/>
          </p:cNvSpPr>
          <p:nvPr>
            <p:ph type="title"/>
          </p:nvPr>
        </p:nvSpPr>
        <p:spPr>
          <a:xfrm>
            <a:off x="435894" y="702156"/>
            <a:ext cx="8272212" cy="1013800"/>
          </a:xfrm>
        </p:spPr>
        <p:txBody>
          <a:bodyPr rtlCol="0"/>
          <a:lstStyle/>
          <a:p>
            <a:pPr rtl="0"/>
            <a:r>
              <a:rPr lang="ru-RU"/>
              <a:t>Образец заголовка</a:t>
            </a:r>
            <a:endParaRPr lang="en-US" dirty="0"/>
          </a:p>
        </p:txBody>
      </p:sp>
      <p:sp>
        <p:nvSpPr>
          <p:cNvPr id="3" name="Вертикальный текст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ru-RU"/>
              <a:t>Образец текста</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endParaRPr lang="en-US" dirty="0"/>
          </a:p>
        </p:txBody>
      </p:sp>
      <p:sp>
        <p:nvSpPr>
          <p:cNvPr id="4" name="Дата 3"/>
          <p:cNvSpPr>
            <a:spLocks noGrp="1"/>
          </p:cNvSpPr>
          <p:nvPr>
            <p:ph type="dt" sz="half" idx="10"/>
          </p:nvPr>
        </p:nvSpPr>
        <p:spPr/>
        <p:txBody>
          <a:bodyPr rtlCol="0"/>
          <a:lstStyle/>
          <a:p>
            <a:pPr rtl="0"/>
            <a:fld id="{AD323C2A-FDF4-456A-A556-14045268B55D}" type="datetime1">
              <a:rPr lang="ru-RU" smtClean="0"/>
              <a:t>03.12.2024</a:t>
            </a:fld>
            <a:endParaRPr lang="en-US" dirty="0"/>
          </a:p>
        </p:txBody>
      </p:sp>
      <p:sp>
        <p:nvSpPr>
          <p:cNvPr id="5" name="Нижний колонтитул 4"/>
          <p:cNvSpPr>
            <a:spLocks noGrp="1"/>
          </p:cNvSpPr>
          <p:nvPr>
            <p:ph type="ftr" sz="quarter" idx="11"/>
          </p:nvPr>
        </p:nvSpPr>
        <p:spPr/>
        <p:txBody>
          <a:bodyPr rtlCol="0"/>
          <a:lstStyle/>
          <a:p>
            <a:pPr rtl="0"/>
            <a:endParaRPr lang="en-US" dirty="0"/>
          </a:p>
        </p:txBody>
      </p:sp>
      <p:sp>
        <p:nvSpPr>
          <p:cNvPr id="6" name="Номер слайда 5"/>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7" name="Прямоугольник 6"/>
          <p:cNvSpPr>
            <a:spLocks noChangeAspect="1"/>
          </p:cNvSpPr>
          <p:nvPr/>
        </p:nvSpPr>
        <p:spPr>
          <a:xfrm>
            <a:off x="6043613" y="599725"/>
            <a:ext cx="2765487"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Вертикальный заголовок 1"/>
          <p:cNvSpPr>
            <a:spLocks noGrp="1"/>
          </p:cNvSpPr>
          <p:nvPr>
            <p:ph type="title" orient="vert"/>
          </p:nvPr>
        </p:nvSpPr>
        <p:spPr>
          <a:xfrm>
            <a:off x="6153150" y="863600"/>
            <a:ext cx="2343150" cy="4807326"/>
          </a:xfrm>
        </p:spPr>
        <p:txBody>
          <a:bodyPr vert="eaVert" rtlCol="0" anchor="ctr"/>
          <a:lstStyle>
            <a:lvl1pPr>
              <a:defRPr>
                <a:solidFill>
                  <a:srgbClr val="FFFFFF"/>
                </a:solidFill>
              </a:defRPr>
            </a:lvl1pPr>
          </a:lstStyle>
          <a:p>
            <a:pPr rtl="0"/>
            <a:r>
              <a:rPr lang="ru-RU"/>
              <a:t>Образец заголовка</a:t>
            </a:r>
            <a:endParaRPr lang="en-US" dirty="0"/>
          </a:p>
        </p:txBody>
      </p:sp>
      <p:sp>
        <p:nvSpPr>
          <p:cNvPr id="3" name="Вертикальный текст 2"/>
          <p:cNvSpPr>
            <a:spLocks noGrp="1"/>
          </p:cNvSpPr>
          <p:nvPr>
            <p:ph type="body" orient="vert" idx="1"/>
          </p:nvPr>
        </p:nvSpPr>
        <p:spPr>
          <a:xfrm>
            <a:off x="581194" y="863600"/>
            <a:ext cx="5371219" cy="4807326"/>
          </a:xfrm>
        </p:spPr>
        <p:txBody>
          <a:bodyPr vert="eaVert" rtlCol="0" anchor="t"/>
          <a:lstStyle/>
          <a:p>
            <a:pPr lvl="0" rtl="0"/>
            <a:r>
              <a:rPr lang="ru-RU"/>
              <a:t>Образец текста</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endParaRPr lang="en-US" dirty="0"/>
          </a:p>
        </p:txBody>
      </p:sp>
      <p:sp>
        <p:nvSpPr>
          <p:cNvPr id="8" name="Прямоугольник 7">
            <a:extLst>
              <a:ext uri="{FF2B5EF4-FFF2-40B4-BE49-F238E27FC236}">
                <a16:creationId xmlns:a16="http://schemas.microsoft.com/office/drawing/2014/main" id="{F6423B97-A5D4-47B9-8861-73B3707A04CF}"/>
              </a:ext>
            </a:extLst>
          </p:cNvPr>
          <p:cNvSpPr/>
          <p:nvPr/>
        </p:nvSpPr>
        <p:spPr>
          <a:xfrm>
            <a:off x="334901" y="457200"/>
            <a:ext cx="277749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Прямоугольник 8">
            <a:extLst>
              <a:ext uri="{FF2B5EF4-FFF2-40B4-BE49-F238E27FC236}">
                <a16:creationId xmlns:a16="http://schemas.microsoft.com/office/drawing/2014/main" id="{1AEC0421-37B4-4481-A10D-69FDF5EC7909}"/>
              </a:ext>
            </a:extLst>
          </p:cNvPr>
          <p:cNvSpPr/>
          <p:nvPr/>
        </p:nvSpPr>
        <p:spPr>
          <a:xfrm>
            <a:off x="6031610" y="453643"/>
            <a:ext cx="277749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Прямоугольник 9">
            <a:extLst>
              <a:ext uri="{FF2B5EF4-FFF2-40B4-BE49-F238E27FC236}">
                <a16:creationId xmlns:a16="http://schemas.microsoft.com/office/drawing/2014/main" id="{5F7265B5-9F97-4F1E-99E9-74F7B7E62337}"/>
              </a:ext>
            </a:extLst>
          </p:cNvPr>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Дата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BBD5CFD7-CC7C-49C5-B221-A9E29F5846A0}" type="datetime1">
              <a:rPr lang="ru-RU" smtClean="0"/>
              <a:t>03.12.2024</a:t>
            </a:fld>
            <a:endParaRPr lang="en-US" dirty="0"/>
          </a:p>
        </p:txBody>
      </p:sp>
      <p:sp>
        <p:nvSpPr>
          <p:cNvPr id="12" name="Нижний колонтитул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n-US" dirty="0"/>
          </a:p>
        </p:txBody>
      </p:sp>
      <p:sp>
        <p:nvSpPr>
          <p:cNvPr id="13" name="Номер слайда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5894" y="705124"/>
            <a:ext cx="8272212" cy="1189554"/>
          </a:xfrm>
          <a:prstGeom prst="rect">
            <a:avLst/>
          </a:prstGeom>
        </p:spPr>
        <p:txBody>
          <a:bodyPr vert="horz" lIns="91440" tIns="45720" rIns="91440" bIns="45720" rtlCol="0" anchor="b">
            <a:normAutofit/>
          </a:bodyPr>
          <a:lstStyle/>
          <a:p>
            <a:pPr rtl="0"/>
            <a:r>
              <a:rPr lang="ru"/>
              <a:t>Стиль образца заголовка</a:t>
            </a:r>
            <a:endParaRPr lang="en-US" dirty="0"/>
          </a:p>
        </p:txBody>
      </p:sp>
      <p:sp>
        <p:nvSpPr>
          <p:cNvPr id="3" name="Текст 2"/>
          <p:cNvSpPr>
            <a:spLocks noGrp="1"/>
          </p:cNvSpPr>
          <p:nvPr>
            <p:ph type="body" idx="1"/>
          </p:nvPr>
        </p:nvSpPr>
        <p:spPr>
          <a:xfrm>
            <a:off x="435894" y="2336005"/>
            <a:ext cx="8272212" cy="3652047"/>
          </a:xfrm>
          <a:prstGeom prst="rect">
            <a:avLst/>
          </a:prstGeom>
        </p:spPr>
        <p:txBody>
          <a:bodyPr vert="horz" lIns="91440" tIns="45720" rIns="91440" bIns="45720" rtlCol="0" anchor="ctr">
            <a:normAutofit/>
          </a:bodyPr>
          <a:lstStyle/>
          <a:p>
            <a:pPr lvl="0" rtl="0"/>
            <a:r>
              <a:rPr lang="ru"/>
              <a:t>Щелкните, чтобы изменить стили текста образца слайда</a:t>
            </a:r>
          </a:p>
          <a:p>
            <a:pPr lvl="1" rtl="0"/>
            <a:r>
              <a:rPr lang="ru"/>
              <a:t>Второй уровень</a:t>
            </a:r>
          </a:p>
          <a:p>
            <a:pPr lvl="2" rtl="0"/>
            <a:r>
              <a:rPr lang="ru"/>
              <a:t>Третий уровень</a:t>
            </a:r>
          </a:p>
          <a:p>
            <a:pPr lvl="3" rtl="0"/>
            <a:r>
              <a:rPr lang="ru"/>
              <a:t>Четвертый уровень</a:t>
            </a:r>
          </a:p>
          <a:p>
            <a:pPr lvl="4" rtl="0"/>
            <a:r>
              <a:rPr lang="ru"/>
              <a:t>Пятый уровень</a:t>
            </a:r>
            <a:endParaRPr lang="en-US" dirty="0"/>
          </a:p>
        </p:txBody>
      </p:sp>
      <p:sp>
        <p:nvSpPr>
          <p:cNvPr id="4" name="Дата 3"/>
          <p:cNvSpPr>
            <a:spLocks noGrp="1"/>
          </p:cNvSpPr>
          <p:nvPr>
            <p:ph type="dt" sz="half" idx="2"/>
          </p:nvPr>
        </p:nvSpPr>
        <p:spPr>
          <a:xfrm>
            <a:off x="5704465" y="6423917"/>
            <a:ext cx="2133599" cy="365125"/>
          </a:xfrm>
          <a:prstGeom prst="rect">
            <a:avLst/>
          </a:prstGeom>
        </p:spPr>
        <p:txBody>
          <a:bodyPr vert="horz" lIns="91440" tIns="45720" rIns="91440" bIns="45720" rtlCol="0" anchor="ctr"/>
          <a:lstStyle>
            <a:lvl1pPr algn="r">
              <a:defRPr sz="675">
                <a:solidFill>
                  <a:schemeClr val="tx1">
                    <a:lumMod val="75000"/>
                    <a:lumOff val="25000"/>
                  </a:schemeClr>
                </a:solidFill>
              </a:defRPr>
            </a:lvl1pPr>
          </a:lstStyle>
          <a:p>
            <a:pPr rtl="0"/>
            <a:fld id="{C6B9E6FA-8E94-487D-81C3-7EE9BB2FD23D}" type="datetime1">
              <a:rPr lang="ru-RU" smtClean="0"/>
              <a:t>03.12.2024</a:t>
            </a:fld>
            <a:endParaRPr lang="en-US" dirty="0"/>
          </a:p>
        </p:txBody>
      </p:sp>
      <p:sp>
        <p:nvSpPr>
          <p:cNvPr id="5" name="Нижний колонтитул 4"/>
          <p:cNvSpPr>
            <a:spLocks noGrp="1"/>
          </p:cNvSpPr>
          <p:nvPr>
            <p:ph type="ftr" sz="quarter" idx="3"/>
          </p:nvPr>
        </p:nvSpPr>
        <p:spPr>
          <a:xfrm>
            <a:off x="435895" y="6423917"/>
            <a:ext cx="5187908" cy="365125"/>
          </a:xfrm>
          <a:prstGeom prst="rect">
            <a:avLst/>
          </a:prstGeom>
        </p:spPr>
        <p:txBody>
          <a:bodyPr vert="horz" lIns="91440" tIns="45720" rIns="91440" bIns="45720" rtlCol="0" anchor="ctr"/>
          <a:lstStyle>
            <a:lvl1pPr algn="l">
              <a:defRPr sz="675" cap="all">
                <a:solidFill>
                  <a:schemeClr val="tx1">
                    <a:lumMod val="75000"/>
                    <a:lumOff val="25000"/>
                  </a:schemeClr>
                </a:solidFill>
              </a:defRPr>
            </a:lvl1pPr>
          </a:lstStyle>
          <a:p>
            <a:pPr rtl="0"/>
            <a:endParaRPr lang="en-US" dirty="0"/>
          </a:p>
        </p:txBody>
      </p:sp>
      <p:sp>
        <p:nvSpPr>
          <p:cNvPr id="6" name="Номер слайда 5"/>
          <p:cNvSpPr>
            <a:spLocks noGrp="1"/>
          </p:cNvSpPr>
          <p:nvPr>
            <p:ph type="sldNum" sz="quarter" idx="4"/>
          </p:nvPr>
        </p:nvSpPr>
        <p:spPr>
          <a:xfrm>
            <a:off x="7918726" y="6423917"/>
            <a:ext cx="789383" cy="365125"/>
          </a:xfrm>
          <a:prstGeom prst="rect">
            <a:avLst/>
          </a:prstGeom>
        </p:spPr>
        <p:txBody>
          <a:bodyPr vert="horz" lIns="91440" tIns="45720" rIns="91440" bIns="45720" rtlCol="0" anchor="ctr"/>
          <a:lstStyle>
            <a:lvl1pPr algn="r">
              <a:defRPr sz="675">
                <a:solidFill>
                  <a:schemeClr val="tx1">
                    <a:lumMod val="75000"/>
                    <a:lumOff val="25000"/>
                  </a:schemeClr>
                </a:solidFill>
              </a:defRPr>
            </a:lvl1pPr>
          </a:lstStyle>
          <a:p>
            <a:pPr rtl="0"/>
            <a:fld id="{3A98EE3D-8CD1-4C3F-BD1C-C98C9596463C}" type="slidenum">
              <a:rPr lang="en-US" smtClean="0"/>
              <a:t>‹#›</a:t>
            </a:fld>
            <a:endParaRPr lang="en-US" dirty="0"/>
          </a:p>
        </p:txBody>
      </p:sp>
      <p:sp>
        <p:nvSpPr>
          <p:cNvPr id="9" name="Прямоугольник 8"/>
          <p:cNvSpPr/>
          <p:nvPr/>
        </p:nvSpPr>
        <p:spPr>
          <a:xfrm>
            <a:off x="334901"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Прямоугольник 9"/>
          <p:cNvSpPr/>
          <p:nvPr/>
        </p:nvSpPr>
        <p:spPr>
          <a:xfrm>
            <a:off x="6031610" y="453643"/>
            <a:ext cx="277749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Прямоугольник 10"/>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p:txStyles>
    <p:titleStyle>
      <a:lvl1pPr algn="l" defTabSz="342900" rtl="0" eaLnBrk="1" latinLnBrk="0" hangingPunct="1">
        <a:lnSpc>
          <a:spcPct val="100000"/>
        </a:lnSpc>
        <a:spcBef>
          <a:spcPct val="0"/>
        </a:spcBef>
        <a:buNone/>
        <a:defRPr sz="21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500" indent="-229500" algn="l" defTabSz="342900" rtl="0" eaLnBrk="1" latinLnBrk="0" hangingPunct="1">
        <a:lnSpc>
          <a:spcPct val="110000"/>
        </a:lnSpc>
        <a:spcBef>
          <a:spcPct val="20000"/>
        </a:spcBef>
        <a:spcAft>
          <a:spcPts val="450"/>
        </a:spcAft>
        <a:buClr>
          <a:schemeClr val="accent1"/>
        </a:buClr>
        <a:buSzPct val="92000"/>
        <a:buFont typeface="Wingdings 2" panose="05020102010507070707" pitchFamily="18" charset="2"/>
        <a:buChar char=""/>
        <a:defRPr sz="1275" kern="1200">
          <a:solidFill>
            <a:schemeClr val="tx1">
              <a:lumMod val="75000"/>
              <a:lumOff val="25000"/>
            </a:schemeClr>
          </a:solidFill>
          <a:latin typeface="+mn-lt"/>
          <a:ea typeface="+mn-ea"/>
          <a:cs typeface="+mn-cs"/>
        </a:defRPr>
      </a:lvl1pPr>
      <a:lvl2pPr marL="472500" indent="-229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1050" kern="1200">
          <a:solidFill>
            <a:schemeClr val="tx1">
              <a:lumMod val="75000"/>
              <a:lumOff val="25000"/>
            </a:schemeClr>
          </a:solidFill>
          <a:latin typeface="+mn-lt"/>
          <a:ea typeface="+mn-ea"/>
          <a:cs typeface="+mn-cs"/>
        </a:defRPr>
      </a:lvl2pPr>
      <a:lvl3pPr marL="675000" indent="-202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975" kern="1200">
          <a:solidFill>
            <a:schemeClr val="tx1">
              <a:lumMod val="75000"/>
              <a:lumOff val="25000"/>
            </a:schemeClr>
          </a:solidFill>
          <a:latin typeface="+mn-lt"/>
          <a:ea typeface="+mn-ea"/>
          <a:cs typeface="+mn-cs"/>
        </a:defRPr>
      </a:lvl3pPr>
      <a:lvl4pPr marL="931500" indent="-175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825" kern="1200">
          <a:solidFill>
            <a:schemeClr val="tx1">
              <a:lumMod val="75000"/>
              <a:lumOff val="25000"/>
            </a:schemeClr>
          </a:solidFill>
          <a:latin typeface="+mn-lt"/>
          <a:ea typeface="+mn-ea"/>
          <a:cs typeface="+mn-cs"/>
        </a:defRPr>
      </a:lvl4pPr>
      <a:lvl5pPr marL="1201500" indent="-175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825" kern="1200">
          <a:solidFill>
            <a:schemeClr val="tx1">
              <a:lumMod val="75000"/>
              <a:lumOff val="25000"/>
            </a:schemeClr>
          </a:solidFill>
          <a:latin typeface="+mn-lt"/>
          <a:ea typeface="+mn-ea"/>
          <a:cs typeface="+mn-cs"/>
        </a:defRPr>
      </a:lvl5pPr>
      <a:lvl6pPr marL="142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5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10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slide" Target="slide34.xml"/><Relationship Id="rId3" Type="http://schemas.openxmlformats.org/officeDocument/2006/relationships/slide" Target="slide6.xml"/><Relationship Id="rId7" Type="http://schemas.openxmlformats.org/officeDocument/2006/relationships/slide" Target="slide32.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20.xml"/><Relationship Id="rId5" Type="http://schemas.openxmlformats.org/officeDocument/2006/relationships/slide" Target="slide16.xml"/><Relationship Id="rId4" Type="http://schemas.openxmlformats.org/officeDocument/2006/relationships/slide" Target="slide9.xml"/><Relationship Id="rId9" Type="http://schemas.openxmlformats.org/officeDocument/2006/relationships/slide" Target="slide40.xml"/></Relationships>
</file>

<file path=ppt/slides/_rels/slide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60.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2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2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2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slide" Target="slide3.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Прямоугольник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350"/>
          </a:p>
        </p:txBody>
      </p:sp>
      <p:sp>
        <p:nvSpPr>
          <p:cNvPr id="3" name="Подзаголовок 2">
            <a:extLst>
              <a:ext uri="{FF2B5EF4-FFF2-40B4-BE49-F238E27FC236}">
                <a16:creationId xmlns:a16="http://schemas.microsoft.com/office/drawing/2014/main" id="{835D6E6B-3353-491C-A3C6-F278D6CED8B3}"/>
              </a:ext>
            </a:extLst>
          </p:cNvPr>
          <p:cNvSpPr>
            <a:spLocks noGrp="1"/>
          </p:cNvSpPr>
          <p:nvPr>
            <p:ph type="subTitle" idx="1"/>
          </p:nvPr>
        </p:nvSpPr>
        <p:spPr>
          <a:xfrm>
            <a:off x="334901" y="2401401"/>
            <a:ext cx="8245160" cy="508385"/>
          </a:xfrm>
        </p:spPr>
        <p:txBody>
          <a:bodyPr rtlCol="0">
            <a:normAutofit/>
          </a:bodyPr>
          <a:lstStyle/>
          <a:p>
            <a:pPr rtl="0"/>
            <a:r>
              <a:rPr lang="ru-RU" sz="2400" dirty="0"/>
              <a:t>Искусственный интеллект</a:t>
            </a:r>
            <a:endParaRPr lang="ru" sz="2400" dirty="0"/>
          </a:p>
        </p:txBody>
      </p:sp>
      <p:sp>
        <p:nvSpPr>
          <p:cNvPr id="20" name="Прямоугольник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1" y="1200150"/>
            <a:ext cx="2777490"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Прямоугольник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3" y="1200150"/>
            <a:ext cx="2777490"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Прямоугольник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1197482"/>
            <a:ext cx="2777490"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Рисунок 5" descr="Крупный план логотипа&#10;&#10;Автоматически созданное описание">
            <a:extLst>
              <a:ext uri="{FF2B5EF4-FFF2-40B4-BE49-F238E27FC236}">
                <a16:creationId xmlns:a16="http://schemas.microsoft.com/office/drawing/2014/main" id="{F1A8C364-94D4-4630-BAD0-78722F347055}"/>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a:stretch/>
        </p:blipFill>
        <p:spPr>
          <a:xfrm>
            <a:off x="334901" y="3054485"/>
            <a:ext cx="8445500" cy="2801566"/>
          </a:xfrm>
          <a:prstGeom prst="rect">
            <a:avLst/>
          </a:prstGeom>
        </p:spPr>
      </p:pic>
      <p:sp>
        <p:nvSpPr>
          <p:cNvPr id="2" name="Заголовок 1">
            <a:extLst>
              <a:ext uri="{FF2B5EF4-FFF2-40B4-BE49-F238E27FC236}">
                <a16:creationId xmlns:a16="http://schemas.microsoft.com/office/drawing/2014/main" id="{1C21E816-31F5-48BB-BD02-D15F2F18B48A}"/>
              </a:ext>
            </a:extLst>
          </p:cNvPr>
          <p:cNvSpPr>
            <a:spLocks noGrp="1"/>
          </p:cNvSpPr>
          <p:nvPr>
            <p:ph type="ctrTitle"/>
          </p:nvPr>
        </p:nvSpPr>
        <p:spPr>
          <a:xfrm>
            <a:off x="265919" y="1108841"/>
            <a:ext cx="8543180" cy="1203919"/>
          </a:xfrm>
          <a:solidFill>
            <a:schemeClr val="bg1"/>
          </a:solidFill>
          <a:ln>
            <a:solidFill>
              <a:schemeClr val="bg1"/>
            </a:solidFill>
          </a:ln>
        </p:spPr>
        <p:txBody>
          <a:bodyPr rtlCol="0">
            <a:normAutofit fontScale="90000"/>
          </a:bodyPr>
          <a:lstStyle/>
          <a:p>
            <a:pPr rtl="0"/>
            <a:r>
              <a:rPr lang="ru-RU" sz="4000" dirty="0"/>
              <a:t>Элементы машинного обучения</a:t>
            </a:r>
            <a:br>
              <a:rPr lang="ru-RU" sz="4000" dirty="0"/>
            </a:br>
            <a:r>
              <a:rPr lang="ru-RU" sz="2400" i="1" dirty="0" err="1">
                <a:solidFill>
                  <a:srgbClr val="1A1B22"/>
                </a:solidFill>
                <a:latin typeface="Arial" panose="020B0604020202020204" pitchFamily="34" charset="0"/>
                <a:ea typeface="Times New Roman" panose="02020603050405020304" pitchFamily="18" charset="0"/>
              </a:rPr>
              <a:t>machine</a:t>
            </a:r>
            <a:r>
              <a:rPr lang="ru-RU" sz="2400" i="1" dirty="0">
                <a:solidFill>
                  <a:srgbClr val="1A1B22"/>
                </a:solidFill>
                <a:latin typeface="Arial" panose="020B0604020202020204" pitchFamily="34" charset="0"/>
                <a:ea typeface="Times New Roman" panose="02020603050405020304" pitchFamily="18" charset="0"/>
              </a:rPr>
              <a:t> </a:t>
            </a:r>
            <a:r>
              <a:rPr lang="ru-RU" sz="2400" i="1" dirty="0" err="1">
                <a:solidFill>
                  <a:srgbClr val="1A1B22"/>
                </a:solidFill>
                <a:latin typeface="Arial" panose="020B0604020202020204" pitchFamily="34" charset="0"/>
                <a:ea typeface="Times New Roman" panose="02020603050405020304" pitchFamily="18" charset="0"/>
              </a:rPr>
              <a:t>learning</a:t>
            </a:r>
            <a:r>
              <a:rPr lang="ru-RU" sz="2400" i="1" dirty="0">
                <a:solidFill>
                  <a:srgbClr val="1A1B22"/>
                </a:solidFill>
                <a:latin typeface="Arial" panose="020B0604020202020204" pitchFamily="34" charset="0"/>
                <a:ea typeface="Times New Roman" panose="02020603050405020304" pitchFamily="18" charset="0"/>
              </a:rPr>
              <a:t> (ML)</a:t>
            </a:r>
            <a:endParaRPr lang="ru" sz="4000" dirty="0"/>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08848D-F2D9-5A1B-C2E2-5625ED225C6F}"/>
              </a:ext>
            </a:extLst>
          </p:cNvPr>
          <p:cNvSpPr>
            <a:spLocks noGrp="1"/>
          </p:cNvSpPr>
          <p:nvPr>
            <p:ph type="title"/>
          </p:nvPr>
        </p:nvSpPr>
        <p:spPr/>
        <p:txBody>
          <a:bodyPr>
            <a:normAutofit/>
          </a:bodyPr>
          <a:lstStyle/>
          <a:p>
            <a:r>
              <a:rPr lang="ru-RU" sz="6600" dirty="0"/>
              <a:t>Цель занятия</a:t>
            </a:r>
          </a:p>
        </p:txBody>
      </p:sp>
      <p:sp>
        <p:nvSpPr>
          <p:cNvPr id="3" name="Объект 2">
            <a:extLst>
              <a:ext uri="{FF2B5EF4-FFF2-40B4-BE49-F238E27FC236}">
                <a16:creationId xmlns:a16="http://schemas.microsoft.com/office/drawing/2014/main" id="{034CB451-A4E1-F5A7-73AF-187D3A5413E5}"/>
              </a:ext>
            </a:extLst>
          </p:cNvPr>
          <p:cNvSpPr>
            <a:spLocks noGrp="1"/>
          </p:cNvSpPr>
          <p:nvPr>
            <p:ph idx="1"/>
          </p:nvPr>
        </p:nvSpPr>
        <p:spPr>
          <a:xfrm>
            <a:off x="435896" y="2065867"/>
            <a:ext cx="8272211" cy="4278489"/>
          </a:xfrm>
        </p:spPr>
        <p:txBody>
          <a:bodyPr>
            <a:normAutofit fontScale="92500"/>
          </a:bodyPr>
          <a:lstStyle/>
          <a:p>
            <a:pPr>
              <a:lnSpc>
                <a:spcPct val="107000"/>
              </a:lnSpc>
              <a:spcAft>
                <a:spcPts val="800"/>
              </a:spcAft>
              <a:buSzPts val="1000"/>
              <a:tabLst>
                <a:tab pos="457200" algn="l"/>
              </a:tabLst>
            </a:pPr>
            <a:r>
              <a:rPr lang="ru-RU" sz="2800"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Узнать больше об </a:t>
            </a:r>
            <a:r>
              <a:rPr lang="ru-RU" sz="2800" b="1" i="1"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искусственном интеллекте</a:t>
            </a:r>
            <a:endParaRPr lang="ru-RU" sz="2800" b="1" i="1" dirty="0">
              <a:solidFill>
                <a:srgbClr val="1A1B22"/>
              </a:solidFill>
              <a:effectLst/>
              <a:latin typeface="Calibri" panose="020F0502020204030204" pitchFamily="34" charset="0"/>
              <a:ea typeface="DengXian" panose="02010600030101010101" pitchFamily="2" charset="-122"/>
              <a:cs typeface="Mangal" panose="02040503050203030202" pitchFamily="18" charset="0"/>
            </a:endParaRPr>
          </a:p>
          <a:p>
            <a:pPr>
              <a:lnSpc>
                <a:spcPct val="107000"/>
              </a:lnSpc>
              <a:spcAft>
                <a:spcPts val="800"/>
              </a:spcAft>
              <a:buSzPts val="1000"/>
              <a:tabLst>
                <a:tab pos="457200" algn="l"/>
              </a:tabLst>
            </a:pPr>
            <a:r>
              <a:rPr lang="ru-RU" sz="2800"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Узнать, что такое </a:t>
            </a:r>
            <a:r>
              <a:rPr lang="ru-RU" sz="2800" b="1" i="1"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машинное обучение </a:t>
            </a:r>
            <a:r>
              <a:rPr lang="ru-RU" sz="2800"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и для каких задач бизнеса его применяют</a:t>
            </a:r>
          </a:p>
          <a:p>
            <a:pPr>
              <a:lnSpc>
                <a:spcPct val="107000"/>
              </a:lnSpc>
              <a:spcAft>
                <a:spcPts val="800"/>
              </a:spcAft>
              <a:buSzPts val="1000"/>
              <a:tabLst>
                <a:tab pos="457200" algn="l"/>
              </a:tabLst>
            </a:pPr>
            <a:r>
              <a:rPr lang="ru-RU" sz="2800"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Изучить характерную последовательность шагов при разработке моделей</a:t>
            </a:r>
            <a:endParaRPr lang="ru-RU" sz="2800" dirty="0">
              <a:solidFill>
                <a:srgbClr val="1A1B22"/>
              </a:solidFill>
              <a:effectLst/>
              <a:latin typeface="Calibri" panose="020F0502020204030204" pitchFamily="34" charset="0"/>
              <a:ea typeface="DengXian" panose="02010600030101010101" pitchFamily="2" charset="-122"/>
              <a:cs typeface="Mangal" panose="02040503050203030202" pitchFamily="18" charset="0"/>
            </a:endParaRPr>
          </a:p>
          <a:p>
            <a:pPr>
              <a:lnSpc>
                <a:spcPct val="107000"/>
              </a:lnSpc>
              <a:spcAft>
                <a:spcPts val="800"/>
              </a:spcAft>
              <a:buSzPts val="1000"/>
              <a:tabLst>
                <a:tab pos="457200" algn="l"/>
              </a:tabLst>
            </a:pPr>
            <a:r>
              <a:rPr lang="ru-RU" sz="2800"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Научиться прогнозировать одним из алгоритмов ML </a:t>
            </a:r>
            <a:r>
              <a:rPr lang="ru-RU" sz="2800" dirty="0"/>
              <a:t>на примере массива данных из предыдущей работы</a:t>
            </a:r>
            <a:endParaRPr lang="ru-RU" sz="2800" dirty="0">
              <a:solidFill>
                <a:srgbClr val="1A1B22"/>
              </a:solidFill>
              <a:effectLst/>
              <a:latin typeface="Calibri" panose="020F0502020204030204" pitchFamily="34" charset="0"/>
              <a:ea typeface="DengXian" panose="02010600030101010101" pitchFamily="2" charset="-122"/>
              <a:cs typeface="Mangal" panose="02040503050203030202" pitchFamily="18" charset="0"/>
            </a:endParaRPr>
          </a:p>
        </p:txBody>
      </p:sp>
      <p:sp>
        <p:nvSpPr>
          <p:cNvPr id="4" name="Дата 3">
            <a:extLst>
              <a:ext uri="{FF2B5EF4-FFF2-40B4-BE49-F238E27FC236}">
                <a16:creationId xmlns:a16="http://schemas.microsoft.com/office/drawing/2014/main" id="{5A895680-BA1E-9334-7ECD-02D09070D1F1}"/>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spTree>
    <p:extLst>
      <p:ext uri="{BB962C8B-B14F-4D97-AF65-F5344CB8AC3E}">
        <p14:creationId xmlns:p14="http://schemas.microsoft.com/office/powerpoint/2010/main" val="125630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403A6C-CD0C-0AA5-97E9-B7F3B66DB7F7}"/>
              </a:ext>
            </a:extLst>
          </p:cNvPr>
          <p:cNvSpPr>
            <a:spLocks noGrp="1"/>
          </p:cNvSpPr>
          <p:nvPr>
            <p:ph type="title"/>
          </p:nvPr>
        </p:nvSpPr>
        <p:spPr/>
        <p:txBody>
          <a:bodyPr>
            <a:normAutofit/>
          </a:bodyPr>
          <a:lstStyle/>
          <a:p>
            <a:r>
              <a:rPr lang="ru-RU" sz="6600" dirty="0"/>
              <a:t>План занятия</a:t>
            </a:r>
          </a:p>
        </p:txBody>
      </p:sp>
      <p:sp>
        <p:nvSpPr>
          <p:cNvPr id="3" name="Объект 2">
            <a:extLst>
              <a:ext uri="{FF2B5EF4-FFF2-40B4-BE49-F238E27FC236}">
                <a16:creationId xmlns:a16="http://schemas.microsoft.com/office/drawing/2014/main" id="{B4DD85EC-8711-1B08-8678-473D7C2B48D9}"/>
              </a:ext>
            </a:extLst>
          </p:cNvPr>
          <p:cNvSpPr>
            <a:spLocks noGrp="1"/>
          </p:cNvSpPr>
          <p:nvPr>
            <p:ph idx="1"/>
          </p:nvPr>
        </p:nvSpPr>
        <p:spPr>
          <a:xfrm>
            <a:off x="435895" y="1976095"/>
            <a:ext cx="8272211" cy="4447822"/>
          </a:xfrm>
        </p:spPr>
        <p:txBody>
          <a:bodyPr>
            <a:normAutofit fontScale="70000" lnSpcReduction="20000"/>
          </a:bodyPr>
          <a:lstStyle/>
          <a:p>
            <a:pPr marL="742950" indent="-742950">
              <a:buFont typeface="+mj-lt"/>
              <a:buAutoNum type="arabicPeriod"/>
            </a:pPr>
            <a:r>
              <a:rPr lang="ru-RU" sz="4000" dirty="0">
                <a:hlinkClick r:id="rId2" action="ppaction://hlinksldjump"/>
              </a:rPr>
              <a:t>Повторение</a:t>
            </a:r>
            <a:endParaRPr lang="ru-RU" sz="4000" dirty="0"/>
          </a:p>
          <a:p>
            <a:pPr marL="742950" indent="-742950">
              <a:buFont typeface="+mj-lt"/>
              <a:buAutoNum type="arabicPeriod"/>
            </a:pPr>
            <a:r>
              <a:rPr lang="ru-RU" sz="4000" dirty="0">
                <a:hlinkClick r:id="rId3" action="ppaction://hlinksldjump"/>
              </a:rPr>
              <a:t>Искусственный интеллект</a:t>
            </a:r>
            <a:endParaRPr lang="ru-RU" sz="4000" dirty="0"/>
          </a:p>
          <a:p>
            <a:pPr marL="742950" indent="-742950">
              <a:buFont typeface="+mj-lt"/>
              <a:buAutoNum type="arabicPeriod"/>
            </a:pPr>
            <a:r>
              <a:rPr lang="ru-RU" sz="4000" dirty="0">
                <a:hlinkClick r:id="rId4" action="ppaction://hlinksldjump"/>
              </a:rPr>
              <a:t>Что такое машинное обучение?</a:t>
            </a:r>
            <a:endParaRPr lang="en-US" sz="4000" dirty="0"/>
          </a:p>
          <a:p>
            <a:pPr marL="742950" indent="-742950">
              <a:buFont typeface="+mj-lt"/>
              <a:buAutoNum type="arabicPeriod"/>
            </a:pPr>
            <a:r>
              <a:rPr lang="ru-RU" sz="4000" dirty="0">
                <a:hlinkClick r:id="rId5" action="ppaction://hlinksldjump"/>
              </a:rPr>
              <a:t> Задача машинного обучения</a:t>
            </a:r>
            <a:endParaRPr lang="ru-RU" sz="4000" dirty="0"/>
          </a:p>
          <a:p>
            <a:pPr marL="742950" indent="-742950">
              <a:buFont typeface="+mj-lt"/>
              <a:buAutoNum type="arabicPeriod"/>
            </a:pPr>
            <a:r>
              <a:rPr lang="ru-RU" sz="4000" dirty="0">
                <a:hlinkClick r:id="rId6" action="ppaction://hlinksldjump"/>
              </a:rPr>
              <a:t>Обзор методов машинного обучения</a:t>
            </a:r>
            <a:endParaRPr lang="ru-RU" sz="4000" dirty="0"/>
          </a:p>
          <a:p>
            <a:pPr marL="742950" indent="-742950">
              <a:buFont typeface="+mj-lt"/>
              <a:buAutoNum type="arabicPeriod"/>
            </a:pPr>
            <a:r>
              <a:rPr lang="ru-RU" sz="4000" dirty="0">
                <a:hlinkClick r:id="rId7" action="ppaction://hlinksldjump"/>
              </a:rPr>
              <a:t>Обучение с учителем – регрессия</a:t>
            </a:r>
            <a:endParaRPr lang="ru-RU" sz="4000" dirty="0"/>
          </a:p>
          <a:p>
            <a:pPr marL="742950" indent="-742950">
              <a:buFont typeface="+mj-lt"/>
              <a:buAutoNum type="arabicPeriod"/>
            </a:pPr>
            <a:r>
              <a:rPr lang="ru-RU" sz="4000" dirty="0">
                <a:hlinkClick r:id="rId8" action="ppaction://hlinksldjump"/>
              </a:rPr>
              <a:t>Применение рассмотренного мето</a:t>
            </a:r>
            <a:r>
              <a:rPr lang="ru-RU" sz="4000" dirty="0">
                <a:hlinkClick r:id="rId8" action="ppaction://hlinksldjump"/>
              </a:rPr>
              <a:t>да</a:t>
            </a:r>
            <a:endParaRPr lang="ru-RU" sz="4000" dirty="0"/>
          </a:p>
          <a:p>
            <a:pPr marL="742950" indent="-742950">
              <a:buFont typeface="+mj-lt"/>
              <a:buAutoNum type="arabicPeriod"/>
            </a:pPr>
            <a:r>
              <a:rPr lang="ru-RU" sz="4000" dirty="0">
                <a:hlinkClick r:id="rId9" action="ppaction://hlinksldjump"/>
              </a:rPr>
              <a:t>Тест</a:t>
            </a:r>
            <a:endParaRPr lang="ru-RU" sz="4000" dirty="0"/>
          </a:p>
        </p:txBody>
      </p:sp>
      <p:sp>
        <p:nvSpPr>
          <p:cNvPr id="4" name="Дата 3">
            <a:extLst>
              <a:ext uri="{FF2B5EF4-FFF2-40B4-BE49-F238E27FC236}">
                <a16:creationId xmlns:a16="http://schemas.microsoft.com/office/drawing/2014/main" id="{1DC6DD56-EE10-F254-CCF8-CFE6702F5AAB}"/>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spTree>
    <p:extLst>
      <p:ext uri="{BB962C8B-B14F-4D97-AF65-F5344CB8AC3E}">
        <p14:creationId xmlns:p14="http://schemas.microsoft.com/office/powerpoint/2010/main" val="656366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203924-3FF1-1AB8-73E3-1C5953099AD9}"/>
              </a:ext>
            </a:extLst>
          </p:cNvPr>
          <p:cNvSpPr>
            <a:spLocks noGrp="1"/>
          </p:cNvSpPr>
          <p:nvPr>
            <p:ph type="title"/>
          </p:nvPr>
        </p:nvSpPr>
        <p:spPr>
          <a:xfrm>
            <a:off x="435894" y="702156"/>
            <a:ext cx="8272212" cy="821844"/>
          </a:xfrm>
        </p:spPr>
        <p:txBody>
          <a:bodyPr>
            <a:normAutofit/>
          </a:bodyPr>
          <a:lstStyle/>
          <a:p>
            <a:r>
              <a:rPr lang="ru-RU" sz="3600" dirty="0"/>
              <a:t>1. Повторение изученного</a:t>
            </a:r>
            <a:endParaRPr lang="ru-RU" sz="3200" dirty="0"/>
          </a:p>
        </p:txBody>
      </p:sp>
      <p:sp>
        <p:nvSpPr>
          <p:cNvPr id="3" name="Объект 2">
            <a:extLst>
              <a:ext uri="{FF2B5EF4-FFF2-40B4-BE49-F238E27FC236}">
                <a16:creationId xmlns:a16="http://schemas.microsoft.com/office/drawing/2014/main" id="{5826BAA5-BEF4-1F03-95C1-A44EDB927DDF}"/>
              </a:ext>
            </a:extLst>
          </p:cNvPr>
          <p:cNvSpPr>
            <a:spLocks noGrp="1"/>
          </p:cNvSpPr>
          <p:nvPr>
            <p:ph idx="1"/>
          </p:nvPr>
        </p:nvSpPr>
        <p:spPr>
          <a:xfrm>
            <a:off x="435894" y="1610641"/>
            <a:ext cx="6247291" cy="4841438"/>
          </a:xfrm>
        </p:spPr>
        <p:txBody>
          <a:bodyPr>
            <a:noAutofit/>
          </a:bodyPr>
          <a:lstStyle/>
          <a:p>
            <a:r>
              <a:rPr lang="ru-RU" altLang="ru-RU" sz="2400" dirty="0"/>
              <a:t>Вероятностное научно-обоснованное суждение о перспективах, возможных состояниях того или иного явления в будущем и (или) об альтернативных путях и сроках их осуществления – это …</a:t>
            </a:r>
            <a:endParaRPr lang="ru-RU" sz="2400" dirty="0"/>
          </a:p>
          <a:p>
            <a:r>
              <a:rPr lang="ru-RU" sz="2400" dirty="0"/>
              <a:t>Ряды статистических показателей, характеризующих развитие явлений природы и общества во времени - </a:t>
            </a:r>
            <a:endParaRPr lang="ru-RU" altLang="ru-RU" sz="2400" dirty="0"/>
          </a:p>
          <a:p>
            <a:r>
              <a:rPr lang="ru-RU" altLang="ru-RU" sz="2400" dirty="0"/>
              <a:t>Показывает на сколько объясняемые переменные описывают объясняющую переменную (в % или долях)</a:t>
            </a:r>
            <a:r>
              <a:rPr lang="en-US" altLang="ru-RU" sz="2400" dirty="0"/>
              <a:t> – </a:t>
            </a:r>
            <a:endParaRPr lang="ru-RU" altLang="ru-RU" sz="2400" dirty="0"/>
          </a:p>
        </p:txBody>
      </p:sp>
      <p:sp>
        <p:nvSpPr>
          <p:cNvPr id="4" name="Дата 3">
            <a:extLst>
              <a:ext uri="{FF2B5EF4-FFF2-40B4-BE49-F238E27FC236}">
                <a16:creationId xmlns:a16="http://schemas.microsoft.com/office/drawing/2014/main" id="{471221D6-C348-42B2-D6DF-0BDAF8223AB5}"/>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sp>
        <p:nvSpPr>
          <p:cNvPr id="5" name="TextBox 4">
            <a:extLst>
              <a:ext uri="{FF2B5EF4-FFF2-40B4-BE49-F238E27FC236}">
                <a16:creationId xmlns:a16="http://schemas.microsoft.com/office/drawing/2014/main" id="{1865FDD0-976E-B8F5-6844-B5445F307364}"/>
              </a:ext>
            </a:extLst>
          </p:cNvPr>
          <p:cNvSpPr txBox="1"/>
          <p:nvPr/>
        </p:nvSpPr>
        <p:spPr>
          <a:xfrm>
            <a:off x="6771264" y="2228631"/>
            <a:ext cx="1290931" cy="461665"/>
          </a:xfrm>
          <a:prstGeom prst="rect">
            <a:avLst/>
          </a:prstGeom>
          <a:noFill/>
        </p:spPr>
        <p:txBody>
          <a:bodyPr wrap="none" rtlCol="0">
            <a:spAutoFit/>
          </a:bodyPr>
          <a:lstStyle/>
          <a:p>
            <a:r>
              <a:rPr lang="ru-RU" altLang="ru-RU" sz="2400" b="1" dirty="0"/>
              <a:t>прогноз</a:t>
            </a:r>
            <a:endParaRPr lang="ru-RU" sz="2400" b="1" dirty="0"/>
          </a:p>
        </p:txBody>
      </p:sp>
      <p:sp>
        <p:nvSpPr>
          <p:cNvPr id="6" name="TextBox 5">
            <a:extLst>
              <a:ext uri="{FF2B5EF4-FFF2-40B4-BE49-F238E27FC236}">
                <a16:creationId xmlns:a16="http://schemas.microsoft.com/office/drawing/2014/main" id="{12F5A004-5590-B31A-D0D4-2136CBFDB31A}"/>
              </a:ext>
            </a:extLst>
          </p:cNvPr>
          <p:cNvSpPr txBox="1"/>
          <p:nvPr/>
        </p:nvSpPr>
        <p:spPr>
          <a:xfrm>
            <a:off x="6771264" y="3828083"/>
            <a:ext cx="1778832" cy="830997"/>
          </a:xfrm>
          <a:prstGeom prst="rect">
            <a:avLst/>
          </a:prstGeom>
          <a:noFill/>
        </p:spPr>
        <p:txBody>
          <a:bodyPr wrap="square" rtlCol="0">
            <a:spAutoFit/>
          </a:bodyPr>
          <a:lstStyle/>
          <a:p>
            <a:r>
              <a:rPr lang="ru-RU" sz="2400" b="1" dirty="0"/>
              <a:t>ряды динамики </a:t>
            </a:r>
          </a:p>
        </p:txBody>
      </p:sp>
      <p:sp>
        <p:nvSpPr>
          <p:cNvPr id="7" name="TextBox 6">
            <a:extLst>
              <a:ext uri="{FF2B5EF4-FFF2-40B4-BE49-F238E27FC236}">
                <a16:creationId xmlns:a16="http://schemas.microsoft.com/office/drawing/2014/main" id="{FAE897DB-EB5E-C94F-61CC-6067ABE05FB4}"/>
              </a:ext>
            </a:extLst>
          </p:cNvPr>
          <p:cNvSpPr txBox="1"/>
          <p:nvPr/>
        </p:nvSpPr>
        <p:spPr>
          <a:xfrm>
            <a:off x="6731007" y="5247359"/>
            <a:ext cx="2214113" cy="830997"/>
          </a:xfrm>
          <a:prstGeom prst="rect">
            <a:avLst/>
          </a:prstGeom>
          <a:noFill/>
        </p:spPr>
        <p:txBody>
          <a:bodyPr wrap="square" rtlCol="0">
            <a:spAutoFit/>
          </a:bodyPr>
          <a:lstStyle/>
          <a:p>
            <a:r>
              <a:rPr lang="ru-RU" altLang="ru-RU" sz="2400" b="1" dirty="0"/>
              <a:t>коэффициент детерминации</a:t>
            </a:r>
            <a:endParaRPr lang="ru-RU" sz="2400" b="1" dirty="0"/>
          </a:p>
        </p:txBody>
      </p:sp>
      <p:sp>
        <p:nvSpPr>
          <p:cNvPr id="8" name="Стрелка: изогнутая вниз 7">
            <a:hlinkClick r:id="rId2" action="ppaction://hlinksldjump"/>
            <a:extLst>
              <a:ext uri="{FF2B5EF4-FFF2-40B4-BE49-F238E27FC236}">
                <a16:creationId xmlns:a16="http://schemas.microsoft.com/office/drawing/2014/main" id="{3C9AB7D2-0950-EF51-65BA-4C3A81CB0B15}"/>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381385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3A12A-09BF-C5E1-DB84-32505BF179D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C75DF8-6E63-0E7C-4BE4-D0E84091B23D}"/>
              </a:ext>
            </a:extLst>
          </p:cNvPr>
          <p:cNvSpPr>
            <a:spLocks noGrp="1"/>
          </p:cNvSpPr>
          <p:nvPr>
            <p:ph type="title"/>
          </p:nvPr>
        </p:nvSpPr>
        <p:spPr>
          <a:xfrm>
            <a:off x="435894" y="702156"/>
            <a:ext cx="8272212" cy="821844"/>
          </a:xfrm>
        </p:spPr>
        <p:txBody>
          <a:bodyPr>
            <a:normAutofit/>
          </a:bodyPr>
          <a:lstStyle/>
          <a:p>
            <a:r>
              <a:rPr lang="ru-RU" sz="3600" dirty="0"/>
              <a:t>1. Повторение изученного</a:t>
            </a:r>
            <a:endParaRPr lang="ru-RU" sz="3200" dirty="0"/>
          </a:p>
        </p:txBody>
      </p:sp>
      <p:sp>
        <p:nvSpPr>
          <p:cNvPr id="3" name="Объект 2">
            <a:extLst>
              <a:ext uri="{FF2B5EF4-FFF2-40B4-BE49-F238E27FC236}">
                <a16:creationId xmlns:a16="http://schemas.microsoft.com/office/drawing/2014/main" id="{788BB1E2-8B81-4636-1DFF-9340CC97B1A9}"/>
              </a:ext>
            </a:extLst>
          </p:cNvPr>
          <p:cNvSpPr>
            <a:spLocks noGrp="1"/>
          </p:cNvSpPr>
          <p:nvPr>
            <p:ph idx="1"/>
          </p:nvPr>
        </p:nvSpPr>
        <p:spPr>
          <a:xfrm>
            <a:off x="435896" y="1761067"/>
            <a:ext cx="6072480" cy="4827991"/>
          </a:xfrm>
        </p:spPr>
        <p:txBody>
          <a:bodyPr>
            <a:noAutofit/>
          </a:bodyPr>
          <a:lstStyle/>
          <a:p>
            <a:r>
              <a:rPr lang="ru-RU" sz="2400" dirty="0"/>
              <a:t>Научный метод, состоящий в замене одних объектов другими, в каком-то смысле близкими к исходным, но более простыми – …</a:t>
            </a:r>
          </a:p>
          <a:p>
            <a:endParaRPr lang="ru-RU" sz="2400" dirty="0"/>
          </a:p>
          <a:p>
            <a:r>
              <a:rPr lang="ru-RU" sz="2400" dirty="0"/>
              <a:t>Нахождение неизвестных промежуточных значений некоторой функции, по имеющемуся дискретному набору ее известных значений, определенным способом – …</a:t>
            </a:r>
            <a:endParaRPr lang="en-US" altLang="ru-RU" sz="2400" dirty="0"/>
          </a:p>
        </p:txBody>
      </p:sp>
      <p:sp>
        <p:nvSpPr>
          <p:cNvPr id="4" name="Дата 3">
            <a:extLst>
              <a:ext uri="{FF2B5EF4-FFF2-40B4-BE49-F238E27FC236}">
                <a16:creationId xmlns:a16="http://schemas.microsoft.com/office/drawing/2014/main" id="{A39AE601-3859-7C9F-0148-5141DFB47BB5}"/>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sp>
        <p:nvSpPr>
          <p:cNvPr id="5" name="TextBox 4">
            <a:extLst>
              <a:ext uri="{FF2B5EF4-FFF2-40B4-BE49-F238E27FC236}">
                <a16:creationId xmlns:a16="http://schemas.microsoft.com/office/drawing/2014/main" id="{E39ABC1B-0B5D-C440-C2DC-035C62A353DB}"/>
              </a:ext>
            </a:extLst>
          </p:cNvPr>
          <p:cNvSpPr txBox="1"/>
          <p:nvPr/>
        </p:nvSpPr>
        <p:spPr>
          <a:xfrm>
            <a:off x="6508376" y="2366717"/>
            <a:ext cx="2334293" cy="461665"/>
          </a:xfrm>
          <a:prstGeom prst="rect">
            <a:avLst/>
          </a:prstGeom>
          <a:noFill/>
        </p:spPr>
        <p:txBody>
          <a:bodyPr wrap="none" rtlCol="0">
            <a:spAutoFit/>
          </a:bodyPr>
          <a:lstStyle/>
          <a:p>
            <a:r>
              <a:rPr lang="ru-RU" sz="2400" b="1" dirty="0"/>
              <a:t>аппроксимация</a:t>
            </a:r>
          </a:p>
        </p:txBody>
      </p:sp>
      <p:sp>
        <p:nvSpPr>
          <p:cNvPr id="6" name="TextBox 5">
            <a:extLst>
              <a:ext uri="{FF2B5EF4-FFF2-40B4-BE49-F238E27FC236}">
                <a16:creationId xmlns:a16="http://schemas.microsoft.com/office/drawing/2014/main" id="{6BDC081A-BFFC-85CB-8F9E-9769A1D51092}"/>
              </a:ext>
            </a:extLst>
          </p:cNvPr>
          <p:cNvSpPr txBox="1"/>
          <p:nvPr/>
        </p:nvSpPr>
        <p:spPr>
          <a:xfrm>
            <a:off x="6767546" y="4888702"/>
            <a:ext cx="2141035" cy="461665"/>
          </a:xfrm>
          <a:prstGeom prst="rect">
            <a:avLst/>
          </a:prstGeom>
          <a:noFill/>
        </p:spPr>
        <p:txBody>
          <a:bodyPr wrap="none" rtlCol="0">
            <a:spAutoFit/>
          </a:bodyPr>
          <a:lstStyle/>
          <a:p>
            <a:r>
              <a:rPr lang="ru-RU" sz="2400" b="1" dirty="0"/>
              <a:t>интерполяция</a:t>
            </a:r>
          </a:p>
        </p:txBody>
      </p:sp>
      <p:sp>
        <p:nvSpPr>
          <p:cNvPr id="7" name="Стрелка: изогнутая вниз 6">
            <a:hlinkClick r:id="rId2" action="ppaction://hlinksldjump"/>
            <a:extLst>
              <a:ext uri="{FF2B5EF4-FFF2-40B4-BE49-F238E27FC236}">
                <a16:creationId xmlns:a16="http://schemas.microsoft.com/office/drawing/2014/main" id="{B66B4DE6-45E9-F4C2-35D9-678D2E6A9300}"/>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622977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B18DB28F-83C7-8F79-8811-B6B666DD7222}"/>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5" name="Рисунок 4">
            <a:extLst>
              <a:ext uri="{FF2B5EF4-FFF2-40B4-BE49-F238E27FC236}">
                <a16:creationId xmlns:a16="http://schemas.microsoft.com/office/drawing/2014/main" id="{DDE01152-6B62-217F-3036-0EAC3519096F}"/>
              </a:ext>
            </a:extLst>
          </p:cNvPr>
          <p:cNvPicPr>
            <a:picLocks noChangeAspect="1"/>
          </p:cNvPicPr>
          <p:nvPr/>
        </p:nvPicPr>
        <p:blipFill>
          <a:blip r:embed="rId2">
            <a:extLst>
              <a:ext uri="{28A0092B-C50C-407E-A947-70E740481C1C}">
                <a14:useLocalDpi xmlns:a14="http://schemas.microsoft.com/office/drawing/2010/main" val="0"/>
              </a:ext>
            </a:extLst>
          </a:blip>
          <a:srcRect l="7192" r="7601"/>
          <a:stretch/>
        </p:blipFill>
        <p:spPr>
          <a:xfrm>
            <a:off x="472779" y="722489"/>
            <a:ext cx="8198442" cy="5701428"/>
          </a:xfrm>
          <a:prstGeom prst="rect">
            <a:avLst/>
          </a:prstGeom>
        </p:spPr>
      </p:pic>
      <p:sp>
        <p:nvSpPr>
          <p:cNvPr id="2" name="Стрелка: изогнутая вниз 1">
            <a:hlinkClick r:id="rId3" action="ppaction://hlinksldjump"/>
            <a:extLst>
              <a:ext uri="{FF2B5EF4-FFF2-40B4-BE49-F238E27FC236}">
                <a16:creationId xmlns:a16="http://schemas.microsoft.com/office/drawing/2014/main" id="{19115364-A613-CB78-9AAD-04EF9E4F48A1}"/>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3703439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CF53875F-8E2D-9868-7441-5F68725BF73A}"/>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1026" name="Picture 2">
            <a:extLst>
              <a:ext uri="{FF2B5EF4-FFF2-40B4-BE49-F238E27FC236}">
                <a16:creationId xmlns:a16="http://schemas.microsoft.com/office/drawing/2014/main" id="{6AC1BC9F-D679-AA04-CF5C-BCA9501B35D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534" r="6578"/>
          <a:stretch/>
        </p:blipFill>
        <p:spPr bwMode="auto">
          <a:xfrm>
            <a:off x="406401" y="620889"/>
            <a:ext cx="8308622" cy="5803029"/>
          </a:xfrm>
          <a:prstGeom prst="rect">
            <a:avLst/>
          </a:prstGeom>
          <a:noFill/>
          <a:extLst>
            <a:ext uri="{909E8E84-426E-40DD-AFC4-6F175D3DCCD1}">
              <a14:hiddenFill xmlns:a14="http://schemas.microsoft.com/office/drawing/2010/main">
                <a:solidFill>
                  <a:srgbClr val="FFFFFF"/>
                </a:solidFill>
              </a14:hiddenFill>
            </a:ext>
          </a:extLst>
        </p:spPr>
      </p:pic>
      <p:sp>
        <p:nvSpPr>
          <p:cNvPr id="2" name="Стрелка: изогнутая вниз 1">
            <a:hlinkClick r:id="rId3" action="ppaction://hlinksldjump"/>
            <a:extLst>
              <a:ext uri="{FF2B5EF4-FFF2-40B4-BE49-F238E27FC236}">
                <a16:creationId xmlns:a16="http://schemas.microsoft.com/office/drawing/2014/main" id="{C1461D1A-DA89-6169-B203-024C4E3551E3}"/>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931620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7B9A78AC-9AEF-16DB-2AC9-9D93959AF831}"/>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5" name="Рисунок 4">
            <a:extLst>
              <a:ext uri="{FF2B5EF4-FFF2-40B4-BE49-F238E27FC236}">
                <a16:creationId xmlns:a16="http://schemas.microsoft.com/office/drawing/2014/main" id="{4EE49F02-A197-7E7E-1596-9D86DB545C58}"/>
              </a:ext>
            </a:extLst>
          </p:cNvPr>
          <p:cNvPicPr>
            <a:picLocks noChangeAspect="1"/>
          </p:cNvPicPr>
          <p:nvPr/>
        </p:nvPicPr>
        <p:blipFill>
          <a:blip r:embed="rId3">
            <a:extLst>
              <a:ext uri="{28A0092B-C50C-407E-A947-70E740481C1C}">
                <a14:useLocalDpi xmlns:a14="http://schemas.microsoft.com/office/drawing/2010/main" val="0"/>
              </a:ext>
            </a:extLst>
          </a:blip>
          <a:srcRect t="6255" b="6330"/>
          <a:stretch/>
        </p:blipFill>
        <p:spPr>
          <a:xfrm>
            <a:off x="801511" y="611540"/>
            <a:ext cx="7778044" cy="5994939"/>
          </a:xfrm>
          <a:prstGeom prst="rect">
            <a:avLst/>
          </a:prstGeom>
        </p:spPr>
      </p:pic>
      <p:sp>
        <p:nvSpPr>
          <p:cNvPr id="2" name="Стрелка: изогнутая вниз 1">
            <a:hlinkClick r:id="rId4" action="ppaction://hlinksldjump"/>
            <a:extLst>
              <a:ext uri="{FF2B5EF4-FFF2-40B4-BE49-F238E27FC236}">
                <a16:creationId xmlns:a16="http://schemas.microsoft.com/office/drawing/2014/main" id="{773AE1D0-1F08-D1A1-46BB-87C8A2356926}"/>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224469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CCD6D9-FFAF-C350-6EAE-3FF4EAC3EFA4}"/>
              </a:ext>
            </a:extLst>
          </p:cNvPr>
          <p:cNvSpPr>
            <a:spLocks noGrp="1"/>
          </p:cNvSpPr>
          <p:nvPr>
            <p:ph type="title"/>
          </p:nvPr>
        </p:nvSpPr>
        <p:spPr>
          <a:xfrm>
            <a:off x="435894" y="782094"/>
            <a:ext cx="8272212" cy="534740"/>
          </a:xfrm>
        </p:spPr>
        <p:txBody>
          <a:bodyPr>
            <a:normAutofit fontScale="90000"/>
          </a:bodyPr>
          <a:lstStyle/>
          <a:p>
            <a:r>
              <a:rPr lang="ru-RU" sz="3300" dirty="0"/>
              <a:t>Что такое обучение?</a:t>
            </a:r>
          </a:p>
        </p:txBody>
      </p:sp>
      <p:sp>
        <p:nvSpPr>
          <p:cNvPr id="3" name="Объект 2">
            <a:extLst>
              <a:ext uri="{FF2B5EF4-FFF2-40B4-BE49-F238E27FC236}">
                <a16:creationId xmlns:a16="http://schemas.microsoft.com/office/drawing/2014/main" id="{F4D0E527-4CD2-D6D0-6F19-60E009578ACA}"/>
              </a:ext>
            </a:extLst>
          </p:cNvPr>
          <p:cNvSpPr>
            <a:spLocks noGrp="1"/>
          </p:cNvSpPr>
          <p:nvPr>
            <p:ph idx="1"/>
          </p:nvPr>
        </p:nvSpPr>
        <p:spPr>
          <a:xfrm>
            <a:off x="435895" y="1423539"/>
            <a:ext cx="8272211" cy="4821618"/>
          </a:xfrm>
        </p:spPr>
        <p:txBody>
          <a:bodyPr>
            <a:normAutofit/>
          </a:bodyPr>
          <a:lstStyle/>
          <a:p>
            <a:pPr marL="0" indent="0">
              <a:buNone/>
            </a:pPr>
            <a:r>
              <a:rPr lang="ru-RU" sz="2800" dirty="0"/>
              <a:t>Обучение состоит в поиске связей</a:t>
            </a:r>
            <a:endParaRPr lang="en-US" sz="2800" dirty="0"/>
          </a:p>
          <a:p>
            <a:pPr marL="0" indent="0">
              <a:buNone/>
            </a:pPr>
            <a:r>
              <a:rPr lang="ru-RU" sz="2800" dirty="0"/>
              <a:t>Когда связи ищет не человек, а алгоритм, такое обучение называется </a:t>
            </a:r>
            <a:r>
              <a:rPr lang="ru-RU" sz="2800" b="1" u="sng" dirty="0"/>
              <a:t>машинным </a:t>
            </a:r>
            <a:r>
              <a:rPr lang="ru-RU" sz="2800" dirty="0"/>
              <a:t>(сокр. ML, </a:t>
            </a:r>
            <a:r>
              <a:rPr lang="en-US" sz="2800" dirty="0"/>
              <a:t>M</a:t>
            </a:r>
            <a:r>
              <a:rPr lang="ru-RU" sz="2800" dirty="0" err="1"/>
              <a:t>achine</a:t>
            </a:r>
            <a:r>
              <a:rPr lang="ru-RU" sz="2800" dirty="0"/>
              <a:t> </a:t>
            </a:r>
            <a:r>
              <a:rPr lang="en-US" sz="2800" dirty="0"/>
              <a:t>L</a:t>
            </a:r>
            <a:r>
              <a:rPr lang="ru-RU" sz="2800" dirty="0" err="1"/>
              <a:t>earning</a:t>
            </a:r>
            <a:r>
              <a:rPr lang="ru-RU" sz="2800" dirty="0"/>
              <a:t>)</a:t>
            </a:r>
          </a:p>
          <a:p>
            <a:pPr marL="0" indent="0">
              <a:buNone/>
            </a:pPr>
            <a:r>
              <a:rPr lang="ru-RU" sz="2800" b="1" u="sng" dirty="0"/>
              <a:t>Целевая переменная </a:t>
            </a:r>
            <a:r>
              <a:rPr lang="ru-RU" sz="2800" dirty="0"/>
              <a:t>— та, которую предсказывают (прогнозируют) по определённым признакам на основании </a:t>
            </a:r>
            <a:r>
              <a:rPr lang="ru-RU" sz="2800" b="1" dirty="0"/>
              <a:t>наблюдений</a:t>
            </a:r>
            <a:r>
              <a:rPr lang="ru-RU" sz="2800" dirty="0"/>
              <a:t> — уже известных примеров, для которых есть значения признаков и целевой переменной</a:t>
            </a:r>
            <a:endParaRPr lang="en-US" sz="2800" dirty="0"/>
          </a:p>
        </p:txBody>
      </p:sp>
      <p:sp>
        <p:nvSpPr>
          <p:cNvPr id="4" name="Дата 3">
            <a:extLst>
              <a:ext uri="{FF2B5EF4-FFF2-40B4-BE49-F238E27FC236}">
                <a16:creationId xmlns:a16="http://schemas.microsoft.com/office/drawing/2014/main" id="{59A480E3-89A7-9457-8092-349250AD5FD3}"/>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sp>
        <p:nvSpPr>
          <p:cNvPr id="5" name="Стрелка: изогнутая вниз 4">
            <a:hlinkClick r:id="rId3" action="ppaction://hlinksldjump"/>
            <a:extLst>
              <a:ext uri="{FF2B5EF4-FFF2-40B4-BE49-F238E27FC236}">
                <a16:creationId xmlns:a16="http://schemas.microsoft.com/office/drawing/2014/main" id="{794BA0B0-EBFD-742A-397B-09BE17628375}"/>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723518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98A7780A-62DC-1C9E-74D9-B89FB221A2C5}"/>
              </a:ext>
            </a:extLst>
          </p:cNvPr>
          <p:cNvPicPr>
            <a:picLocks noChangeAspect="1"/>
          </p:cNvPicPr>
          <p:nvPr/>
        </p:nvPicPr>
        <p:blipFill>
          <a:blip r:embed="rId3"/>
          <a:stretch>
            <a:fillRect/>
          </a:stretch>
        </p:blipFill>
        <p:spPr>
          <a:xfrm>
            <a:off x="7672539" y="648368"/>
            <a:ext cx="1135285" cy="2175397"/>
          </a:xfrm>
          <a:prstGeom prst="rect">
            <a:avLst/>
          </a:prstGeom>
        </p:spPr>
      </p:pic>
      <p:sp>
        <p:nvSpPr>
          <p:cNvPr id="3" name="Объект 2">
            <a:extLst>
              <a:ext uri="{FF2B5EF4-FFF2-40B4-BE49-F238E27FC236}">
                <a16:creationId xmlns:a16="http://schemas.microsoft.com/office/drawing/2014/main" id="{A30C0679-8309-0FC8-B722-DC8A419A73CD}"/>
              </a:ext>
            </a:extLst>
          </p:cNvPr>
          <p:cNvSpPr>
            <a:spLocks noGrp="1"/>
          </p:cNvSpPr>
          <p:nvPr>
            <p:ph idx="1"/>
          </p:nvPr>
        </p:nvSpPr>
        <p:spPr>
          <a:xfrm>
            <a:off x="435895" y="1008529"/>
            <a:ext cx="7282717" cy="5226971"/>
          </a:xfrm>
        </p:spPr>
        <p:txBody>
          <a:bodyPr>
            <a:normAutofit/>
          </a:bodyPr>
          <a:lstStyle/>
          <a:p>
            <a:pPr marL="0" indent="0">
              <a:lnSpc>
                <a:spcPct val="107000"/>
              </a:lnSpc>
              <a:spcAft>
                <a:spcPts val="800"/>
              </a:spcAft>
              <a:buNone/>
            </a:pPr>
            <a:r>
              <a:rPr lang="ru-RU" sz="2400" b="1" i="1"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Вы прогнозируете посещаемость в ресторанах быстрого питания. Что здесь целевая переменная?</a:t>
            </a:r>
            <a:endParaRPr lang="ru-RU" sz="2400" dirty="0">
              <a:effectLst/>
              <a:latin typeface="Calibri" panose="020F0502020204030204" pitchFamily="34" charset="0"/>
              <a:ea typeface="DengXian" panose="02010600030101010101" pitchFamily="2" charset="-122"/>
              <a:cs typeface="Mangal" panose="02040503050203030202" pitchFamily="18" charset="0"/>
            </a:endParaRPr>
          </a:p>
          <a:p>
            <a:pPr marL="342900" lvl="0" indent="-342900">
              <a:lnSpc>
                <a:spcPct val="107000"/>
              </a:lnSpc>
              <a:buFont typeface="Symbol" panose="05050102010706020507" pitchFamily="18" charset="2"/>
              <a:buChar char=""/>
            </a:pPr>
            <a:r>
              <a:rPr lang="ru-RU" sz="2800" dirty="0">
                <a:solidFill>
                  <a:schemeClr val="tx1"/>
                </a:solidFill>
                <a:effectLst/>
                <a:latin typeface="Arial" panose="020B0604020202020204" pitchFamily="34" charset="0"/>
                <a:ea typeface="Times New Roman" panose="02020603050405020304" pitchFamily="18" charset="0"/>
                <a:cs typeface="Mangal" panose="02040503050203030202" pitchFamily="18" charset="0"/>
              </a:rPr>
              <a:t>День недели</a:t>
            </a:r>
            <a:endParaRPr lang="ru-RU" sz="2800" dirty="0">
              <a:solidFill>
                <a:schemeClr val="tx1"/>
              </a:solidFill>
              <a:effectLst/>
              <a:latin typeface="Calibri" panose="020F0502020204030204" pitchFamily="34" charset="0"/>
              <a:ea typeface="DengXian" panose="02010600030101010101" pitchFamily="2" charset="-122"/>
              <a:cs typeface="Mangal" panose="02040503050203030202" pitchFamily="18" charset="0"/>
            </a:endParaRPr>
          </a:p>
          <a:p>
            <a:pPr marL="342900" lvl="0" indent="-342900">
              <a:lnSpc>
                <a:spcPct val="107000"/>
              </a:lnSpc>
              <a:buFont typeface="Symbol" panose="05050102010706020507" pitchFamily="18" charset="2"/>
              <a:buChar char=""/>
            </a:pPr>
            <a:r>
              <a:rPr lang="ru-RU" sz="2800" dirty="0">
                <a:solidFill>
                  <a:schemeClr val="tx1"/>
                </a:solidFill>
                <a:effectLst/>
                <a:latin typeface="Arial" panose="020B0604020202020204" pitchFamily="34" charset="0"/>
                <a:ea typeface="Times New Roman" panose="02020603050405020304" pitchFamily="18" charset="0"/>
                <a:cs typeface="Mangal" panose="02040503050203030202" pitchFamily="18" charset="0"/>
              </a:rPr>
              <a:t>Среднее количество посетителей в час за прошлый месяц</a:t>
            </a:r>
            <a:endParaRPr lang="ru-RU" sz="2800" dirty="0">
              <a:solidFill>
                <a:schemeClr val="tx1"/>
              </a:solidFill>
              <a:effectLst/>
              <a:latin typeface="Calibri" panose="020F0502020204030204" pitchFamily="34" charset="0"/>
              <a:ea typeface="DengXian" panose="02010600030101010101" pitchFamily="2" charset="-122"/>
              <a:cs typeface="Mangal" panose="02040503050203030202" pitchFamily="18" charset="0"/>
            </a:endParaRPr>
          </a:p>
          <a:p>
            <a:pPr marL="342900" lvl="0" indent="-342900">
              <a:lnSpc>
                <a:spcPct val="107000"/>
              </a:lnSpc>
              <a:buFont typeface="Symbol" panose="05050102010706020507" pitchFamily="18" charset="2"/>
              <a:buChar char=""/>
            </a:pPr>
            <a:r>
              <a:rPr lang="ru-RU" sz="2800" dirty="0">
                <a:solidFill>
                  <a:schemeClr val="tx1"/>
                </a:solidFill>
                <a:effectLst/>
                <a:latin typeface="Arial" panose="020B0604020202020204" pitchFamily="34" charset="0"/>
                <a:ea typeface="Times New Roman" panose="02020603050405020304" pitchFamily="18" charset="0"/>
                <a:cs typeface="Mangal" panose="02040503050203030202" pitchFamily="18" charset="0"/>
              </a:rPr>
              <a:t>Количество посетителей в конкретном ресторане в каждый час на неделю вперёд</a:t>
            </a:r>
            <a:endParaRPr lang="ru-RU" sz="2800" dirty="0">
              <a:solidFill>
                <a:schemeClr val="tx1"/>
              </a:solidFill>
              <a:effectLst/>
              <a:latin typeface="Calibri" panose="020F0502020204030204" pitchFamily="34" charset="0"/>
              <a:ea typeface="DengXian" panose="02010600030101010101" pitchFamily="2" charset="-122"/>
              <a:cs typeface="Mangal" panose="02040503050203030202" pitchFamily="18" charset="0"/>
            </a:endParaRPr>
          </a:p>
          <a:p>
            <a:pPr marL="342900" lvl="0" indent="-342900">
              <a:lnSpc>
                <a:spcPct val="107000"/>
              </a:lnSpc>
              <a:spcAft>
                <a:spcPts val="800"/>
              </a:spcAft>
              <a:buFont typeface="Symbol" panose="05050102010706020507" pitchFamily="18" charset="2"/>
              <a:buChar char=""/>
            </a:pPr>
            <a:r>
              <a:rPr lang="ru-RU" sz="2800" dirty="0">
                <a:solidFill>
                  <a:schemeClr val="tx1"/>
                </a:solidFill>
                <a:effectLst/>
                <a:latin typeface="Arial" panose="020B0604020202020204" pitchFamily="34" charset="0"/>
                <a:ea typeface="Times New Roman" panose="02020603050405020304" pitchFamily="18" charset="0"/>
                <a:cs typeface="Mangal" panose="02040503050203030202" pitchFamily="18" charset="0"/>
              </a:rPr>
              <a:t>Номер часа в сутках</a:t>
            </a:r>
            <a:endParaRPr lang="ru-RU" sz="2800" dirty="0">
              <a:solidFill>
                <a:schemeClr val="tx1"/>
              </a:solidFill>
              <a:effectLst/>
              <a:latin typeface="Calibri" panose="020F0502020204030204" pitchFamily="34" charset="0"/>
              <a:ea typeface="DengXian" panose="02010600030101010101" pitchFamily="2" charset="-122"/>
              <a:cs typeface="Mangal" panose="02040503050203030202" pitchFamily="18" charset="0"/>
            </a:endParaRPr>
          </a:p>
        </p:txBody>
      </p:sp>
      <p:sp>
        <p:nvSpPr>
          <p:cNvPr id="4" name="Дата 3">
            <a:extLst>
              <a:ext uri="{FF2B5EF4-FFF2-40B4-BE49-F238E27FC236}">
                <a16:creationId xmlns:a16="http://schemas.microsoft.com/office/drawing/2014/main" id="{D19CB5AC-A546-6F6B-1EB9-666956A3BC26}"/>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sp>
        <p:nvSpPr>
          <p:cNvPr id="5" name="Стрелка: изогнутая вниз 4">
            <a:hlinkClick r:id="rId4" action="ppaction://hlinksldjump"/>
            <a:extLst>
              <a:ext uri="{FF2B5EF4-FFF2-40B4-BE49-F238E27FC236}">
                <a16:creationId xmlns:a16="http://schemas.microsoft.com/office/drawing/2014/main" id="{832C9093-2A1A-41B1-C634-481F053D2064}"/>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335620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3">
                                            <p:txEl>
                                              <p:pRg st="3" end="3"/>
                                            </p:txEl>
                                          </p:spTgt>
                                        </p:tgtEl>
                                        <p:attrNameLst>
                                          <p:attrName>r</p:attrName>
                                        </p:attrNameLst>
                                      </p:cBhvr>
                                    </p:animRot>
                                    <p:animRot by="-240000">
                                      <p:cBhvr>
                                        <p:cTn id="7" dur="200" fill="hold">
                                          <p:stCondLst>
                                            <p:cond delay="200"/>
                                          </p:stCondLst>
                                        </p:cTn>
                                        <p:tgtEl>
                                          <p:spTgt spid="3">
                                            <p:txEl>
                                              <p:pRg st="3" end="3"/>
                                            </p:txEl>
                                          </p:spTgt>
                                        </p:tgtEl>
                                        <p:attrNameLst>
                                          <p:attrName>r</p:attrName>
                                        </p:attrNameLst>
                                      </p:cBhvr>
                                    </p:animRot>
                                    <p:animRot by="240000">
                                      <p:cBhvr>
                                        <p:cTn id="8" dur="200" fill="hold">
                                          <p:stCondLst>
                                            <p:cond delay="400"/>
                                          </p:stCondLst>
                                        </p:cTn>
                                        <p:tgtEl>
                                          <p:spTgt spid="3">
                                            <p:txEl>
                                              <p:pRg st="3" end="3"/>
                                            </p:txEl>
                                          </p:spTgt>
                                        </p:tgtEl>
                                        <p:attrNameLst>
                                          <p:attrName>r</p:attrName>
                                        </p:attrNameLst>
                                      </p:cBhvr>
                                    </p:animRot>
                                    <p:animRot by="-240000">
                                      <p:cBhvr>
                                        <p:cTn id="9" dur="200" fill="hold">
                                          <p:stCondLst>
                                            <p:cond delay="600"/>
                                          </p:stCondLst>
                                        </p:cTn>
                                        <p:tgtEl>
                                          <p:spTgt spid="3">
                                            <p:txEl>
                                              <p:pRg st="3" end="3"/>
                                            </p:txEl>
                                          </p:spTgt>
                                        </p:tgtEl>
                                        <p:attrNameLst>
                                          <p:attrName>r</p:attrName>
                                        </p:attrNameLst>
                                      </p:cBhvr>
                                    </p:animRot>
                                    <p:animRot by="120000">
                                      <p:cBhvr>
                                        <p:cTn id="10" dur="200" fill="hold">
                                          <p:stCondLst>
                                            <p:cond delay="800"/>
                                          </p:stCondLst>
                                        </p:cTn>
                                        <p:tgtEl>
                                          <p:spTgt spid="3">
                                            <p:txEl>
                                              <p:pRg st="3" end="3"/>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A85B7-6DC5-3028-14F8-767C7460D28F}"/>
            </a:ext>
          </a:extLst>
        </p:cNvPr>
        <p:cNvGrpSpPr/>
        <p:nvPr/>
      </p:nvGrpSpPr>
      <p:grpSpPr>
        <a:xfrm>
          <a:off x="0" y="0"/>
          <a:ext cx="0" cy="0"/>
          <a:chOff x="0" y="0"/>
          <a:chExt cx="0" cy="0"/>
        </a:xfrm>
      </p:grpSpPr>
      <p:pic>
        <p:nvPicPr>
          <p:cNvPr id="9" name="Рисунок 8">
            <a:extLst>
              <a:ext uri="{FF2B5EF4-FFF2-40B4-BE49-F238E27FC236}">
                <a16:creationId xmlns:a16="http://schemas.microsoft.com/office/drawing/2014/main" id="{425907FA-755A-B565-FFCF-BCC70AA8D3C3}"/>
              </a:ext>
            </a:extLst>
          </p:cNvPr>
          <p:cNvPicPr>
            <a:picLocks noChangeAspect="1"/>
          </p:cNvPicPr>
          <p:nvPr/>
        </p:nvPicPr>
        <p:blipFill>
          <a:blip r:embed="rId3"/>
          <a:stretch>
            <a:fillRect/>
          </a:stretch>
        </p:blipFill>
        <p:spPr>
          <a:xfrm>
            <a:off x="7672539" y="648368"/>
            <a:ext cx="1135285" cy="2175397"/>
          </a:xfrm>
          <a:prstGeom prst="rect">
            <a:avLst/>
          </a:prstGeom>
        </p:spPr>
      </p:pic>
      <p:sp>
        <p:nvSpPr>
          <p:cNvPr id="3" name="Объект 2">
            <a:extLst>
              <a:ext uri="{FF2B5EF4-FFF2-40B4-BE49-F238E27FC236}">
                <a16:creationId xmlns:a16="http://schemas.microsoft.com/office/drawing/2014/main" id="{0C2FEE05-2435-31C9-B9B0-CCC2B72BE87E}"/>
              </a:ext>
            </a:extLst>
          </p:cNvPr>
          <p:cNvSpPr>
            <a:spLocks noGrp="1"/>
          </p:cNvSpPr>
          <p:nvPr>
            <p:ph idx="1"/>
          </p:nvPr>
        </p:nvSpPr>
        <p:spPr>
          <a:xfrm>
            <a:off x="435896" y="648367"/>
            <a:ext cx="6892751" cy="5775549"/>
          </a:xfrm>
        </p:spPr>
        <p:txBody>
          <a:bodyPr>
            <a:normAutofit/>
          </a:bodyPr>
          <a:lstStyle/>
          <a:p>
            <a:pPr marL="0" indent="0">
              <a:lnSpc>
                <a:spcPct val="107000"/>
              </a:lnSpc>
              <a:spcAft>
                <a:spcPts val="800"/>
              </a:spcAft>
              <a:buNone/>
            </a:pPr>
            <a:r>
              <a:rPr lang="ru-RU" sz="2400" b="1" i="1" dirty="0">
                <a:solidFill>
                  <a:srgbClr val="1A1B22"/>
                </a:solidFill>
                <a:effectLst/>
                <a:latin typeface="Arial" panose="020B0604020202020204" pitchFamily="34" charset="0"/>
                <a:ea typeface="Times New Roman" panose="02020603050405020304" pitchFamily="18" charset="0"/>
                <a:cs typeface="Mangal" panose="02040503050203030202" pitchFamily="18" charset="0"/>
              </a:rPr>
              <a:t>Что будет наблюдением в задаче прогнозирования возврата кредита?</a:t>
            </a:r>
            <a:endParaRPr lang="ru-RU" sz="2400" dirty="0">
              <a:effectLst/>
              <a:latin typeface="Calibri" panose="020F0502020204030204" pitchFamily="34" charset="0"/>
              <a:ea typeface="DengXian" panose="02010600030101010101" pitchFamily="2" charset="-122"/>
              <a:cs typeface="Mangal" panose="02040503050203030202" pitchFamily="18" charset="0"/>
            </a:endParaRPr>
          </a:p>
          <a:p>
            <a:pPr marL="342900" lvl="0" indent="-342900">
              <a:lnSpc>
                <a:spcPct val="107000"/>
              </a:lnSpc>
              <a:buFont typeface="Symbol" panose="05050102010706020507" pitchFamily="18" charset="2"/>
              <a:buChar char=""/>
            </a:pPr>
            <a:r>
              <a:rPr lang="ru-RU" sz="2400" dirty="0">
                <a:solidFill>
                  <a:schemeClr val="tx1"/>
                </a:solidFill>
                <a:effectLst/>
                <a:latin typeface="Arial" panose="020B0604020202020204" pitchFamily="34" charset="0"/>
                <a:ea typeface="Times New Roman" panose="02020603050405020304" pitchFamily="18" charset="0"/>
                <a:cs typeface="Mangal" panose="02040503050203030202" pitchFamily="18" charset="0"/>
              </a:rPr>
              <a:t>Значение индикатора возврата (0 — невозврат, 1 — возврат) для кредита на заданном горизонте</a:t>
            </a:r>
            <a:endParaRPr lang="ru-RU" sz="2400" dirty="0">
              <a:solidFill>
                <a:schemeClr val="tx1"/>
              </a:solidFill>
              <a:effectLst/>
              <a:latin typeface="Calibri" panose="020F0502020204030204" pitchFamily="34" charset="0"/>
              <a:ea typeface="DengXian" panose="02010600030101010101" pitchFamily="2" charset="-122"/>
              <a:cs typeface="Mangal" panose="02040503050203030202" pitchFamily="18" charset="0"/>
            </a:endParaRPr>
          </a:p>
          <a:p>
            <a:pPr marL="342900" lvl="0" indent="-342900">
              <a:lnSpc>
                <a:spcPct val="107000"/>
              </a:lnSpc>
              <a:buFont typeface="Symbol" panose="05050102010706020507" pitchFamily="18" charset="2"/>
              <a:buChar char=""/>
            </a:pPr>
            <a:r>
              <a:rPr lang="ru-RU" sz="2400" dirty="0">
                <a:solidFill>
                  <a:schemeClr val="tx1"/>
                </a:solidFill>
                <a:effectLst/>
                <a:latin typeface="Arial" panose="020B0604020202020204" pitchFamily="34" charset="0"/>
                <a:ea typeface="Times New Roman" panose="02020603050405020304" pitchFamily="18" charset="0"/>
                <a:cs typeface="Mangal" panose="02040503050203030202" pitchFamily="18" charset="0"/>
              </a:rPr>
              <a:t>Бюро кредитных историй </a:t>
            </a:r>
          </a:p>
          <a:p>
            <a:pPr marL="342900" lvl="0" indent="-342900">
              <a:lnSpc>
                <a:spcPct val="107000"/>
              </a:lnSpc>
              <a:buFont typeface="Symbol" panose="05050102010706020507" pitchFamily="18" charset="2"/>
              <a:buChar char=""/>
            </a:pPr>
            <a:r>
              <a:rPr lang="ru-RU" sz="2400" dirty="0">
                <a:solidFill>
                  <a:schemeClr val="tx1"/>
                </a:solidFill>
                <a:effectLst/>
                <a:latin typeface="Arial" panose="020B0604020202020204" pitchFamily="34" charset="0"/>
                <a:ea typeface="Times New Roman" panose="02020603050405020304" pitchFamily="18" charset="0"/>
                <a:cs typeface="Mangal" panose="02040503050203030202" pitchFamily="18" charset="0"/>
              </a:rPr>
              <a:t>Объём выданного кредита</a:t>
            </a:r>
            <a:endParaRPr lang="ru-RU" sz="2400" dirty="0">
              <a:solidFill>
                <a:schemeClr val="tx1"/>
              </a:solidFill>
              <a:effectLst/>
              <a:latin typeface="Calibri" panose="020F0502020204030204" pitchFamily="34" charset="0"/>
              <a:ea typeface="DengXian" panose="02010600030101010101" pitchFamily="2" charset="-122"/>
              <a:cs typeface="Mangal" panose="02040503050203030202" pitchFamily="18" charset="0"/>
            </a:endParaRPr>
          </a:p>
          <a:p>
            <a:pPr marL="342900" lvl="0" indent="-342900">
              <a:lnSpc>
                <a:spcPct val="107000"/>
              </a:lnSpc>
              <a:spcAft>
                <a:spcPts val="800"/>
              </a:spcAft>
              <a:buFont typeface="Symbol" panose="05050102010706020507" pitchFamily="18" charset="2"/>
              <a:buChar char=""/>
            </a:pPr>
            <a:r>
              <a:rPr lang="ru-RU" sz="2400" dirty="0">
                <a:solidFill>
                  <a:schemeClr val="tx1"/>
                </a:solidFill>
                <a:effectLst/>
                <a:latin typeface="Arial" panose="020B0604020202020204" pitchFamily="34" charset="0"/>
                <a:ea typeface="Times New Roman" panose="02020603050405020304" pitchFamily="18" charset="0"/>
                <a:cs typeface="Mangal" panose="02040503050203030202" pitchFamily="18" charset="0"/>
              </a:rPr>
              <a:t>Информация о каждом выданном кредите — условиях, заёмщике и возврате на заданном горизонте</a:t>
            </a:r>
            <a:endParaRPr lang="ru-RU" sz="1600" dirty="0">
              <a:solidFill>
                <a:schemeClr val="tx1"/>
              </a:solidFill>
            </a:endParaRPr>
          </a:p>
        </p:txBody>
      </p:sp>
      <p:sp>
        <p:nvSpPr>
          <p:cNvPr id="4" name="Дата 3">
            <a:extLst>
              <a:ext uri="{FF2B5EF4-FFF2-40B4-BE49-F238E27FC236}">
                <a16:creationId xmlns:a16="http://schemas.microsoft.com/office/drawing/2014/main" id="{6A3268E0-D1E4-BECC-83EE-84C83DC3689A}"/>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sp>
        <p:nvSpPr>
          <p:cNvPr id="5" name="Стрелка: изогнутая вниз 4">
            <a:hlinkClick r:id="rId4" action="ppaction://hlinksldjump"/>
            <a:extLst>
              <a:ext uri="{FF2B5EF4-FFF2-40B4-BE49-F238E27FC236}">
                <a16:creationId xmlns:a16="http://schemas.microsoft.com/office/drawing/2014/main" id="{AD9F13FC-169F-57F7-650F-0B583366F790}"/>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416568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3">
                                            <p:txEl>
                                              <p:pRg st="4" end="4"/>
                                            </p:txEl>
                                          </p:spTgt>
                                        </p:tgtEl>
                                        <p:attrNameLst>
                                          <p:attrName>r</p:attrName>
                                        </p:attrNameLst>
                                      </p:cBhvr>
                                    </p:animRot>
                                    <p:animRot by="-240000">
                                      <p:cBhvr>
                                        <p:cTn id="7" dur="200" fill="hold">
                                          <p:stCondLst>
                                            <p:cond delay="200"/>
                                          </p:stCondLst>
                                        </p:cTn>
                                        <p:tgtEl>
                                          <p:spTgt spid="3">
                                            <p:txEl>
                                              <p:pRg st="4" end="4"/>
                                            </p:txEl>
                                          </p:spTgt>
                                        </p:tgtEl>
                                        <p:attrNameLst>
                                          <p:attrName>r</p:attrName>
                                        </p:attrNameLst>
                                      </p:cBhvr>
                                    </p:animRot>
                                    <p:animRot by="240000">
                                      <p:cBhvr>
                                        <p:cTn id="8" dur="200" fill="hold">
                                          <p:stCondLst>
                                            <p:cond delay="400"/>
                                          </p:stCondLst>
                                        </p:cTn>
                                        <p:tgtEl>
                                          <p:spTgt spid="3">
                                            <p:txEl>
                                              <p:pRg st="4" end="4"/>
                                            </p:txEl>
                                          </p:spTgt>
                                        </p:tgtEl>
                                        <p:attrNameLst>
                                          <p:attrName>r</p:attrName>
                                        </p:attrNameLst>
                                      </p:cBhvr>
                                    </p:animRot>
                                    <p:animRot by="-240000">
                                      <p:cBhvr>
                                        <p:cTn id="9" dur="200" fill="hold">
                                          <p:stCondLst>
                                            <p:cond delay="600"/>
                                          </p:stCondLst>
                                        </p:cTn>
                                        <p:tgtEl>
                                          <p:spTgt spid="3">
                                            <p:txEl>
                                              <p:pRg st="4" end="4"/>
                                            </p:txEl>
                                          </p:spTgt>
                                        </p:tgtEl>
                                        <p:attrNameLst>
                                          <p:attrName>r</p:attrName>
                                        </p:attrNameLst>
                                      </p:cBhvr>
                                    </p:animRot>
                                    <p:animRot by="120000">
                                      <p:cBhvr>
                                        <p:cTn id="10" dur="200" fill="hold">
                                          <p:stCondLst>
                                            <p:cond delay="800"/>
                                          </p:stCondLst>
                                        </p:cTn>
                                        <p:tgtEl>
                                          <p:spTgt spid="3">
                                            <p:txEl>
                                              <p:pRg st="4" end="4"/>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B565BB-A92A-4985-0FD2-585B5AF0C7C3}"/>
              </a:ext>
            </a:extLst>
          </p:cNvPr>
          <p:cNvSpPr>
            <a:spLocks noGrp="1"/>
          </p:cNvSpPr>
          <p:nvPr>
            <p:ph type="title"/>
          </p:nvPr>
        </p:nvSpPr>
        <p:spPr>
          <a:xfrm>
            <a:off x="301559" y="643467"/>
            <a:ext cx="8540883" cy="1038577"/>
          </a:xfrm>
        </p:spPr>
        <p:txBody>
          <a:bodyPr>
            <a:normAutofit/>
          </a:bodyPr>
          <a:lstStyle/>
          <a:p>
            <a:r>
              <a:rPr lang="ru-RU" sz="2800" dirty="0"/>
              <a:t>Введение в прогнозирование и машинное</a:t>
            </a:r>
            <a:r>
              <a:rPr lang="en-US" sz="2800" dirty="0"/>
              <a:t> </a:t>
            </a:r>
            <a:r>
              <a:rPr lang="ru-RU" sz="2800" dirty="0"/>
              <a:t>обучение</a:t>
            </a:r>
          </a:p>
        </p:txBody>
      </p:sp>
      <p:sp>
        <p:nvSpPr>
          <p:cNvPr id="4" name="Дата 3">
            <a:extLst>
              <a:ext uri="{FF2B5EF4-FFF2-40B4-BE49-F238E27FC236}">
                <a16:creationId xmlns:a16="http://schemas.microsoft.com/office/drawing/2014/main" id="{037AEC46-0088-7981-8F7B-8045BDF8DCE1}"/>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6" name="Рисунок 5">
            <a:extLst>
              <a:ext uri="{FF2B5EF4-FFF2-40B4-BE49-F238E27FC236}">
                <a16:creationId xmlns:a16="http://schemas.microsoft.com/office/drawing/2014/main" id="{63FFC903-0746-48BE-6B9D-2784B6F837B7}"/>
              </a:ext>
            </a:extLst>
          </p:cNvPr>
          <p:cNvPicPr>
            <a:picLocks noChangeAspect="1"/>
          </p:cNvPicPr>
          <p:nvPr/>
        </p:nvPicPr>
        <p:blipFill>
          <a:blip r:embed="rId3"/>
          <a:stretch>
            <a:fillRect/>
          </a:stretch>
        </p:blipFill>
        <p:spPr>
          <a:xfrm>
            <a:off x="5704465" y="1367953"/>
            <a:ext cx="2437586" cy="5050109"/>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DC5667E-A340-DF06-990A-8795EBF20929}"/>
                  </a:ext>
                </a:extLst>
              </p:cNvPr>
              <p:cNvSpPr txBox="1"/>
              <p:nvPr/>
            </p:nvSpPr>
            <p:spPr>
              <a:xfrm>
                <a:off x="570276" y="2370756"/>
                <a:ext cx="5739493" cy="2554545"/>
              </a:xfrm>
              <a:prstGeom prst="rect">
                <a:avLst/>
              </a:prstGeom>
              <a:noFill/>
            </p:spPr>
            <p:txBody>
              <a:bodyPr wrap="square">
                <a:spAutoFit/>
              </a:bodyPr>
              <a:lstStyle/>
              <a:p>
                <a14:m>
                  <m:oMath xmlns:m="http://schemas.openxmlformats.org/officeDocument/2006/math">
                    <m:acc>
                      <m:accPr>
                        <m:chr m:val="⃗"/>
                        <m:ctrlPr>
                          <a:rPr lang="ru-RU" sz="4000" i="1">
                            <a:latin typeface="Cambria Math" panose="02040503050406030204" pitchFamily="18" charset="0"/>
                          </a:rPr>
                        </m:ctrlPr>
                      </m:accPr>
                      <m:e>
                        <m:r>
                          <a:rPr lang="en-US" sz="4000" i="1">
                            <a:latin typeface="Cambria Math" panose="02040503050406030204" pitchFamily="18" charset="0"/>
                          </a:rPr>
                          <m:t>𝑦</m:t>
                        </m:r>
                      </m:e>
                    </m:acc>
                    <m:r>
                      <a:rPr lang="en-US" sz="4000" i="1">
                        <a:latin typeface="Cambria Math" panose="02040503050406030204" pitchFamily="18" charset="0"/>
                      </a:rPr>
                      <m:t> </m:t>
                    </m:r>
                  </m:oMath>
                </a14:m>
                <a:r>
                  <a:rPr lang="en-US" sz="4000" dirty="0"/>
                  <a:t> </a:t>
                </a:r>
                <a:r>
                  <a:rPr lang="ru-RU" sz="4000" dirty="0"/>
                  <a:t>— вектор целевой</a:t>
                </a:r>
                <a:r>
                  <a:rPr lang="en-US" sz="4000" dirty="0"/>
                  <a:t> </a:t>
                </a:r>
                <a:r>
                  <a:rPr lang="ru-RU" sz="4000" dirty="0"/>
                  <a:t>переменной</a:t>
                </a:r>
                <a:endParaRPr lang="en-US" sz="4000" dirty="0"/>
              </a:p>
              <a:p>
                <a:endParaRPr lang="ru-RU" sz="4000" dirty="0"/>
              </a:p>
              <a:p>
                <a14:m>
                  <m:oMath xmlns:m="http://schemas.openxmlformats.org/officeDocument/2006/math">
                    <m:acc>
                      <m:accPr>
                        <m:chr m:val="⃗"/>
                        <m:ctrlPr>
                          <a:rPr lang="ru-RU" sz="4000" i="1">
                            <a:latin typeface="Cambria Math" panose="02040503050406030204" pitchFamily="18" charset="0"/>
                          </a:rPr>
                        </m:ctrlPr>
                      </m:accPr>
                      <m:e>
                        <m:r>
                          <a:rPr lang="en-US" sz="4000" i="1">
                            <a:latin typeface="Cambria Math" panose="02040503050406030204" pitchFamily="18" charset="0"/>
                          </a:rPr>
                          <m:t>𝑥</m:t>
                        </m:r>
                      </m:e>
                    </m:acc>
                    <m:r>
                      <a:rPr lang="en-US" sz="4000" i="1">
                        <a:latin typeface="Cambria Math" panose="02040503050406030204" pitchFamily="18" charset="0"/>
                      </a:rPr>
                      <m:t> </m:t>
                    </m:r>
                  </m:oMath>
                </a14:m>
                <a:r>
                  <a:rPr lang="ru-RU" sz="4000" dirty="0"/>
                  <a:t>—</a:t>
                </a:r>
                <a:r>
                  <a:rPr lang="en-US" sz="4000" dirty="0"/>
                  <a:t> </a:t>
                </a:r>
                <a:r>
                  <a:rPr lang="ru-RU" sz="4000" dirty="0"/>
                  <a:t>вектор</a:t>
                </a:r>
                <a:r>
                  <a:rPr lang="en-US" sz="4000" dirty="0"/>
                  <a:t> </a:t>
                </a:r>
                <a:r>
                  <a:rPr lang="ru-RU" sz="4000" dirty="0"/>
                  <a:t>признаков</a:t>
                </a:r>
              </a:p>
            </p:txBody>
          </p:sp>
        </mc:Choice>
        <mc:Fallback xmlns="">
          <p:sp>
            <p:nvSpPr>
              <p:cNvPr id="8" name="TextBox 7">
                <a:extLst>
                  <a:ext uri="{FF2B5EF4-FFF2-40B4-BE49-F238E27FC236}">
                    <a16:creationId xmlns:a16="http://schemas.microsoft.com/office/drawing/2014/main" id="{1DC5667E-A340-DF06-990A-8795EBF20929}"/>
                  </a:ext>
                </a:extLst>
              </p:cNvPr>
              <p:cNvSpPr txBox="1">
                <a:spLocks noRot="1" noChangeAspect="1" noMove="1" noResize="1" noEditPoints="1" noAdjustHandles="1" noChangeArrowheads="1" noChangeShapeType="1" noTextEdit="1"/>
              </p:cNvSpPr>
              <p:nvPr/>
            </p:nvSpPr>
            <p:spPr>
              <a:xfrm>
                <a:off x="570276" y="2370756"/>
                <a:ext cx="5739493" cy="2554545"/>
              </a:xfrm>
              <a:prstGeom prst="rect">
                <a:avLst/>
              </a:prstGeom>
              <a:blipFill>
                <a:blip r:embed="rId4"/>
                <a:stretch>
                  <a:fillRect l="-3826" t="-4057" b="-9547"/>
                </a:stretch>
              </a:blipFill>
            </p:spPr>
            <p:txBody>
              <a:bodyPr/>
              <a:lstStyle/>
              <a:p>
                <a:r>
                  <a:rPr lang="ru-RU">
                    <a:noFill/>
                  </a:rPr>
                  <a:t> </a:t>
                </a:r>
              </a:p>
            </p:txBody>
          </p:sp>
        </mc:Fallback>
      </mc:AlternateContent>
      <p:sp>
        <p:nvSpPr>
          <p:cNvPr id="3" name="Стрелка: изогнутая вниз 2">
            <a:hlinkClick r:id="rId5" action="ppaction://hlinksldjump"/>
            <a:extLst>
              <a:ext uri="{FF2B5EF4-FFF2-40B4-BE49-F238E27FC236}">
                <a16:creationId xmlns:a16="http://schemas.microsoft.com/office/drawing/2014/main" id="{808A3D39-E38A-F01A-125D-01FBB5394703}"/>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620768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037AEC46-0088-7981-8F7B-8045BDF8DCE1}"/>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5" name="Рисунок 4">
            <a:extLst>
              <a:ext uri="{FF2B5EF4-FFF2-40B4-BE49-F238E27FC236}">
                <a16:creationId xmlns:a16="http://schemas.microsoft.com/office/drawing/2014/main" id="{8A690878-2320-7231-4ED1-7AAF15095E87}"/>
              </a:ext>
            </a:extLst>
          </p:cNvPr>
          <p:cNvPicPr>
            <a:picLocks noChangeAspect="1"/>
          </p:cNvPicPr>
          <p:nvPr/>
        </p:nvPicPr>
        <p:blipFill rotWithShape="1">
          <a:blip r:embed="rId3"/>
          <a:srcRect l="14289" r="1"/>
          <a:stretch/>
        </p:blipFill>
        <p:spPr>
          <a:xfrm>
            <a:off x="337027" y="1800847"/>
            <a:ext cx="8469946" cy="4504267"/>
          </a:xfrm>
          <a:prstGeom prst="rect">
            <a:avLst/>
          </a:prstGeom>
        </p:spPr>
      </p:pic>
      <p:sp>
        <p:nvSpPr>
          <p:cNvPr id="7" name="Заголовок 1">
            <a:extLst>
              <a:ext uri="{FF2B5EF4-FFF2-40B4-BE49-F238E27FC236}">
                <a16:creationId xmlns:a16="http://schemas.microsoft.com/office/drawing/2014/main" id="{96B4D0C7-E51C-4148-E222-9344AC47AD3C}"/>
              </a:ext>
            </a:extLst>
          </p:cNvPr>
          <p:cNvSpPr txBox="1">
            <a:spLocks/>
          </p:cNvSpPr>
          <p:nvPr/>
        </p:nvSpPr>
        <p:spPr>
          <a:xfrm>
            <a:off x="301559" y="643467"/>
            <a:ext cx="8540883" cy="1038577"/>
          </a:xfrm>
          <a:prstGeom prst="rect">
            <a:avLst/>
          </a:prstGeom>
        </p:spPr>
        <p:txBody>
          <a:bodyPr vert="horz" lIns="91440" tIns="45720" rIns="91440" bIns="45720" rtlCol="0" anchor="b">
            <a:normAutofit/>
          </a:bodyPr>
          <a:lstStyle>
            <a:lvl1pPr algn="l" defTabSz="342900" rtl="0" eaLnBrk="1" latinLnBrk="0" hangingPunct="1">
              <a:lnSpc>
                <a:spcPct val="100000"/>
              </a:lnSpc>
              <a:spcBef>
                <a:spcPct val="0"/>
              </a:spcBef>
              <a:buNone/>
              <a:defRPr sz="21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2800" dirty="0"/>
              <a:t>Введение в прогнозирование и машинное</a:t>
            </a:r>
            <a:r>
              <a:rPr lang="en-US" sz="2800" dirty="0"/>
              <a:t> </a:t>
            </a:r>
            <a:r>
              <a:rPr lang="ru-RU" sz="2800" dirty="0"/>
              <a:t>обучение</a:t>
            </a:r>
          </a:p>
        </p:txBody>
      </p:sp>
      <p:sp>
        <p:nvSpPr>
          <p:cNvPr id="2" name="Стрелка: изогнутая вниз 1">
            <a:hlinkClick r:id="rId4" action="ppaction://hlinksldjump"/>
            <a:extLst>
              <a:ext uri="{FF2B5EF4-FFF2-40B4-BE49-F238E27FC236}">
                <a16:creationId xmlns:a16="http://schemas.microsoft.com/office/drawing/2014/main" id="{3F0BCC58-4019-2188-A4B0-15E9B8DCCB1E}"/>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206834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01ECACAF-F5FA-CCA6-940F-F7654AD864DA}"/>
              </a:ext>
            </a:extLst>
          </p:cNvPr>
          <p:cNvSpPr>
            <a:spLocks noGrp="1"/>
          </p:cNvSpPr>
          <p:nvPr>
            <p:ph idx="1"/>
          </p:nvPr>
        </p:nvSpPr>
        <p:spPr>
          <a:xfrm>
            <a:off x="435894" y="2248605"/>
            <a:ext cx="8272211" cy="1475017"/>
          </a:xfrm>
        </p:spPr>
        <p:txBody>
          <a:bodyPr>
            <a:normAutofit fontScale="92500"/>
          </a:bodyPr>
          <a:lstStyle/>
          <a:p>
            <a:pPr marL="0" indent="0">
              <a:buNone/>
            </a:pPr>
            <a:r>
              <a:rPr lang="ru-RU" sz="3600" dirty="0"/>
              <a:t>Для каждого индекса i есть набор значений</a:t>
            </a:r>
            <a:r>
              <a:rPr lang="en-US" sz="3600" dirty="0"/>
              <a:t> </a:t>
            </a:r>
            <a:r>
              <a:rPr lang="ru-RU" sz="3600" dirty="0"/>
              <a:t>признаков, или вектор</a:t>
            </a:r>
            <a:r>
              <a:rPr lang="en-US" sz="3600" dirty="0"/>
              <a:t> </a:t>
            </a:r>
            <a:r>
              <a:rPr lang="ru-RU" sz="3600" dirty="0"/>
              <a:t>признаков</a:t>
            </a:r>
            <a:endParaRPr lang="en-US" sz="3600" dirty="0"/>
          </a:p>
        </p:txBody>
      </p:sp>
      <p:sp>
        <p:nvSpPr>
          <p:cNvPr id="4" name="Дата 3">
            <a:extLst>
              <a:ext uri="{FF2B5EF4-FFF2-40B4-BE49-F238E27FC236}">
                <a16:creationId xmlns:a16="http://schemas.microsoft.com/office/drawing/2014/main" id="{2A0A6889-64F5-3CC7-CE6F-21404897BBE8}"/>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7" name="Рисунок 6">
            <a:extLst>
              <a:ext uri="{FF2B5EF4-FFF2-40B4-BE49-F238E27FC236}">
                <a16:creationId xmlns:a16="http://schemas.microsoft.com/office/drawing/2014/main" id="{4248DB13-87DB-EBB1-DB5C-D80992386A7A}"/>
              </a:ext>
            </a:extLst>
          </p:cNvPr>
          <p:cNvPicPr>
            <a:picLocks noChangeAspect="1"/>
          </p:cNvPicPr>
          <p:nvPr/>
        </p:nvPicPr>
        <p:blipFill>
          <a:blip r:embed="rId2"/>
          <a:srcRect l="6643" t="12659" r="4385" b="21480"/>
          <a:stretch/>
        </p:blipFill>
        <p:spPr>
          <a:xfrm>
            <a:off x="435893" y="4176676"/>
            <a:ext cx="8272211" cy="1224698"/>
          </a:xfrm>
          <a:prstGeom prst="rect">
            <a:avLst/>
          </a:prstGeom>
        </p:spPr>
      </p:pic>
      <p:sp>
        <p:nvSpPr>
          <p:cNvPr id="8" name="Заголовок 1">
            <a:extLst>
              <a:ext uri="{FF2B5EF4-FFF2-40B4-BE49-F238E27FC236}">
                <a16:creationId xmlns:a16="http://schemas.microsoft.com/office/drawing/2014/main" id="{DCC4F262-7401-2DD5-FBF5-6CC9824C73AF}"/>
              </a:ext>
            </a:extLst>
          </p:cNvPr>
          <p:cNvSpPr txBox="1">
            <a:spLocks/>
          </p:cNvSpPr>
          <p:nvPr/>
        </p:nvSpPr>
        <p:spPr>
          <a:xfrm>
            <a:off x="301559" y="643467"/>
            <a:ext cx="8540883" cy="1038577"/>
          </a:xfrm>
          <a:prstGeom prst="rect">
            <a:avLst/>
          </a:prstGeom>
        </p:spPr>
        <p:txBody>
          <a:bodyPr vert="horz" lIns="91440" tIns="45720" rIns="91440" bIns="45720" rtlCol="0" anchor="b">
            <a:normAutofit/>
          </a:bodyPr>
          <a:lstStyle>
            <a:lvl1pPr algn="l" defTabSz="342900" rtl="0" eaLnBrk="1" latinLnBrk="0" hangingPunct="1">
              <a:lnSpc>
                <a:spcPct val="100000"/>
              </a:lnSpc>
              <a:spcBef>
                <a:spcPct val="0"/>
              </a:spcBef>
              <a:buNone/>
              <a:defRPr sz="21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2800" dirty="0"/>
              <a:t>Введение в прогнозирование и машинное</a:t>
            </a:r>
            <a:r>
              <a:rPr lang="en-US" sz="2800" dirty="0"/>
              <a:t> </a:t>
            </a:r>
            <a:r>
              <a:rPr lang="ru-RU" sz="2800" dirty="0"/>
              <a:t>обучение</a:t>
            </a:r>
          </a:p>
        </p:txBody>
      </p:sp>
      <p:sp>
        <p:nvSpPr>
          <p:cNvPr id="2" name="Стрелка: изогнутая вниз 1">
            <a:hlinkClick r:id="rId3" action="ppaction://hlinksldjump"/>
            <a:extLst>
              <a:ext uri="{FF2B5EF4-FFF2-40B4-BE49-F238E27FC236}">
                <a16:creationId xmlns:a16="http://schemas.microsoft.com/office/drawing/2014/main" id="{671A4561-8630-8245-50F9-7486ED1817AA}"/>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368213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01ECACAF-F5FA-CCA6-940F-F7654AD864DA}"/>
              </a:ext>
            </a:extLst>
          </p:cNvPr>
          <p:cNvSpPr>
            <a:spLocks noGrp="1"/>
          </p:cNvSpPr>
          <p:nvPr>
            <p:ph idx="1"/>
          </p:nvPr>
        </p:nvSpPr>
        <p:spPr>
          <a:xfrm>
            <a:off x="435896" y="4459869"/>
            <a:ext cx="8272211" cy="1640799"/>
          </a:xfrm>
        </p:spPr>
        <p:txBody>
          <a:bodyPr>
            <a:normAutofit fontScale="92500"/>
          </a:bodyPr>
          <a:lstStyle/>
          <a:p>
            <a:pPr marL="0" indent="0">
              <a:buNone/>
            </a:pPr>
            <a:r>
              <a:rPr lang="ru-RU" sz="4000" dirty="0"/>
              <a:t>Строки — наблюдения</a:t>
            </a:r>
            <a:r>
              <a:rPr lang="en-US" sz="4000" dirty="0"/>
              <a:t> </a:t>
            </a:r>
            <a:r>
              <a:rPr lang="ru-RU" sz="4000" dirty="0"/>
              <a:t>(или объекты)</a:t>
            </a:r>
          </a:p>
          <a:p>
            <a:pPr marL="0" indent="0">
              <a:buNone/>
            </a:pPr>
            <a:r>
              <a:rPr lang="ru-RU" sz="4000" dirty="0"/>
              <a:t>Столбцы — признаки</a:t>
            </a:r>
          </a:p>
        </p:txBody>
      </p:sp>
      <p:sp>
        <p:nvSpPr>
          <p:cNvPr id="4" name="Дата 3">
            <a:extLst>
              <a:ext uri="{FF2B5EF4-FFF2-40B4-BE49-F238E27FC236}">
                <a16:creationId xmlns:a16="http://schemas.microsoft.com/office/drawing/2014/main" id="{2A0A6889-64F5-3CC7-CE6F-21404897BBE8}"/>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sp>
        <p:nvSpPr>
          <p:cNvPr id="5" name="Заголовок 1">
            <a:extLst>
              <a:ext uri="{FF2B5EF4-FFF2-40B4-BE49-F238E27FC236}">
                <a16:creationId xmlns:a16="http://schemas.microsoft.com/office/drawing/2014/main" id="{B4DF3287-C8E4-1304-B0DA-10EA882D7E25}"/>
              </a:ext>
            </a:extLst>
          </p:cNvPr>
          <p:cNvSpPr>
            <a:spLocks noGrp="1"/>
          </p:cNvSpPr>
          <p:nvPr>
            <p:ph type="title"/>
          </p:nvPr>
        </p:nvSpPr>
        <p:spPr>
          <a:xfrm>
            <a:off x="435894" y="595706"/>
            <a:ext cx="8272212" cy="787939"/>
          </a:xfrm>
        </p:spPr>
        <p:txBody>
          <a:bodyPr>
            <a:normAutofit/>
          </a:bodyPr>
          <a:lstStyle/>
          <a:p>
            <a:r>
              <a:rPr lang="ru-RU" sz="3600" dirty="0"/>
              <a:t>матрица объектов-признаков</a:t>
            </a:r>
          </a:p>
        </p:txBody>
      </p:sp>
      <p:pic>
        <p:nvPicPr>
          <p:cNvPr id="9" name="Рисунок 8">
            <a:extLst>
              <a:ext uri="{FF2B5EF4-FFF2-40B4-BE49-F238E27FC236}">
                <a16:creationId xmlns:a16="http://schemas.microsoft.com/office/drawing/2014/main" id="{02F0D699-ED4A-67C0-5704-ED23224C3195}"/>
              </a:ext>
            </a:extLst>
          </p:cNvPr>
          <p:cNvPicPr>
            <a:picLocks noChangeAspect="1"/>
          </p:cNvPicPr>
          <p:nvPr/>
        </p:nvPicPr>
        <p:blipFill>
          <a:blip r:embed="rId2"/>
          <a:srcRect l="5286" t="9022" r="12912" b="10933"/>
          <a:stretch/>
        </p:blipFill>
        <p:spPr>
          <a:xfrm>
            <a:off x="1223018" y="1545269"/>
            <a:ext cx="6697963" cy="2752976"/>
          </a:xfrm>
          <a:prstGeom prst="rect">
            <a:avLst/>
          </a:prstGeom>
        </p:spPr>
      </p:pic>
      <p:sp>
        <p:nvSpPr>
          <p:cNvPr id="2" name="Стрелка: изогнутая вниз 1">
            <a:hlinkClick r:id="rId3" action="ppaction://hlinksldjump"/>
            <a:extLst>
              <a:ext uri="{FF2B5EF4-FFF2-40B4-BE49-F238E27FC236}">
                <a16:creationId xmlns:a16="http://schemas.microsoft.com/office/drawing/2014/main" id="{1BC4935A-230F-3702-75DA-6FAEBA93882E}"/>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637548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2368FD-A047-9E97-12F0-893AF2D4C44F}"/>
              </a:ext>
            </a:extLst>
          </p:cNvPr>
          <p:cNvSpPr>
            <a:spLocks noGrp="1"/>
          </p:cNvSpPr>
          <p:nvPr>
            <p:ph type="title"/>
          </p:nvPr>
        </p:nvSpPr>
        <p:spPr>
          <a:xfrm>
            <a:off x="435894" y="632178"/>
            <a:ext cx="8272212" cy="860944"/>
          </a:xfrm>
        </p:spPr>
        <p:txBody>
          <a:bodyPr>
            <a:normAutofit/>
          </a:bodyPr>
          <a:lstStyle/>
          <a:p>
            <a:r>
              <a:rPr lang="ru-RU" sz="4400" dirty="0"/>
              <a:t>Задача обучения – </a:t>
            </a:r>
          </a:p>
        </p:txBody>
      </p:sp>
      <p:sp>
        <p:nvSpPr>
          <p:cNvPr id="3" name="Объект 2">
            <a:extLst>
              <a:ext uri="{FF2B5EF4-FFF2-40B4-BE49-F238E27FC236}">
                <a16:creationId xmlns:a16="http://schemas.microsoft.com/office/drawing/2014/main" id="{F25034A7-E37D-0157-5F87-806F8AA24329}"/>
              </a:ext>
            </a:extLst>
          </p:cNvPr>
          <p:cNvSpPr>
            <a:spLocks noGrp="1"/>
          </p:cNvSpPr>
          <p:nvPr>
            <p:ph idx="1"/>
          </p:nvPr>
        </p:nvSpPr>
        <p:spPr>
          <a:xfrm>
            <a:off x="464424" y="1493122"/>
            <a:ext cx="8243682" cy="2537011"/>
          </a:xfrm>
        </p:spPr>
        <p:txBody>
          <a:bodyPr>
            <a:normAutofit fontScale="92500" lnSpcReduction="20000"/>
          </a:bodyPr>
          <a:lstStyle/>
          <a:p>
            <a:pPr marL="0" indent="0" algn="just">
              <a:buNone/>
            </a:pPr>
            <a:r>
              <a:rPr lang="ru-RU" sz="3600" dirty="0"/>
              <a:t>на основании этих данных вывести такую функцию, которая достаточно точно отражает взаимосвязь признаков и определяет зависимость между их значениями и целевой переменной</a:t>
            </a:r>
          </a:p>
        </p:txBody>
      </p:sp>
      <p:sp>
        <p:nvSpPr>
          <p:cNvPr id="4" name="Дата 3">
            <a:extLst>
              <a:ext uri="{FF2B5EF4-FFF2-40B4-BE49-F238E27FC236}">
                <a16:creationId xmlns:a16="http://schemas.microsoft.com/office/drawing/2014/main" id="{2403B95F-E429-F2B5-2C07-5634364B0E44}"/>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6" name="Рисунок 5">
            <a:extLst>
              <a:ext uri="{FF2B5EF4-FFF2-40B4-BE49-F238E27FC236}">
                <a16:creationId xmlns:a16="http://schemas.microsoft.com/office/drawing/2014/main" id="{086AECFB-311F-1BFA-24E0-0DAD696778BD}"/>
              </a:ext>
            </a:extLst>
          </p:cNvPr>
          <p:cNvPicPr>
            <a:picLocks noChangeAspect="1"/>
          </p:cNvPicPr>
          <p:nvPr/>
        </p:nvPicPr>
        <p:blipFill>
          <a:blip r:embed="rId2"/>
          <a:srcRect l="3047" t="16251" r="2745" b="13942"/>
          <a:stretch/>
        </p:blipFill>
        <p:spPr>
          <a:xfrm>
            <a:off x="450159" y="4030133"/>
            <a:ext cx="8243682" cy="1000831"/>
          </a:xfrm>
          <a:prstGeom prst="rect">
            <a:avLst/>
          </a:prstGeom>
        </p:spPr>
      </p:pic>
      <p:sp>
        <p:nvSpPr>
          <p:cNvPr id="7" name="TextBox 6">
            <a:extLst>
              <a:ext uri="{FF2B5EF4-FFF2-40B4-BE49-F238E27FC236}">
                <a16:creationId xmlns:a16="http://schemas.microsoft.com/office/drawing/2014/main" id="{F9941B4A-787E-B3B9-11F0-3511F86C1583}"/>
              </a:ext>
            </a:extLst>
          </p:cNvPr>
          <p:cNvSpPr txBox="1"/>
          <p:nvPr/>
        </p:nvSpPr>
        <p:spPr>
          <a:xfrm>
            <a:off x="725157" y="5222171"/>
            <a:ext cx="7968684" cy="1200329"/>
          </a:xfrm>
          <a:prstGeom prst="rect">
            <a:avLst/>
          </a:prstGeom>
          <a:noFill/>
        </p:spPr>
        <p:txBody>
          <a:bodyPr wrap="square">
            <a:spAutoFit/>
          </a:bodyPr>
          <a:lstStyle/>
          <a:p>
            <a:r>
              <a:rPr lang="ru-RU" sz="3600" i="1" dirty="0"/>
              <a:t>ŷ</a:t>
            </a:r>
            <a:r>
              <a:rPr lang="ru-RU" sz="3600" dirty="0"/>
              <a:t> — прогноз, вычисляемый с помощью этой функции</a:t>
            </a:r>
          </a:p>
        </p:txBody>
      </p:sp>
      <p:sp>
        <p:nvSpPr>
          <p:cNvPr id="5" name="Стрелка: изогнутая вниз 4">
            <a:hlinkClick r:id="rId3" action="ppaction://hlinksldjump"/>
            <a:extLst>
              <a:ext uri="{FF2B5EF4-FFF2-40B4-BE49-F238E27FC236}">
                <a16:creationId xmlns:a16="http://schemas.microsoft.com/office/drawing/2014/main" id="{93B952B9-F586-BA94-44EE-8CF68DCD3027}"/>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523034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87F5B421-E332-C152-82A9-918B36B6DC10}"/>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6" name="Рисунок 5">
            <a:extLst>
              <a:ext uri="{FF2B5EF4-FFF2-40B4-BE49-F238E27FC236}">
                <a16:creationId xmlns:a16="http://schemas.microsoft.com/office/drawing/2014/main" id="{9C644F5C-432A-75AB-2C0A-4F15BF8805B3}"/>
              </a:ext>
            </a:extLst>
          </p:cNvPr>
          <p:cNvPicPr>
            <a:picLocks noChangeAspect="1"/>
          </p:cNvPicPr>
          <p:nvPr/>
        </p:nvPicPr>
        <p:blipFill rotWithShape="1">
          <a:blip r:embed="rId2"/>
          <a:srcRect l="31685" t="61466" r="25071" b="2489"/>
          <a:stretch/>
        </p:blipFill>
        <p:spPr>
          <a:xfrm>
            <a:off x="516816" y="4253756"/>
            <a:ext cx="8110367" cy="2027591"/>
          </a:xfrm>
          <a:prstGeom prst="rect">
            <a:avLst/>
          </a:prstGeom>
        </p:spPr>
      </p:pic>
      <p:sp>
        <p:nvSpPr>
          <p:cNvPr id="3" name="TextBox 2">
            <a:extLst>
              <a:ext uri="{FF2B5EF4-FFF2-40B4-BE49-F238E27FC236}">
                <a16:creationId xmlns:a16="http://schemas.microsoft.com/office/drawing/2014/main" id="{D3460FF6-8DB8-C524-ECE4-18AC3EB89165}"/>
              </a:ext>
            </a:extLst>
          </p:cNvPr>
          <p:cNvSpPr txBox="1"/>
          <p:nvPr/>
        </p:nvSpPr>
        <p:spPr>
          <a:xfrm>
            <a:off x="436007" y="799831"/>
            <a:ext cx="8271986" cy="3311356"/>
          </a:xfrm>
          <a:prstGeom prst="rect">
            <a:avLst/>
          </a:prstGeom>
          <a:noFill/>
        </p:spPr>
        <p:txBody>
          <a:bodyPr wrap="square">
            <a:spAutoFit/>
          </a:bodyPr>
          <a:lstStyle/>
          <a:p>
            <a:pPr algn="just">
              <a:lnSpc>
                <a:spcPct val="120000"/>
              </a:lnSpc>
              <a:spcAft>
                <a:spcPts val="1200"/>
              </a:spcAft>
            </a:pPr>
            <a:r>
              <a:rPr lang="ru-RU" sz="2800" dirty="0">
                <a:solidFill>
                  <a:srgbClr val="1A1B22"/>
                </a:solidFill>
                <a:effectLst/>
                <a:latin typeface="Arial" panose="020B0604020202020204" pitchFamily="34" charset="0"/>
                <a:ea typeface="DengXian" panose="02010600030101010101" pitchFamily="2" charset="-122"/>
                <a:cs typeface="Mangal" panose="02040503050203030202" pitchFamily="18" charset="0"/>
              </a:rPr>
              <a:t>Если применить функцию к значениям признаков отдельного объекта, получи</a:t>
            </a:r>
            <a:r>
              <a:rPr lang="ru-RU" sz="2800" dirty="0">
                <a:solidFill>
                  <a:srgbClr val="1A1B22"/>
                </a:solidFill>
                <a:latin typeface="Arial" panose="020B0604020202020204" pitchFamily="34" charset="0"/>
                <a:ea typeface="DengXian" panose="02010600030101010101" pitchFamily="2" charset="-122"/>
                <a:cs typeface="Mangal" panose="02040503050203030202" pitchFamily="18" charset="0"/>
              </a:rPr>
              <a:t>м</a:t>
            </a:r>
            <a:r>
              <a:rPr lang="ru-RU" sz="2800" dirty="0">
                <a:solidFill>
                  <a:srgbClr val="1A1B22"/>
                </a:solidFill>
                <a:effectLst/>
                <a:latin typeface="Arial" panose="020B0604020202020204" pitchFamily="34" charset="0"/>
                <a:ea typeface="DengXian" panose="02010600030101010101" pitchFamily="2" charset="-122"/>
                <a:cs typeface="Mangal" panose="02040503050203030202" pitchFamily="18" charset="0"/>
              </a:rPr>
              <a:t> значение — </a:t>
            </a:r>
            <a:r>
              <a:rPr lang="ru-RU" sz="2800" b="1" dirty="0">
                <a:solidFill>
                  <a:srgbClr val="1A1B22"/>
                </a:solidFill>
                <a:effectLst/>
                <a:latin typeface="Arial" panose="020B0604020202020204" pitchFamily="34" charset="0"/>
                <a:ea typeface="DengXian" panose="02010600030101010101" pitchFamily="2" charset="-122"/>
                <a:cs typeface="Mangal" panose="02040503050203030202" pitchFamily="18" charset="0"/>
              </a:rPr>
              <a:t>прогноз целевой переменной для этого наблюдения</a:t>
            </a:r>
            <a:endParaRPr lang="ru-RU" sz="2800" b="1" dirty="0">
              <a:solidFill>
                <a:srgbClr val="1A1B22"/>
              </a:solidFill>
              <a:latin typeface="Arial" panose="020B0604020202020204" pitchFamily="34" charset="0"/>
              <a:ea typeface="DengXian" panose="02010600030101010101" pitchFamily="2" charset="-122"/>
              <a:cs typeface="Mangal" panose="02040503050203030202" pitchFamily="18" charset="0"/>
            </a:endParaRPr>
          </a:p>
          <a:p>
            <a:pPr>
              <a:lnSpc>
                <a:spcPct val="120000"/>
              </a:lnSpc>
              <a:spcAft>
                <a:spcPts val="1200"/>
              </a:spcAft>
            </a:pPr>
            <a:r>
              <a:rPr lang="ru-RU" sz="2800" dirty="0">
                <a:solidFill>
                  <a:srgbClr val="1A1B22"/>
                </a:solidFill>
                <a:effectLst/>
                <a:latin typeface="Arial" panose="020B0604020202020204" pitchFamily="34" charset="0"/>
                <a:ea typeface="DengXian" panose="02010600030101010101" pitchFamily="2" charset="-122"/>
                <a:cs typeface="Mangal" panose="02040503050203030202" pitchFamily="18" charset="0"/>
              </a:rPr>
              <a:t>Оно должно быть близким к тому значению популяции, которое уже наблюдали в прошлом:</a:t>
            </a:r>
            <a:endParaRPr lang="ru-RU" sz="2000" dirty="0">
              <a:effectLst/>
              <a:latin typeface="Calibri" panose="020F0502020204030204" pitchFamily="34" charset="0"/>
              <a:ea typeface="DengXian" panose="02010600030101010101" pitchFamily="2" charset="-122"/>
              <a:cs typeface="Mangal" panose="02040503050203030202" pitchFamily="18" charset="0"/>
            </a:endParaRPr>
          </a:p>
        </p:txBody>
      </p:sp>
      <p:sp>
        <p:nvSpPr>
          <p:cNvPr id="2" name="Стрелка: изогнутая вниз 1">
            <a:hlinkClick r:id="rId3" action="ppaction://hlinksldjump"/>
            <a:extLst>
              <a:ext uri="{FF2B5EF4-FFF2-40B4-BE49-F238E27FC236}">
                <a16:creationId xmlns:a16="http://schemas.microsoft.com/office/drawing/2014/main" id="{011C09A3-555E-CCAA-5904-8E44610E2D5C}"/>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3996931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199004-0626-9589-B8DB-95B9E96A04B0}"/>
              </a:ext>
            </a:extLst>
          </p:cNvPr>
          <p:cNvSpPr>
            <a:spLocks noGrp="1"/>
          </p:cNvSpPr>
          <p:nvPr>
            <p:ph type="title"/>
          </p:nvPr>
        </p:nvSpPr>
        <p:spPr>
          <a:xfrm>
            <a:off x="435894" y="733778"/>
            <a:ext cx="8272212" cy="785459"/>
          </a:xfrm>
        </p:spPr>
        <p:txBody>
          <a:bodyPr>
            <a:normAutofit/>
          </a:bodyPr>
          <a:lstStyle/>
          <a:p>
            <a:r>
              <a:rPr lang="ru-RU" sz="4400" dirty="0"/>
              <a:t>Отыскание зависимости</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D35886F0-194F-6907-DFAA-B7E9AA40127F}"/>
                  </a:ext>
                </a:extLst>
              </p:cNvPr>
              <p:cNvSpPr>
                <a:spLocks noGrp="1"/>
              </p:cNvSpPr>
              <p:nvPr>
                <p:ph idx="1"/>
              </p:nvPr>
            </p:nvSpPr>
            <p:spPr>
              <a:xfrm>
                <a:off x="435895" y="1794933"/>
                <a:ext cx="8272211" cy="4537773"/>
              </a:xfrm>
            </p:spPr>
            <p:txBody>
              <a:bodyPr>
                <a:noAutofit/>
              </a:bodyPr>
              <a:lstStyle/>
              <a:p>
                <a:pPr marL="0" indent="0">
                  <a:buNone/>
                </a:pPr>
                <a:r>
                  <a:rPr lang="ru-RU" sz="4000" dirty="0"/>
                  <a:t>Предположим, что зависимость выглядит так:</a:t>
                </a:r>
              </a:p>
              <a:p>
                <a:pPr marL="0" indent="0">
                  <a:buNone/>
                </a:pPr>
                <a:endParaRPr lang="ru-RU" sz="3600" dirty="0"/>
              </a:p>
              <a:p>
                <a:pPr marL="0" indent="0">
                  <a:buNone/>
                </a:pPr>
                <a14:m>
                  <m:oMathPara xmlns:m="http://schemas.openxmlformats.org/officeDocument/2006/math">
                    <m:oMathParaPr>
                      <m:jc m:val="centerGroup"/>
                    </m:oMathParaPr>
                    <m:oMath xmlns:m="http://schemas.openxmlformats.org/officeDocument/2006/math">
                      <m:sSub>
                        <m:sSubPr>
                          <m:ctrlPr>
                            <a:rPr lang="ru-RU" sz="3600" i="1">
                              <a:latin typeface="Cambria Math" panose="02040503050406030204" pitchFamily="18" charset="0"/>
                            </a:rPr>
                          </m:ctrlPr>
                        </m:sSubPr>
                        <m:e>
                          <m:acc>
                            <m:accPr>
                              <m:chr m:val="̂"/>
                              <m:ctrlPr>
                                <a:rPr lang="ru-RU" sz="3600" i="1">
                                  <a:latin typeface="Cambria Math" panose="02040503050406030204" pitchFamily="18" charset="0"/>
                                </a:rPr>
                              </m:ctrlPr>
                            </m:accPr>
                            <m:e>
                              <m:r>
                                <a:rPr lang="en-US" sz="3600" i="1">
                                  <a:latin typeface="Cambria Math" panose="02040503050406030204" pitchFamily="18" charset="0"/>
                                </a:rPr>
                                <m:t>𝑦</m:t>
                              </m:r>
                            </m:e>
                          </m:acc>
                        </m:e>
                        <m:sub>
                          <m:r>
                            <a:rPr lang="en-US" sz="3600" i="1">
                              <a:latin typeface="Cambria Math" panose="02040503050406030204" pitchFamily="18" charset="0"/>
                            </a:rPr>
                            <m:t>𝑘</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i="1">
                              <a:latin typeface="Cambria Math" panose="02040503050406030204" pitchFamily="18" charset="0"/>
                            </a:rPr>
                            <m:t>0</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i="1">
                              <a:latin typeface="Cambria Math" panose="02040503050406030204" pitchFamily="18" charset="0"/>
                            </a:rPr>
                            <m:t>1</m:t>
                          </m:r>
                        </m:sub>
                      </m:sSub>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i="1">
                              <a:latin typeface="Cambria Math" panose="02040503050406030204" pitchFamily="18" charset="0"/>
                            </a:rPr>
                            <m:t>𝑖</m:t>
                          </m:r>
                          <m:r>
                            <a:rPr lang="en-US" sz="3600" i="1">
                              <a:latin typeface="Cambria Math" panose="02040503050406030204" pitchFamily="18" charset="0"/>
                            </a:rPr>
                            <m:t>1</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i="1">
                              <a:latin typeface="Cambria Math" panose="02040503050406030204" pitchFamily="18" charset="0"/>
                            </a:rPr>
                            <m:t>2</m:t>
                          </m:r>
                        </m:sub>
                      </m:sSub>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i="1">
                              <a:latin typeface="Cambria Math" panose="02040503050406030204" pitchFamily="18" charset="0"/>
                            </a:rPr>
                            <m:t>𝑖</m:t>
                          </m:r>
                          <m:r>
                            <a:rPr lang="en-US" sz="3600" i="1">
                              <a:latin typeface="Cambria Math" panose="02040503050406030204" pitchFamily="18" charset="0"/>
                            </a:rPr>
                            <m:t>2</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i="1">
                              <a:latin typeface="Cambria Math" panose="02040503050406030204" pitchFamily="18" charset="0"/>
                            </a:rPr>
                            <m:t>𝑁</m:t>
                          </m:r>
                        </m:sub>
                      </m:sSub>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i="1">
                              <a:latin typeface="Cambria Math" panose="02040503050406030204" pitchFamily="18" charset="0"/>
                            </a:rPr>
                            <m:t>𝑖𝑁</m:t>
                          </m:r>
                        </m:sub>
                      </m:sSub>
                    </m:oMath>
                  </m:oMathPara>
                </a14:m>
                <a:endParaRPr lang="ru-RU" sz="3600" dirty="0"/>
              </a:p>
              <a:p>
                <a:pPr marL="0" indent="0">
                  <a:buNone/>
                </a:pPr>
                <a:endParaRPr lang="ru-RU" sz="3600" i="1" dirty="0">
                  <a:latin typeface="Cambria Math" panose="02040503050406030204" pitchFamily="18" charset="0"/>
                </a:endParaRPr>
              </a:p>
              <a:p>
                <a:pPr marL="0" indent="0">
                  <a:buNone/>
                </a:pP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i="1">
                            <a:latin typeface="Cambria Math" panose="02040503050406030204" pitchFamily="18" charset="0"/>
                          </a:rPr>
                          <m:t>𝑖</m:t>
                        </m:r>
                      </m:sub>
                    </m:sSub>
                    <m:r>
                      <a:rPr lang="en-US" sz="3600" i="1">
                        <a:latin typeface="Cambria Math" panose="02040503050406030204" pitchFamily="18" charset="0"/>
                      </a:rPr>
                      <m:t> − </m:t>
                    </m:r>
                  </m:oMath>
                </a14:m>
                <a:r>
                  <a:rPr lang="ru-RU" sz="3600" b="1" dirty="0">
                    <a:solidFill>
                      <a:srgbClr val="000000"/>
                    </a:solidFill>
                    <a:latin typeface="YS Text"/>
                  </a:rPr>
                  <a:t>параметры функции </a:t>
                </a:r>
                <a:r>
                  <a:rPr lang="en-US" sz="3600" b="1" dirty="0">
                    <a:solidFill>
                      <a:srgbClr val="000000"/>
                    </a:solidFill>
                    <a:latin typeface="YS Text"/>
                  </a:rPr>
                  <a:t>(</a:t>
                </a:r>
                <a:r>
                  <a:rPr lang="ru-RU" sz="3600" b="1" dirty="0">
                    <a:solidFill>
                      <a:srgbClr val="000000"/>
                    </a:solidFill>
                    <a:latin typeface="YS Text"/>
                  </a:rPr>
                  <a:t>или веса</a:t>
                </a:r>
                <a:r>
                  <a:rPr lang="en-US" sz="3600" b="1" dirty="0">
                    <a:solidFill>
                      <a:srgbClr val="000000"/>
                    </a:solidFill>
                    <a:latin typeface="YS Text"/>
                  </a:rPr>
                  <a:t>)</a:t>
                </a:r>
                <a:endParaRPr lang="ru-RU" sz="3600" dirty="0"/>
              </a:p>
            </p:txBody>
          </p:sp>
        </mc:Choice>
        <mc:Fallback xmlns="">
          <p:sp>
            <p:nvSpPr>
              <p:cNvPr id="3" name="Объект 2">
                <a:extLst>
                  <a:ext uri="{FF2B5EF4-FFF2-40B4-BE49-F238E27FC236}">
                    <a16:creationId xmlns:a16="http://schemas.microsoft.com/office/drawing/2014/main" id="{D35886F0-194F-6907-DFAA-B7E9AA40127F}"/>
                  </a:ext>
                </a:extLst>
              </p:cNvPr>
              <p:cNvSpPr>
                <a:spLocks noGrp="1" noRot="1" noChangeAspect="1" noMove="1" noResize="1" noEditPoints="1" noAdjustHandles="1" noChangeArrowheads="1" noChangeShapeType="1" noTextEdit="1"/>
              </p:cNvSpPr>
              <p:nvPr>
                <p:ph idx="1"/>
              </p:nvPr>
            </p:nvSpPr>
            <p:spPr>
              <a:xfrm>
                <a:off x="435895" y="1794933"/>
                <a:ext cx="8272211" cy="4537773"/>
              </a:xfrm>
              <a:blipFill>
                <a:blip r:embed="rId3"/>
                <a:stretch>
                  <a:fillRect l="-2655" t="-134" b="-3624"/>
                </a:stretch>
              </a:blipFill>
            </p:spPr>
            <p:txBody>
              <a:bodyPr/>
              <a:lstStyle/>
              <a:p>
                <a:r>
                  <a:rPr lang="ru-RU">
                    <a:noFill/>
                  </a:rPr>
                  <a:t> </a:t>
                </a:r>
              </a:p>
            </p:txBody>
          </p:sp>
        </mc:Fallback>
      </mc:AlternateContent>
      <p:sp>
        <p:nvSpPr>
          <p:cNvPr id="4" name="Дата 3">
            <a:extLst>
              <a:ext uri="{FF2B5EF4-FFF2-40B4-BE49-F238E27FC236}">
                <a16:creationId xmlns:a16="http://schemas.microsoft.com/office/drawing/2014/main" id="{108E2BE3-6814-3415-5174-50260228F876}"/>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sp>
        <p:nvSpPr>
          <p:cNvPr id="5" name="Стрелка: изогнутая вниз 4">
            <a:hlinkClick r:id="rId4" action="ppaction://hlinksldjump"/>
            <a:extLst>
              <a:ext uri="{FF2B5EF4-FFF2-40B4-BE49-F238E27FC236}">
                <a16:creationId xmlns:a16="http://schemas.microsoft.com/office/drawing/2014/main" id="{4C427B25-8960-46B2-2498-30B45CDFE7F7}"/>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471107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39DFD8-1A11-8D8C-169C-136010E1FBC0}"/>
              </a:ext>
            </a:extLst>
          </p:cNvPr>
          <p:cNvSpPr>
            <a:spLocks noGrp="1"/>
          </p:cNvSpPr>
          <p:nvPr>
            <p:ph type="title"/>
          </p:nvPr>
        </p:nvSpPr>
        <p:spPr>
          <a:xfrm>
            <a:off x="435895" y="738196"/>
            <a:ext cx="8272212" cy="695494"/>
          </a:xfrm>
        </p:spPr>
        <p:txBody>
          <a:bodyPr>
            <a:normAutofit/>
          </a:bodyPr>
          <a:lstStyle/>
          <a:p>
            <a:r>
              <a:rPr lang="ru-RU" sz="3300" dirty="0"/>
              <a:t>Машинное обучение</a:t>
            </a:r>
            <a:r>
              <a:rPr lang="en-US" sz="3300" dirty="0"/>
              <a:t> </a:t>
            </a:r>
            <a:r>
              <a:rPr lang="ru-RU" sz="3300" dirty="0"/>
              <a:t>— </a:t>
            </a:r>
          </a:p>
        </p:txBody>
      </p:sp>
      <p:sp>
        <p:nvSpPr>
          <p:cNvPr id="3" name="Объект 2">
            <a:extLst>
              <a:ext uri="{FF2B5EF4-FFF2-40B4-BE49-F238E27FC236}">
                <a16:creationId xmlns:a16="http://schemas.microsoft.com/office/drawing/2014/main" id="{D60BC2BD-8211-1121-D812-6CBEF833D1B2}"/>
              </a:ext>
            </a:extLst>
          </p:cNvPr>
          <p:cNvSpPr>
            <a:spLocks noGrp="1"/>
          </p:cNvSpPr>
          <p:nvPr>
            <p:ph idx="1"/>
          </p:nvPr>
        </p:nvSpPr>
        <p:spPr>
          <a:xfrm>
            <a:off x="435895" y="1517515"/>
            <a:ext cx="8272211" cy="4659549"/>
          </a:xfrm>
        </p:spPr>
        <p:txBody>
          <a:bodyPr>
            <a:normAutofit fontScale="92500"/>
          </a:bodyPr>
          <a:lstStyle/>
          <a:p>
            <a:pPr marL="0" indent="0">
              <a:buNone/>
            </a:pPr>
            <a:r>
              <a:rPr lang="ru-RU" sz="2800" dirty="0"/>
              <a:t>это процесс поиска машиной взаимосвязи между</a:t>
            </a:r>
            <a:r>
              <a:rPr lang="en-US" sz="2800" dirty="0"/>
              <a:t> </a:t>
            </a:r>
            <a:r>
              <a:rPr lang="ru-RU" sz="2800" dirty="0"/>
              <a:t>величинами на примере разных объектов. Обрабатывая огромные</a:t>
            </a:r>
            <a:r>
              <a:rPr lang="en-US" sz="2800" dirty="0"/>
              <a:t> </a:t>
            </a:r>
            <a:r>
              <a:rPr lang="ru-RU" sz="2800" dirty="0"/>
              <a:t>массивы данных, алгоритм учится на них и строит наиболее</a:t>
            </a:r>
            <a:r>
              <a:rPr lang="en-US" sz="2800" dirty="0"/>
              <a:t> </a:t>
            </a:r>
            <a:r>
              <a:rPr lang="ru-RU" sz="2800" dirty="0"/>
              <a:t>правдоподобную модель мира, отражающую скрытые связи процессов</a:t>
            </a:r>
            <a:r>
              <a:rPr lang="en-US" sz="2800" dirty="0"/>
              <a:t> </a:t>
            </a:r>
            <a:r>
              <a:rPr lang="ru-RU" sz="2800" dirty="0"/>
              <a:t>или объектов. </a:t>
            </a:r>
            <a:endParaRPr lang="en-US" sz="2800" dirty="0"/>
          </a:p>
          <a:p>
            <a:pPr marL="0" indent="0">
              <a:buNone/>
            </a:pPr>
            <a:r>
              <a:rPr lang="ru-RU" sz="2800" dirty="0"/>
              <a:t>Ещё надо уметь оценивать, насколько хороша модель —</a:t>
            </a:r>
            <a:r>
              <a:rPr lang="en-US" sz="2800" dirty="0"/>
              <a:t> </a:t>
            </a:r>
            <a:r>
              <a:rPr lang="ru-RU" sz="2800" dirty="0"/>
              <a:t>как точно её прогнозы соотносятся с реальностью. Модель обучается как человек: на</a:t>
            </a:r>
            <a:r>
              <a:rPr lang="en-US" sz="2800" dirty="0"/>
              <a:t> </a:t>
            </a:r>
            <a:r>
              <a:rPr lang="ru-RU" sz="2800" dirty="0"/>
              <a:t>основании множества наблюдений. Чем их больше — тем лучше.</a:t>
            </a:r>
          </a:p>
        </p:txBody>
      </p:sp>
      <p:sp>
        <p:nvSpPr>
          <p:cNvPr id="4" name="Дата 3">
            <a:extLst>
              <a:ext uri="{FF2B5EF4-FFF2-40B4-BE49-F238E27FC236}">
                <a16:creationId xmlns:a16="http://schemas.microsoft.com/office/drawing/2014/main" id="{474C21FB-B949-0867-125A-856C5FBB194B}"/>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sp>
        <p:nvSpPr>
          <p:cNvPr id="5" name="Стрелка: изогнутая вниз 4">
            <a:hlinkClick r:id="rId2" action="ppaction://hlinksldjump"/>
            <a:extLst>
              <a:ext uri="{FF2B5EF4-FFF2-40B4-BE49-F238E27FC236}">
                <a16:creationId xmlns:a16="http://schemas.microsoft.com/office/drawing/2014/main" id="{FBF6B384-9263-99BA-3BCC-0A7A60407673}"/>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656825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400924-E998-7AA2-0767-8CE812CFFFBF}"/>
              </a:ext>
            </a:extLst>
          </p:cNvPr>
          <p:cNvSpPr>
            <a:spLocks noGrp="1"/>
          </p:cNvSpPr>
          <p:nvPr>
            <p:ph type="title"/>
          </p:nvPr>
        </p:nvSpPr>
        <p:spPr>
          <a:xfrm>
            <a:off x="435894" y="702156"/>
            <a:ext cx="8272212" cy="902908"/>
          </a:xfrm>
        </p:spPr>
        <p:txBody>
          <a:bodyPr>
            <a:normAutofit/>
          </a:bodyPr>
          <a:lstStyle/>
          <a:p>
            <a:r>
              <a:rPr lang="ru-RU" sz="4500" dirty="0"/>
              <a:t>Обучение с учителем</a:t>
            </a:r>
          </a:p>
        </p:txBody>
      </p:sp>
      <p:sp>
        <p:nvSpPr>
          <p:cNvPr id="4" name="Дата 3">
            <a:extLst>
              <a:ext uri="{FF2B5EF4-FFF2-40B4-BE49-F238E27FC236}">
                <a16:creationId xmlns:a16="http://schemas.microsoft.com/office/drawing/2014/main" id="{B3517D89-8E46-5FA3-301A-8DA5DE2E4BEB}"/>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6" name="Рисунок 5">
            <a:extLst>
              <a:ext uri="{FF2B5EF4-FFF2-40B4-BE49-F238E27FC236}">
                <a16:creationId xmlns:a16="http://schemas.microsoft.com/office/drawing/2014/main" id="{47C07318-2D7E-52C4-9B15-87EEC55AE0BB}"/>
              </a:ext>
            </a:extLst>
          </p:cNvPr>
          <p:cNvPicPr>
            <a:picLocks noChangeAspect="1"/>
          </p:cNvPicPr>
          <p:nvPr/>
        </p:nvPicPr>
        <p:blipFill>
          <a:blip r:embed="rId3"/>
          <a:stretch>
            <a:fillRect/>
          </a:stretch>
        </p:blipFill>
        <p:spPr>
          <a:xfrm>
            <a:off x="435892" y="2275409"/>
            <a:ext cx="4429125" cy="3175907"/>
          </a:xfrm>
          <a:prstGeom prst="rect">
            <a:avLst/>
          </a:prstGeom>
        </p:spPr>
      </p:pic>
      <p:pic>
        <p:nvPicPr>
          <p:cNvPr id="8" name="Рисунок 7">
            <a:extLst>
              <a:ext uri="{FF2B5EF4-FFF2-40B4-BE49-F238E27FC236}">
                <a16:creationId xmlns:a16="http://schemas.microsoft.com/office/drawing/2014/main" id="{283175F3-0B75-DDAB-2854-CC35942F64E1}"/>
              </a:ext>
            </a:extLst>
          </p:cNvPr>
          <p:cNvPicPr>
            <a:picLocks noChangeAspect="1"/>
          </p:cNvPicPr>
          <p:nvPr/>
        </p:nvPicPr>
        <p:blipFill>
          <a:blip r:embed="rId4"/>
          <a:stretch>
            <a:fillRect/>
          </a:stretch>
        </p:blipFill>
        <p:spPr>
          <a:xfrm>
            <a:off x="4974306" y="2275409"/>
            <a:ext cx="3733800" cy="3171825"/>
          </a:xfrm>
          <a:prstGeom prst="rect">
            <a:avLst/>
          </a:prstGeom>
        </p:spPr>
      </p:pic>
      <p:sp>
        <p:nvSpPr>
          <p:cNvPr id="3" name="Стрелка: изогнутая вниз 2">
            <a:hlinkClick r:id="rId5" action="ppaction://hlinksldjump"/>
            <a:extLst>
              <a:ext uri="{FF2B5EF4-FFF2-40B4-BE49-F238E27FC236}">
                <a16:creationId xmlns:a16="http://schemas.microsoft.com/office/drawing/2014/main" id="{796A0D9F-B155-8CC0-8C61-9FF0B44A76D1}"/>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39619751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041CB853-6B73-6D23-587F-9B7DDD9CA16F}"/>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3" name="Рисунок 2">
            <a:extLst>
              <a:ext uri="{FF2B5EF4-FFF2-40B4-BE49-F238E27FC236}">
                <a16:creationId xmlns:a16="http://schemas.microsoft.com/office/drawing/2014/main" id="{C4E2C682-0340-3723-CC62-084E16EE009C}"/>
              </a:ext>
            </a:extLst>
          </p:cNvPr>
          <p:cNvPicPr>
            <a:picLocks noChangeAspect="1"/>
          </p:cNvPicPr>
          <p:nvPr/>
        </p:nvPicPr>
        <p:blipFill>
          <a:blip r:embed="rId3"/>
          <a:stretch>
            <a:fillRect/>
          </a:stretch>
        </p:blipFill>
        <p:spPr>
          <a:xfrm>
            <a:off x="476250" y="756543"/>
            <a:ext cx="8331574" cy="5361870"/>
          </a:xfrm>
          <a:prstGeom prst="rect">
            <a:avLst/>
          </a:prstGeom>
        </p:spPr>
      </p:pic>
      <p:sp>
        <p:nvSpPr>
          <p:cNvPr id="2" name="Стрелка: изогнутая вниз 1">
            <a:hlinkClick r:id="rId4" action="ppaction://hlinksldjump"/>
            <a:extLst>
              <a:ext uri="{FF2B5EF4-FFF2-40B4-BE49-F238E27FC236}">
                <a16:creationId xmlns:a16="http://schemas.microsoft.com/office/drawing/2014/main" id="{C9D3F06F-AFB4-C98C-B9A8-F69E38A65CB8}"/>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288731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80E32DDE-034D-B735-F482-F6AFC9DBC58F}"/>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sp>
        <p:nvSpPr>
          <p:cNvPr id="5" name="Заголовок 1">
            <a:extLst>
              <a:ext uri="{FF2B5EF4-FFF2-40B4-BE49-F238E27FC236}">
                <a16:creationId xmlns:a16="http://schemas.microsoft.com/office/drawing/2014/main" id="{3DB03964-8019-E256-0BC2-E1A79DD125AD}"/>
              </a:ext>
            </a:extLst>
          </p:cNvPr>
          <p:cNvSpPr>
            <a:spLocks noGrp="1"/>
          </p:cNvSpPr>
          <p:nvPr>
            <p:ph type="title"/>
          </p:nvPr>
        </p:nvSpPr>
        <p:spPr>
          <a:xfrm>
            <a:off x="435894" y="702156"/>
            <a:ext cx="8272212" cy="1239533"/>
          </a:xfrm>
        </p:spPr>
        <p:txBody>
          <a:bodyPr>
            <a:normAutofit fontScale="90000"/>
          </a:bodyPr>
          <a:lstStyle/>
          <a:p>
            <a:r>
              <a:rPr lang="ru-RU" sz="4000" b="1" dirty="0"/>
              <a:t>Обучение с учителем</a:t>
            </a:r>
            <a:br>
              <a:rPr lang="ru-RU" sz="4000" b="1" dirty="0"/>
            </a:br>
            <a:r>
              <a:rPr lang="ru-RU" sz="4000" b="1" dirty="0"/>
              <a:t>Классификация</a:t>
            </a:r>
          </a:p>
        </p:txBody>
      </p:sp>
      <p:pic>
        <p:nvPicPr>
          <p:cNvPr id="7" name="Рисунок 6">
            <a:extLst>
              <a:ext uri="{FF2B5EF4-FFF2-40B4-BE49-F238E27FC236}">
                <a16:creationId xmlns:a16="http://schemas.microsoft.com/office/drawing/2014/main" id="{742254E7-5BD7-1BD9-0847-72DA22A97F76}"/>
              </a:ext>
            </a:extLst>
          </p:cNvPr>
          <p:cNvPicPr>
            <a:picLocks noChangeAspect="1"/>
          </p:cNvPicPr>
          <p:nvPr/>
        </p:nvPicPr>
        <p:blipFill>
          <a:blip r:embed="rId2">
            <a:extLst>
              <a:ext uri="{28A0092B-C50C-407E-A947-70E740481C1C}">
                <a14:useLocalDpi xmlns:a14="http://schemas.microsoft.com/office/drawing/2010/main" val="0"/>
              </a:ext>
            </a:extLst>
          </a:blip>
          <a:srcRect l="7649" t="7059" r="7134" b="17747"/>
          <a:stretch/>
        </p:blipFill>
        <p:spPr>
          <a:xfrm>
            <a:off x="2485777" y="2341952"/>
            <a:ext cx="4172445" cy="3681702"/>
          </a:xfrm>
          <a:prstGeom prst="rect">
            <a:avLst/>
          </a:prstGeom>
        </p:spPr>
      </p:pic>
      <p:sp>
        <p:nvSpPr>
          <p:cNvPr id="2" name="Стрелка: изогнутая вниз 1">
            <a:hlinkClick r:id="rId3" action="ppaction://hlinksldjump"/>
            <a:extLst>
              <a:ext uri="{FF2B5EF4-FFF2-40B4-BE49-F238E27FC236}">
                <a16:creationId xmlns:a16="http://schemas.microsoft.com/office/drawing/2014/main" id="{BD2F7E2E-D219-8776-4FE4-40FC0F1CAB81}"/>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690130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E050A86E-CA65-DB35-D0E4-0420F1865D20}"/>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sp>
        <p:nvSpPr>
          <p:cNvPr id="5" name="Заголовок 1">
            <a:extLst>
              <a:ext uri="{FF2B5EF4-FFF2-40B4-BE49-F238E27FC236}">
                <a16:creationId xmlns:a16="http://schemas.microsoft.com/office/drawing/2014/main" id="{5D3C66C4-C0F3-B6A5-952B-5601761602F1}"/>
              </a:ext>
            </a:extLst>
          </p:cNvPr>
          <p:cNvSpPr>
            <a:spLocks noGrp="1"/>
          </p:cNvSpPr>
          <p:nvPr>
            <p:ph type="title"/>
          </p:nvPr>
        </p:nvSpPr>
        <p:spPr>
          <a:xfrm>
            <a:off x="435894" y="702156"/>
            <a:ext cx="8272212" cy="1323706"/>
          </a:xfrm>
        </p:spPr>
        <p:txBody>
          <a:bodyPr>
            <a:normAutofit/>
          </a:bodyPr>
          <a:lstStyle/>
          <a:p>
            <a:r>
              <a:rPr lang="ru-RU" sz="3600" b="1" dirty="0"/>
              <a:t>Обучение с учителем</a:t>
            </a:r>
            <a:br>
              <a:rPr lang="ru-RU" sz="3600" b="1" dirty="0"/>
            </a:br>
            <a:r>
              <a:rPr lang="ru-RU" sz="3600" b="1" dirty="0"/>
              <a:t>регрессия</a:t>
            </a:r>
          </a:p>
        </p:txBody>
      </p:sp>
      <p:pic>
        <p:nvPicPr>
          <p:cNvPr id="6" name="Рисунок 5">
            <a:extLst>
              <a:ext uri="{FF2B5EF4-FFF2-40B4-BE49-F238E27FC236}">
                <a16:creationId xmlns:a16="http://schemas.microsoft.com/office/drawing/2014/main" id="{F421A468-31BF-E453-ABDF-ED48AF8B1A18}"/>
              </a:ext>
            </a:extLst>
          </p:cNvPr>
          <p:cNvPicPr>
            <a:picLocks noChangeAspect="1"/>
          </p:cNvPicPr>
          <p:nvPr/>
        </p:nvPicPr>
        <p:blipFill>
          <a:blip r:embed="rId3">
            <a:extLst>
              <a:ext uri="{28A0092B-C50C-407E-A947-70E740481C1C}">
                <a14:useLocalDpi xmlns:a14="http://schemas.microsoft.com/office/drawing/2010/main" val="0"/>
              </a:ext>
            </a:extLst>
          </a:blip>
          <a:srcRect l="9902" t="10209" r="8226" b="17259"/>
          <a:stretch/>
        </p:blipFill>
        <p:spPr>
          <a:xfrm>
            <a:off x="2494070" y="2289830"/>
            <a:ext cx="4155860" cy="3681702"/>
          </a:xfrm>
          <a:prstGeom prst="rect">
            <a:avLst/>
          </a:prstGeom>
        </p:spPr>
      </p:pic>
      <p:sp>
        <p:nvSpPr>
          <p:cNvPr id="2" name="Стрелка: изогнутая вниз 1">
            <a:hlinkClick r:id="rId4" action="ppaction://hlinksldjump"/>
            <a:extLst>
              <a:ext uri="{FF2B5EF4-FFF2-40B4-BE49-F238E27FC236}">
                <a16:creationId xmlns:a16="http://schemas.microsoft.com/office/drawing/2014/main" id="{323F2F09-8BC5-6F95-37F3-01A325D0ED74}"/>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1632198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9587D477-BF30-E097-CB78-964C3CDE5CE5}"/>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5" name="Рисунок 4">
            <a:extLst>
              <a:ext uri="{FF2B5EF4-FFF2-40B4-BE49-F238E27FC236}">
                <a16:creationId xmlns:a16="http://schemas.microsoft.com/office/drawing/2014/main" id="{37D03FF5-343C-C2FD-2790-4B70129F5C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117" y="1433682"/>
            <a:ext cx="8179765" cy="4707473"/>
          </a:xfrm>
          <a:prstGeom prst="rect">
            <a:avLst/>
          </a:prstGeom>
        </p:spPr>
      </p:pic>
      <p:sp>
        <p:nvSpPr>
          <p:cNvPr id="2" name="Стрелка: изогнутая вниз 1">
            <a:hlinkClick r:id="rId3" action="ppaction://hlinksldjump"/>
            <a:extLst>
              <a:ext uri="{FF2B5EF4-FFF2-40B4-BE49-F238E27FC236}">
                <a16:creationId xmlns:a16="http://schemas.microsoft.com/office/drawing/2014/main" id="{2DB7EADB-283D-B9D9-CF84-3BBC28EEFF56}"/>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3040853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32B2A7-6341-7971-1D55-94480A21F265}"/>
              </a:ext>
            </a:extLst>
          </p:cNvPr>
          <p:cNvSpPr>
            <a:spLocks noGrp="1"/>
          </p:cNvSpPr>
          <p:nvPr>
            <p:ph type="title"/>
          </p:nvPr>
        </p:nvSpPr>
        <p:spPr>
          <a:xfrm>
            <a:off x="435894" y="702156"/>
            <a:ext cx="8272212" cy="741675"/>
          </a:xfrm>
        </p:spPr>
        <p:txBody>
          <a:bodyPr>
            <a:normAutofit/>
          </a:bodyPr>
          <a:lstStyle/>
          <a:p>
            <a:r>
              <a:rPr lang="ru-RU" sz="4000" dirty="0"/>
              <a:t>Обучение без учителя</a:t>
            </a:r>
          </a:p>
        </p:txBody>
      </p:sp>
      <p:sp>
        <p:nvSpPr>
          <p:cNvPr id="4" name="Дата 3">
            <a:extLst>
              <a:ext uri="{FF2B5EF4-FFF2-40B4-BE49-F238E27FC236}">
                <a16:creationId xmlns:a16="http://schemas.microsoft.com/office/drawing/2014/main" id="{061F0ABE-548E-6F09-D3FE-9BDD4802A06B}"/>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5" name="Рисунок 4">
            <a:extLst>
              <a:ext uri="{FF2B5EF4-FFF2-40B4-BE49-F238E27FC236}">
                <a16:creationId xmlns:a16="http://schemas.microsoft.com/office/drawing/2014/main" id="{6B67340E-8B5D-2062-65A9-5D6931B65788}"/>
              </a:ext>
            </a:extLst>
          </p:cNvPr>
          <p:cNvPicPr>
            <a:picLocks noChangeAspect="1"/>
          </p:cNvPicPr>
          <p:nvPr/>
        </p:nvPicPr>
        <p:blipFill>
          <a:blip r:embed="rId3"/>
          <a:stretch>
            <a:fillRect/>
          </a:stretch>
        </p:blipFill>
        <p:spPr>
          <a:xfrm>
            <a:off x="435894" y="1526676"/>
            <a:ext cx="8272212" cy="4629168"/>
          </a:xfrm>
          <a:prstGeom prst="rect">
            <a:avLst/>
          </a:prstGeom>
        </p:spPr>
      </p:pic>
      <p:sp>
        <p:nvSpPr>
          <p:cNvPr id="3" name="Стрелка: изогнутая вниз 2">
            <a:hlinkClick r:id="rId4" action="ppaction://hlinksldjump"/>
            <a:extLst>
              <a:ext uri="{FF2B5EF4-FFF2-40B4-BE49-F238E27FC236}">
                <a16:creationId xmlns:a16="http://schemas.microsoft.com/office/drawing/2014/main" id="{0369B7F1-0C5B-5B47-74F7-6F58941EA54B}"/>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9575255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6E573196-7CC2-E761-46FF-5A1C5BC834EE}"/>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3" name="Рисунок 2">
            <a:extLst>
              <a:ext uri="{FF2B5EF4-FFF2-40B4-BE49-F238E27FC236}">
                <a16:creationId xmlns:a16="http://schemas.microsoft.com/office/drawing/2014/main" id="{2E336303-9A63-8D59-8088-1951FFF518C6}"/>
              </a:ext>
            </a:extLst>
          </p:cNvPr>
          <p:cNvPicPr>
            <a:picLocks noChangeAspect="1"/>
          </p:cNvPicPr>
          <p:nvPr/>
        </p:nvPicPr>
        <p:blipFill>
          <a:blip r:embed="rId3"/>
          <a:stretch>
            <a:fillRect/>
          </a:stretch>
        </p:blipFill>
        <p:spPr>
          <a:xfrm>
            <a:off x="361244" y="1168519"/>
            <a:ext cx="8421512" cy="4815421"/>
          </a:xfrm>
          <a:prstGeom prst="rect">
            <a:avLst/>
          </a:prstGeom>
        </p:spPr>
      </p:pic>
      <p:sp>
        <p:nvSpPr>
          <p:cNvPr id="2" name="Стрелка: изогнутая вниз 1">
            <a:hlinkClick r:id="rId4" action="ppaction://hlinksldjump"/>
            <a:extLst>
              <a:ext uri="{FF2B5EF4-FFF2-40B4-BE49-F238E27FC236}">
                <a16:creationId xmlns:a16="http://schemas.microsoft.com/office/drawing/2014/main" id="{746B5F07-AFC9-7891-2C6F-94C3B95D7ED8}"/>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8820409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32B2A7-6341-7971-1D55-94480A21F265}"/>
              </a:ext>
            </a:extLst>
          </p:cNvPr>
          <p:cNvSpPr>
            <a:spLocks noGrp="1"/>
          </p:cNvSpPr>
          <p:nvPr>
            <p:ph type="title"/>
          </p:nvPr>
        </p:nvSpPr>
        <p:spPr>
          <a:xfrm>
            <a:off x="435894" y="702156"/>
            <a:ext cx="8272212" cy="906725"/>
          </a:xfrm>
        </p:spPr>
        <p:txBody>
          <a:bodyPr>
            <a:normAutofit/>
          </a:bodyPr>
          <a:lstStyle/>
          <a:p>
            <a:r>
              <a:rPr lang="ru-RU" sz="4800" dirty="0"/>
              <a:t>Обучение без учителя</a:t>
            </a:r>
          </a:p>
        </p:txBody>
      </p:sp>
      <p:sp>
        <p:nvSpPr>
          <p:cNvPr id="4" name="Дата 3">
            <a:extLst>
              <a:ext uri="{FF2B5EF4-FFF2-40B4-BE49-F238E27FC236}">
                <a16:creationId xmlns:a16="http://schemas.microsoft.com/office/drawing/2014/main" id="{061F0ABE-548E-6F09-D3FE-9BDD4802A06B}"/>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sp>
        <p:nvSpPr>
          <p:cNvPr id="5" name="TextBox 4">
            <a:extLst>
              <a:ext uri="{FF2B5EF4-FFF2-40B4-BE49-F238E27FC236}">
                <a16:creationId xmlns:a16="http://schemas.microsoft.com/office/drawing/2014/main" id="{AC879435-24CE-4204-5A40-DAC8B01B44D1}"/>
              </a:ext>
            </a:extLst>
          </p:cNvPr>
          <p:cNvSpPr txBox="1"/>
          <p:nvPr/>
        </p:nvSpPr>
        <p:spPr>
          <a:xfrm>
            <a:off x="435894" y="1754241"/>
            <a:ext cx="8106222" cy="4524315"/>
          </a:xfrm>
          <a:prstGeom prst="rect">
            <a:avLst/>
          </a:prstGeom>
          <a:noFill/>
        </p:spPr>
        <p:txBody>
          <a:bodyPr wrap="square">
            <a:spAutoFit/>
          </a:bodyPr>
          <a:lstStyle/>
          <a:p>
            <a:r>
              <a:rPr lang="en-US" sz="3600" dirty="0"/>
              <a:t>	</a:t>
            </a:r>
            <a:r>
              <a:rPr lang="ru-RU" sz="3600" dirty="0"/>
              <a:t>Тип задач, где нужно выявить характерные типы объектов, называют</a:t>
            </a:r>
            <a:r>
              <a:rPr lang="en-US" sz="3600" dirty="0"/>
              <a:t> </a:t>
            </a:r>
            <a:r>
              <a:rPr lang="ru-RU" sz="3600" b="1" u="sng" dirty="0"/>
              <a:t>кластеризация</a:t>
            </a:r>
            <a:r>
              <a:rPr lang="ru-RU" sz="3600" dirty="0"/>
              <a:t> — разделение объектов на группы</a:t>
            </a:r>
            <a:endParaRPr lang="en-US" sz="3600" dirty="0"/>
          </a:p>
          <a:p>
            <a:r>
              <a:rPr lang="en-US" sz="3600" dirty="0"/>
              <a:t>	</a:t>
            </a:r>
            <a:r>
              <a:rPr lang="ru-RU" sz="3600" dirty="0"/>
              <a:t>Главное отличие</a:t>
            </a:r>
          </a:p>
          <a:p>
            <a:r>
              <a:rPr lang="ru-RU" sz="3600" dirty="0"/>
              <a:t>кластеризации от классификации — отсутствие заранее заданных</a:t>
            </a:r>
            <a:r>
              <a:rPr lang="en-US" sz="3600" dirty="0"/>
              <a:t> </a:t>
            </a:r>
            <a:r>
              <a:rPr lang="ru-RU" sz="3600" dirty="0"/>
              <a:t>классов, или «правильных ответов»</a:t>
            </a:r>
          </a:p>
        </p:txBody>
      </p:sp>
      <p:sp>
        <p:nvSpPr>
          <p:cNvPr id="3" name="Стрелка: изогнутая вниз 2">
            <a:hlinkClick r:id="rId3" action="ppaction://hlinksldjump"/>
            <a:extLst>
              <a:ext uri="{FF2B5EF4-FFF2-40B4-BE49-F238E27FC236}">
                <a16:creationId xmlns:a16="http://schemas.microsoft.com/office/drawing/2014/main" id="{83C85B38-AE20-ED1E-0094-0E6EBA29DB5E}"/>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4284181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51A3BB74-FEBD-7B4E-2E83-2512389BCCCD}"/>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8" name="Рисунок 7">
            <a:extLst>
              <a:ext uri="{FF2B5EF4-FFF2-40B4-BE49-F238E27FC236}">
                <a16:creationId xmlns:a16="http://schemas.microsoft.com/office/drawing/2014/main" id="{9AD4910B-6516-BD91-1552-D7A8D9A3831E}"/>
              </a:ext>
            </a:extLst>
          </p:cNvPr>
          <p:cNvPicPr>
            <a:picLocks noChangeAspect="1"/>
          </p:cNvPicPr>
          <p:nvPr/>
        </p:nvPicPr>
        <p:blipFill>
          <a:blip r:embed="rId2">
            <a:extLst>
              <a:ext uri="{28A0092B-C50C-407E-A947-70E740481C1C}">
                <a14:useLocalDpi xmlns:a14="http://schemas.microsoft.com/office/drawing/2010/main" val="0"/>
              </a:ext>
            </a:extLst>
          </a:blip>
          <a:srcRect l="5903" t="9478" r="7606" b="16458"/>
          <a:stretch/>
        </p:blipFill>
        <p:spPr>
          <a:xfrm>
            <a:off x="1917041" y="2146500"/>
            <a:ext cx="4854223" cy="4156779"/>
          </a:xfrm>
          <a:prstGeom prst="rect">
            <a:avLst/>
          </a:prstGeom>
        </p:spPr>
      </p:pic>
      <p:sp>
        <p:nvSpPr>
          <p:cNvPr id="5" name="Заголовок 1">
            <a:extLst>
              <a:ext uri="{FF2B5EF4-FFF2-40B4-BE49-F238E27FC236}">
                <a16:creationId xmlns:a16="http://schemas.microsoft.com/office/drawing/2014/main" id="{2A3430BC-1EF7-FE16-6B95-02ED5CC8CE22}"/>
              </a:ext>
            </a:extLst>
          </p:cNvPr>
          <p:cNvSpPr>
            <a:spLocks noGrp="1"/>
          </p:cNvSpPr>
          <p:nvPr>
            <p:ph type="title"/>
          </p:nvPr>
        </p:nvSpPr>
        <p:spPr>
          <a:xfrm>
            <a:off x="435894" y="702156"/>
            <a:ext cx="8272212" cy="1323706"/>
          </a:xfrm>
        </p:spPr>
        <p:txBody>
          <a:bodyPr>
            <a:normAutofit/>
          </a:bodyPr>
          <a:lstStyle/>
          <a:p>
            <a:r>
              <a:rPr lang="ru-RU" sz="3600" b="1" dirty="0"/>
              <a:t>Обучение без учителя</a:t>
            </a:r>
            <a:br>
              <a:rPr lang="ru-RU" sz="3600" b="1" dirty="0"/>
            </a:br>
            <a:r>
              <a:rPr lang="ru-RU" sz="3600" b="1" dirty="0"/>
              <a:t>кластеризация</a:t>
            </a:r>
          </a:p>
        </p:txBody>
      </p:sp>
      <p:sp>
        <p:nvSpPr>
          <p:cNvPr id="2" name="Стрелка: изогнутая вниз 1">
            <a:hlinkClick r:id="rId3" action="ppaction://hlinksldjump"/>
            <a:extLst>
              <a:ext uri="{FF2B5EF4-FFF2-40B4-BE49-F238E27FC236}">
                <a16:creationId xmlns:a16="http://schemas.microsoft.com/office/drawing/2014/main" id="{45D9FD3A-EB4A-68A1-D0E9-E662781222BC}"/>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4157540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07E06EF8-9EA1-CF30-8499-CD0FD1ED78C4}"/>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7" name="Рисунок 6">
            <a:extLst>
              <a:ext uri="{FF2B5EF4-FFF2-40B4-BE49-F238E27FC236}">
                <a16:creationId xmlns:a16="http://schemas.microsoft.com/office/drawing/2014/main" id="{3C7324DD-1CC9-4183-3F62-0174A57FBA5D}"/>
              </a:ext>
            </a:extLst>
          </p:cNvPr>
          <p:cNvPicPr>
            <a:picLocks noChangeAspect="1"/>
          </p:cNvPicPr>
          <p:nvPr/>
        </p:nvPicPr>
        <p:blipFill>
          <a:blip r:embed="rId2"/>
          <a:stretch>
            <a:fillRect/>
          </a:stretch>
        </p:blipFill>
        <p:spPr>
          <a:xfrm>
            <a:off x="544865" y="732505"/>
            <a:ext cx="8054270" cy="5873974"/>
          </a:xfrm>
          <a:prstGeom prst="rect">
            <a:avLst/>
          </a:prstGeom>
        </p:spPr>
      </p:pic>
      <p:sp>
        <p:nvSpPr>
          <p:cNvPr id="2" name="Стрелка: изогнутая вниз 1">
            <a:hlinkClick r:id="rId3" action="ppaction://hlinksldjump"/>
            <a:extLst>
              <a:ext uri="{FF2B5EF4-FFF2-40B4-BE49-F238E27FC236}">
                <a16:creationId xmlns:a16="http://schemas.microsoft.com/office/drawing/2014/main" id="{9E548F85-4798-0982-C42C-925AF39EDE1C}"/>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3218387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A4FF06A7-F665-82D0-6D0A-B3D0AE52721C}"/>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6" name="Рисунок 5">
            <a:extLst>
              <a:ext uri="{FF2B5EF4-FFF2-40B4-BE49-F238E27FC236}">
                <a16:creationId xmlns:a16="http://schemas.microsoft.com/office/drawing/2014/main" id="{5BA352E5-CAF0-5730-E408-15A585A50A05}"/>
              </a:ext>
            </a:extLst>
          </p:cNvPr>
          <p:cNvPicPr>
            <a:picLocks noChangeAspect="1"/>
          </p:cNvPicPr>
          <p:nvPr/>
        </p:nvPicPr>
        <p:blipFill>
          <a:blip r:embed="rId2"/>
          <a:stretch>
            <a:fillRect/>
          </a:stretch>
        </p:blipFill>
        <p:spPr>
          <a:xfrm>
            <a:off x="200025" y="736423"/>
            <a:ext cx="8743950" cy="5972175"/>
          </a:xfrm>
          <a:prstGeom prst="rect">
            <a:avLst/>
          </a:prstGeom>
        </p:spPr>
      </p:pic>
      <p:sp>
        <p:nvSpPr>
          <p:cNvPr id="2" name="Стрелка: изогнутая вниз 1">
            <a:hlinkClick r:id="rId3" action="ppaction://hlinksldjump"/>
            <a:extLst>
              <a:ext uri="{FF2B5EF4-FFF2-40B4-BE49-F238E27FC236}">
                <a16:creationId xmlns:a16="http://schemas.microsoft.com/office/drawing/2014/main" id="{A7A669A0-4F0F-2192-B131-56218E759651}"/>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7707102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532DAF0E-A41E-FAF6-C98B-DB73C7F21999}"/>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13" name="Рисунок 12">
            <a:extLst>
              <a:ext uri="{FF2B5EF4-FFF2-40B4-BE49-F238E27FC236}">
                <a16:creationId xmlns:a16="http://schemas.microsoft.com/office/drawing/2014/main" id="{984E12C8-F950-543E-B8DB-4CEB14BF6DF8}"/>
              </a:ext>
            </a:extLst>
          </p:cNvPr>
          <p:cNvPicPr>
            <a:picLocks noChangeAspect="1"/>
          </p:cNvPicPr>
          <p:nvPr/>
        </p:nvPicPr>
        <p:blipFill>
          <a:blip r:embed="rId3"/>
          <a:stretch>
            <a:fillRect/>
          </a:stretch>
        </p:blipFill>
        <p:spPr>
          <a:xfrm>
            <a:off x="0" y="0"/>
            <a:ext cx="9144000" cy="6858000"/>
          </a:xfrm>
          <a:prstGeom prst="rect">
            <a:avLst/>
          </a:prstGeom>
        </p:spPr>
      </p:pic>
      <p:sp>
        <p:nvSpPr>
          <p:cNvPr id="14" name="Стрелка: изогнутая вниз 13">
            <a:hlinkClick r:id="rId4" action="ppaction://hlinksldjump"/>
            <a:extLst>
              <a:ext uri="{FF2B5EF4-FFF2-40B4-BE49-F238E27FC236}">
                <a16:creationId xmlns:a16="http://schemas.microsoft.com/office/drawing/2014/main" id="{AC496437-D047-1624-6A6C-3302BDD04C14}"/>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8959042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562972-3449-42D1-8185-B4BEFD52AB44}"/>
              </a:ext>
            </a:extLst>
          </p:cNvPr>
          <p:cNvSpPr>
            <a:spLocks noGrp="1"/>
          </p:cNvSpPr>
          <p:nvPr>
            <p:ph type="title"/>
          </p:nvPr>
        </p:nvSpPr>
        <p:spPr>
          <a:xfrm>
            <a:off x="435894" y="702156"/>
            <a:ext cx="8272212" cy="817080"/>
          </a:xfrm>
        </p:spPr>
        <p:txBody>
          <a:bodyPr rtlCol="0">
            <a:normAutofit/>
          </a:bodyPr>
          <a:lstStyle/>
          <a:p>
            <a:pPr rtl="0"/>
            <a:r>
              <a:rPr lang="ru" sz="4400" dirty="0"/>
              <a:t>Обучение с учителем</a:t>
            </a:r>
          </a:p>
        </p:txBody>
      </p:sp>
      <p:graphicFrame>
        <p:nvGraphicFramePr>
          <p:cNvPr id="4" name="Объект 2">
            <a:extLst>
              <a:ext uri="{FF2B5EF4-FFF2-40B4-BE49-F238E27FC236}">
                <a16:creationId xmlns:a16="http://schemas.microsoft.com/office/drawing/2014/main" id="{FF3F0D82-0AA6-45C3-8367-955CBFA02ED6}"/>
              </a:ext>
            </a:extLst>
          </p:cNvPr>
          <p:cNvGraphicFramePr>
            <a:graphicFrameLocks noGrp="1"/>
          </p:cNvGraphicFramePr>
          <p:nvPr>
            <p:ph idx="1"/>
            <p:extLst>
              <p:ext uri="{D42A27DB-BD31-4B8C-83A1-F6EECF244321}">
                <p14:modId xmlns:p14="http://schemas.microsoft.com/office/powerpoint/2010/main" val="2997114551"/>
              </p:ext>
            </p:extLst>
          </p:nvPr>
        </p:nvGraphicFramePr>
        <p:xfrm>
          <a:off x="435769" y="2613424"/>
          <a:ext cx="8272463" cy="27253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Стрелка: изогнутая вниз 2">
            <a:hlinkClick r:id="rId7" action="ppaction://hlinksldjump"/>
            <a:extLst>
              <a:ext uri="{FF2B5EF4-FFF2-40B4-BE49-F238E27FC236}">
                <a16:creationId xmlns:a16="http://schemas.microsoft.com/office/drawing/2014/main" id="{F7891F88-CE56-22B6-CBC0-E9DB72D00BBA}"/>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63784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2978E5-D35E-519F-D05C-72AD580B5688}"/>
              </a:ext>
            </a:extLst>
          </p:cNvPr>
          <p:cNvSpPr>
            <a:spLocks noGrp="1"/>
          </p:cNvSpPr>
          <p:nvPr>
            <p:ph type="title"/>
          </p:nvPr>
        </p:nvSpPr>
        <p:spPr>
          <a:xfrm>
            <a:off x="435894" y="702156"/>
            <a:ext cx="8272212" cy="669444"/>
          </a:xfrm>
        </p:spPr>
        <p:txBody>
          <a:bodyPr>
            <a:normAutofit/>
          </a:bodyPr>
          <a:lstStyle/>
          <a:p>
            <a:r>
              <a:rPr lang="ru-RU" sz="3600" dirty="0"/>
              <a:t>Оценка качества модели</a:t>
            </a:r>
          </a:p>
        </p:txBody>
      </p:sp>
      <p:sp>
        <p:nvSpPr>
          <p:cNvPr id="4" name="Дата 3">
            <a:extLst>
              <a:ext uri="{FF2B5EF4-FFF2-40B4-BE49-F238E27FC236}">
                <a16:creationId xmlns:a16="http://schemas.microsoft.com/office/drawing/2014/main" id="{9B213426-9D40-A3A1-3E45-56180A3A7109}"/>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6" name="Рисунок 5">
            <a:extLst>
              <a:ext uri="{FF2B5EF4-FFF2-40B4-BE49-F238E27FC236}">
                <a16:creationId xmlns:a16="http://schemas.microsoft.com/office/drawing/2014/main" id="{020D0664-76F2-72DA-25F4-96AF919F6368}"/>
              </a:ext>
            </a:extLst>
          </p:cNvPr>
          <p:cNvPicPr>
            <a:picLocks noChangeAspect="1"/>
          </p:cNvPicPr>
          <p:nvPr/>
        </p:nvPicPr>
        <p:blipFill>
          <a:blip r:embed="rId2"/>
          <a:stretch>
            <a:fillRect/>
          </a:stretch>
        </p:blipFill>
        <p:spPr>
          <a:xfrm>
            <a:off x="1352550" y="3780304"/>
            <a:ext cx="6438900" cy="2228850"/>
          </a:xfrm>
          <a:prstGeom prst="rect">
            <a:avLst/>
          </a:prstGeom>
        </p:spPr>
      </p:pic>
      <p:sp>
        <p:nvSpPr>
          <p:cNvPr id="8" name="TextBox 7">
            <a:extLst>
              <a:ext uri="{FF2B5EF4-FFF2-40B4-BE49-F238E27FC236}">
                <a16:creationId xmlns:a16="http://schemas.microsoft.com/office/drawing/2014/main" id="{B35F7D7E-B8F0-8528-D5A6-6CB2B32D66A4}"/>
              </a:ext>
            </a:extLst>
          </p:cNvPr>
          <p:cNvSpPr txBox="1"/>
          <p:nvPr/>
        </p:nvSpPr>
        <p:spPr>
          <a:xfrm>
            <a:off x="435894" y="1544900"/>
            <a:ext cx="8272212" cy="2062103"/>
          </a:xfrm>
          <a:prstGeom prst="rect">
            <a:avLst/>
          </a:prstGeom>
          <a:noFill/>
        </p:spPr>
        <p:txBody>
          <a:bodyPr wrap="square">
            <a:spAutoFit/>
          </a:bodyPr>
          <a:lstStyle/>
          <a:p>
            <a:r>
              <a:rPr lang="ru-RU" altLang="ru-RU" sz="3200" dirty="0"/>
              <a:t>Тот самый коэффициент детерминации, который показывает на сколько объясняемые переменные описывают объясняющую переменную:</a:t>
            </a:r>
          </a:p>
        </p:txBody>
      </p:sp>
      <p:sp>
        <p:nvSpPr>
          <p:cNvPr id="9" name="Стрелка: изогнутая вниз 8">
            <a:hlinkClick r:id="rId3" action="ppaction://hlinksldjump"/>
            <a:extLst>
              <a:ext uri="{FF2B5EF4-FFF2-40B4-BE49-F238E27FC236}">
                <a16:creationId xmlns:a16="http://schemas.microsoft.com/office/drawing/2014/main" id="{45869C36-3BFF-81D4-B7F3-C8D569571296}"/>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699019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F4DE41AB-7C1A-0FC8-D9B3-C0F190606618}"/>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10" name="Рисунок 9">
            <a:extLst>
              <a:ext uri="{FF2B5EF4-FFF2-40B4-BE49-F238E27FC236}">
                <a16:creationId xmlns:a16="http://schemas.microsoft.com/office/drawing/2014/main" id="{1039A332-0807-3083-C83B-11C3C7DBDD0D}"/>
              </a:ext>
            </a:extLst>
          </p:cNvPr>
          <p:cNvPicPr>
            <a:picLocks noChangeAspect="1"/>
          </p:cNvPicPr>
          <p:nvPr/>
        </p:nvPicPr>
        <p:blipFill rotWithShape="1">
          <a:blip r:embed="rId2"/>
          <a:srcRect l="866"/>
          <a:stretch/>
        </p:blipFill>
        <p:spPr>
          <a:xfrm>
            <a:off x="1079769" y="1254868"/>
            <a:ext cx="5446231" cy="4900976"/>
          </a:xfrm>
          <a:prstGeom prst="rect">
            <a:avLst/>
          </a:prstGeom>
        </p:spPr>
      </p:pic>
      <p:sp>
        <p:nvSpPr>
          <p:cNvPr id="2" name="Заголовок 1">
            <a:extLst>
              <a:ext uri="{FF2B5EF4-FFF2-40B4-BE49-F238E27FC236}">
                <a16:creationId xmlns:a16="http://schemas.microsoft.com/office/drawing/2014/main" id="{1A297620-2861-82DE-BE68-5441A2264B05}"/>
              </a:ext>
            </a:extLst>
          </p:cNvPr>
          <p:cNvSpPr>
            <a:spLocks noGrp="1"/>
          </p:cNvSpPr>
          <p:nvPr>
            <p:ph type="title"/>
          </p:nvPr>
        </p:nvSpPr>
        <p:spPr>
          <a:xfrm>
            <a:off x="435894" y="702156"/>
            <a:ext cx="8272212" cy="552712"/>
          </a:xfrm>
        </p:spPr>
        <p:txBody>
          <a:bodyPr rtlCol="0">
            <a:noAutofit/>
          </a:bodyPr>
          <a:lstStyle/>
          <a:p>
            <a:r>
              <a:rPr lang="ru" sz="2800" dirty="0"/>
              <a:t>Построение линейной регрессии в </a:t>
            </a:r>
            <a:r>
              <a:rPr lang="en-US" sz="2800" dirty="0"/>
              <a:t>python</a:t>
            </a:r>
            <a:endParaRPr lang="ru" sz="2800" dirty="0"/>
          </a:p>
        </p:txBody>
      </p:sp>
      <p:sp>
        <p:nvSpPr>
          <p:cNvPr id="3" name="Стрелка: изогнутая вниз 2">
            <a:hlinkClick r:id="rId3" action="ppaction://hlinksldjump"/>
            <a:extLst>
              <a:ext uri="{FF2B5EF4-FFF2-40B4-BE49-F238E27FC236}">
                <a16:creationId xmlns:a16="http://schemas.microsoft.com/office/drawing/2014/main" id="{79130028-7818-1D13-BBD0-176645E28EC9}"/>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3396303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E87F9CE5-6FDC-D3AC-066F-1D0D9EAC36F9}"/>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6" name="Рисунок 5">
            <a:extLst>
              <a:ext uri="{FF2B5EF4-FFF2-40B4-BE49-F238E27FC236}">
                <a16:creationId xmlns:a16="http://schemas.microsoft.com/office/drawing/2014/main" id="{8DEB3396-82B3-AC8A-0AEA-25024739C940}"/>
              </a:ext>
            </a:extLst>
          </p:cNvPr>
          <p:cNvPicPr>
            <a:picLocks noChangeAspect="1"/>
          </p:cNvPicPr>
          <p:nvPr/>
        </p:nvPicPr>
        <p:blipFill>
          <a:blip r:embed="rId2"/>
          <a:stretch>
            <a:fillRect/>
          </a:stretch>
        </p:blipFill>
        <p:spPr>
          <a:xfrm>
            <a:off x="557010" y="1064908"/>
            <a:ext cx="8029979" cy="5073245"/>
          </a:xfrm>
          <a:prstGeom prst="rect">
            <a:avLst/>
          </a:prstGeom>
        </p:spPr>
      </p:pic>
      <p:sp>
        <p:nvSpPr>
          <p:cNvPr id="2" name="Стрелка: изогнутая вниз 1">
            <a:hlinkClick r:id="rId3" action="ppaction://hlinksldjump"/>
            <a:extLst>
              <a:ext uri="{FF2B5EF4-FFF2-40B4-BE49-F238E27FC236}">
                <a16:creationId xmlns:a16="http://schemas.microsoft.com/office/drawing/2014/main" id="{90BE37FC-9B62-845C-A46C-BD45ECCDBE56}"/>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4989309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D681EFEC-67FD-272A-1A46-714CA301F8D7}"/>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6" name="Рисунок 5">
            <a:extLst>
              <a:ext uri="{FF2B5EF4-FFF2-40B4-BE49-F238E27FC236}">
                <a16:creationId xmlns:a16="http://schemas.microsoft.com/office/drawing/2014/main" id="{AE009C06-0C47-6770-955B-E5D3B190DED4}"/>
              </a:ext>
            </a:extLst>
          </p:cNvPr>
          <p:cNvPicPr>
            <a:picLocks noChangeAspect="1"/>
          </p:cNvPicPr>
          <p:nvPr/>
        </p:nvPicPr>
        <p:blipFill>
          <a:blip r:embed="rId2"/>
          <a:stretch>
            <a:fillRect/>
          </a:stretch>
        </p:blipFill>
        <p:spPr>
          <a:xfrm>
            <a:off x="532095" y="589165"/>
            <a:ext cx="8079810" cy="5834752"/>
          </a:xfrm>
          <a:prstGeom prst="rect">
            <a:avLst/>
          </a:prstGeom>
        </p:spPr>
      </p:pic>
      <p:sp>
        <p:nvSpPr>
          <p:cNvPr id="2" name="Стрелка: изогнутая вниз 1">
            <a:hlinkClick r:id="rId3" action="ppaction://hlinksldjump"/>
            <a:extLst>
              <a:ext uri="{FF2B5EF4-FFF2-40B4-BE49-F238E27FC236}">
                <a16:creationId xmlns:a16="http://schemas.microsoft.com/office/drawing/2014/main" id="{F58F44FA-EA9B-08AB-CAD0-F30F2972ED72}"/>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9405088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0E101CAE-0B79-75E6-2A9D-A8316B948824}"/>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6" name="Рисунок 5">
            <a:extLst>
              <a:ext uri="{FF2B5EF4-FFF2-40B4-BE49-F238E27FC236}">
                <a16:creationId xmlns:a16="http://schemas.microsoft.com/office/drawing/2014/main" id="{DB7E8A3F-5CD4-16E8-1348-E71E3980A4DF}"/>
              </a:ext>
            </a:extLst>
          </p:cNvPr>
          <p:cNvPicPr>
            <a:picLocks noChangeAspect="1"/>
          </p:cNvPicPr>
          <p:nvPr/>
        </p:nvPicPr>
        <p:blipFill rotWithShape="1">
          <a:blip r:embed="rId2"/>
          <a:srcRect r="26195" b="51224"/>
          <a:stretch/>
        </p:blipFill>
        <p:spPr>
          <a:xfrm>
            <a:off x="305121" y="892222"/>
            <a:ext cx="8533757" cy="5073556"/>
          </a:xfrm>
          <a:prstGeom prst="rect">
            <a:avLst/>
          </a:prstGeom>
        </p:spPr>
      </p:pic>
      <p:sp>
        <p:nvSpPr>
          <p:cNvPr id="2" name="Стрелка: изогнутая вниз 1">
            <a:hlinkClick r:id="rId3" action="ppaction://hlinksldjump"/>
            <a:extLst>
              <a:ext uri="{FF2B5EF4-FFF2-40B4-BE49-F238E27FC236}">
                <a16:creationId xmlns:a16="http://schemas.microsoft.com/office/drawing/2014/main" id="{40B5F85F-3B15-EBDC-5EDD-1FD1F6076B82}"/>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829113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3B9CA401-FABB-8B82-4E62-30F9EBD0E6D9}"/>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5" name="Рисунок 4">
            <a:extLst>
              <a:ext uri="{FF2B5EF4-FFF2-40B4-BE49-F238E27FC236}">
                <a16:creationId xmlns:a16="http://schemas.microsoft.com/office/drawing/2014/main" id="{787411A6-CCF9-A187-747B-D286A8118EED}"/>
              </a:ext>
            </a:extLst>
          </p:cNvPr>
          <p:cNvPicPr>
            <a:picLocks noChangeAspect="1"/>
          </p:cNvPicPr>
          <p:nvPr/>
        </p:nvPicPr>
        <p:blipFill rotWithShape="1">
          <a:blip r:embed="rId2"/>
          <a:srcRect t="47932" r="28909"/>
          <a:stretch/>
        </p:blipFill>
        <p:spPr>
          <a:xfrm>
            <a:off x="555547" y="684439"/>
            <a:ext cx="8032906" cy="5489122"/>
          </a:xfrm>
          <a:prstGeom prst="rect">
            <a:avLst/>
          </a:prstGeom>
        </p:spPr>
      </p:pic>
      <p:sp>
        <p:nvSpPr>
          <p:cNvPr id="2" name="Стрелка: изогнутая вниз 1">
            <a:hlinkClick r:id="rId3" action="ppaction://hlinksldjump"/>
            <a:extLst>
              <a:ext uri="{FF2B5EF4-FFF2-40B4-BE49-F238E27FC236}">
                <a16:creationId xmlns:a16="http://schemas.microsoft.com/office/drawing/2014/main" id="{37B7A7B5-90BC-56EB-3FC2-352430F26509}"/>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1882552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6F923027-0DEC-2E78-A9F2-EEF004C63987}"/>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pic>
        <p:nvPicPr>
          <p:cNvPr id="6" name="Рисунок 5">
            <a:extLst>
              <a:ext uri="{FF2B5EF4-FFF2-40B4-BE49-F238E27FC236}">
                <a16:creationId xmlns:a16="http://schemas.microsoft.com/office/drawing/2014/main" id="{21AFD715-0DD5-E01B-9D3A-CC81309D8D08}"/>
              </a:ext>
            </a:extLst>
          </p:cNvPr>
          <p:cNvPicPr>
            <a:picLocks noChangeAspect="1"/>
          </p:cNvPicPr>
          <p:nvPr/>
        </p:nvPicPr>
        <p:blipFill>
          <a:blip r:embed="rId2"/>
          <a:stretch>
            <a:fillRect/>
          </a:stretch>
        </p:blipFill>
        <p:spPr>
          <a:xfrm>
            <a:off x="513644" y="594019"/>
            <a:ext cx="8116712" cy="6096234"/>
          </a:xfrm>
          <a:prstGeom prst="rect">
            <a:avLst/>
          </a:prstGeom>
        </p:spPr>
      </p:pic>
      <p:sp>
        <p:nvSpPr>
          <p:cNvPr id="2" name="Стрелка: изогнутая вниз 1">
            <a:hlinkClick r:id="rId3" action="ppaction://hlinksldjump"/>
            <a:extLst>
              <a:ext uri="{FF2B5EF4-FFF2-40B4-BE49-F238E27FC236}">
                <a16:creationId xmlns:a16="http://schemas.microsoft.com/office/drawing/2014/main" id="{73CE38AB-0B71-9157-12BE-5BE4DBF8EDB2}"/>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8854164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195987-FD79-E4BB-FCE0-901A2837B0D7}"/>
              </a:ext>
            </a:extLst>
          </p:cNvPr>
          <p:cNvSpPr>
            <a:spLocks noGrp="1"/>
          </p:cNvSpPr>
          <p:nvPr>
            <p:ph type="title"/>
          </p:nvPr>
        </p:nvSpPr>
        <p:spPr>
          <a:xfrm>
            <a:off x="593938" y="2240279"/>
            <a:ext cx="8272212" cy="1485053"/>
          </a:xfrm>
        </p:spPr>
        <p:txBody>
          <a:bodyPr>
            <a:normAutofit/>
          </a:bodyPr>
          <a:lstStyle/>
          <a:p>
            <a:pPr algn="ctr"/>
            <a:r>
              <a:rPr lang="ru-RU" sz="6000" b="1" cap="none" dirty="0">
                <a:ln w="22225">
                  <a:solidFill>
                    <a:schemeClr val="accent2"/>
                  </a:solidFill>
                  <a:prstDash val="solid"/>
                </a:ln>
                <a:solidFill>
                  <a:schemeClr val="accent2">
                    <a:lumMod val="40000"/>
                    <a:lumOff val="60000"/>
                  </a:schemeClr>
                </a:solidFill>
              </a:rPr>
              <a:t>Спасибо за внимание!</a:t>
            </a:r>
          </a:p>
        </p:txBody>
      </p:sp>
      <p:sp>
        <p:nvSpPr>
          <p:cNvPr id="4" name="Дата 3">
            <a:extLst>
              <a:ext uri="{FF2B5EF4-FFF2-40B4-BE49-F238E27FC236}">
                <a16:creationId xmlns:a16="http://schemas.microsoft.com/office/drawing/2014/main" id="{5B814997-6E61-EA1C-A3F5-E37C9AE55649}"/>
              </a:ext>
            </a:extLst>
          </p:cNvPr>
          <p:cNvSpPr>
            <a:spLocks noGrp="1"/>
          </p:cNvSpPr>
          <p:nvPr>
            <p:ph type="dt" sz="half" idx="10"/>
          </p:nvPr>
        </p:nvSpPr>
        <p:spPr/>
        <p:txBody>
          <a:bodyPr/>
          <a:lstStyle/>
          <a:p>
            <a:pPr rtl="0"/>
            <a:fld id="{6E13CF11-4D7C-4367-8D00-578223D03103}" type="datetime1">
              <a:rPr lang="ru-RU" smtClean="0"/>
              <a:t>03.12.2024</a:t>
            </a:fld>
            <a:endParaRPr lang="en-US" dirty="0"/>
          </a:p>
        </p:txBody>
      </p:sp>
      <p:sp>
        <p:nvSpPr>
          <p:cNvPr id="3" name="Стрелка: изогнутая вниз 2">
            <a:hlinkClick r:id="rId2" action="ppaction://hlinksldjump"/>
            <a:extLst>
              <a:ext uri="{FF2B5EF4-FFF2-40B4-BE49-F238E27FC236}">
                <a16:creationId xmlns:a16="http://schemas.microsoft.com/office/drawing/2014/main" id="{D45AF4AA-45BE-A929-0EAF-C31F22C6123E}"/>
              </a:ext>
            </a:extLst>
          </p:cNvPr>
          <p:cNvSpPr/>
          <p:nvPr/>
        </p:nvSpPr>
        <p:spPr>
          <a:xfrm flipH="1">
            <a:off x="8216153" y="6235500"/>
            <a:ext cx="591671" cy="365125"/>
          </a:xfrm>
          <a:prstGeom prst="curvedDownArrow">
            <a:avLst>
              <a:gd name="adj1" fmla="val 32075"/>
              <a:gd name="adj2" fmla="val 81023"/>
              <a:gd name="adj3" fmla="val 397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6" name="TextBox 5">
            <a:extLst>
              <a:ext uri="{FF2B5EF4-FFF2-40B4-BE49-F238E27FC236}">
                <a16:creationId xmlns:a16="http://schemas.microsoft.com/office/drawing/2014/main" id="{A922FAC0-9E7A-35A0-A9D3-B75322D39D6D}"/>
              </a:ext>
            </a:extLst>
          </p:cNvPr>
          <p:cNvSpPr txBox="1"/>
          <p:nvPr/>
        </p:nvSpPr>
        <p:spPr>
          <a:xfrm>
            <a:off x="2097741" y="4426418"/>
            <a:ext cx="5472953" cy="369332"/>
          </a:xfrm>
          <a:prstGeom prst="rect">
            <a:avLst/>
          </a:prstGeom>
          <a:noFill/>
        </p:spPr>
        <p:txBody>
          <a:bodyPr wrap="square">
            <a:spAutoFit/>
          </a:bodyPr>
          <a:lstStyle/>
          <a:p>
            <a:r>
              <a:rPr lang="ru-RU" dirty="0"/>
              <a:t>Тест             https://forms.gle/eraJ8sCMDiFqQ2jA9</a:t>
            </a:r>
          </a:p>
        </p:txBody>
      </p:sp>
    </p:spTree>
    <p:extLst>
      <p:ext uri="{BB962C8B-B14F-4D97-AF65-F5344CB8AC3E}">
        <p14:creationId xmlns:p14="http://schemas.microsoft.com/office/powerpoint/2010/main" val="3272928916"/>
      </p:ext>
    </p:extLst>
  </p:cSld>
  <p:clrMapOvr>
    <a:masterClrMapping/>
  </p:clrMapOvr>
</p:sld>
</file>

<file path=ppt/theme/theme1.xml><?xml version="1.0" encoding="utf-8"?>
<a:theme xmlns:a="http://schemas.openxmlformats.org/drawingml/2006/main" name="Дивиденд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41798998_TF33552983" id="{160FF37C-0DDC-4D2E-AEAD-253EF6364DF1}" vid="{EC99DBC3-C858-4F3A-82DD-48D686A36DB8}"/>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{9BCAB678-7DC0-4D38-B232-0795AD024B44}tf33552983_win32</Template>
  <TotalTime>1669</TotalTime>
  <Words>1551</Words>
  <Application>Microsoft Office PowerPoint</Application>
  <PresentationFormat>Экран (4:3)</PresentationFormat>
  <Paragraphs>183</Paragraphs>
  <Slides>40</Slides>
  <Notes>15</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40</vt:i4>
      </vt:variant>
    </vt:vector>
  </HeadingPairs>
  <TitlesOfParts>
    <vt:vector size="50" baseType="lpstr">
      <vt:lpstr>YS Text</vt:lpstr>
      <vt:lpstr>Arial</vt:lpstr>
      <vt:lpstr>Calibri</vt:lpstr>
      <vt:lpstr>Cambria Math</vt:lpstr>
      <vt:lpstr>Corbel</vt:lpstr>
      <vt:lpstr>Franklin Gothic Book</vt:lpstr>
      <vt:lpstr>Franklin Gothic Demi</vt:lpstr>
      <vt:lpstr>Symbol</vt:lpstr>
      <vt:lpstr>Wingdings 2</vt:lpstr>
      <vt:lpstr>ДивидендVTI</vt:lpstr>
      <vt:lpstr>Элементы машинного обучения machine learning (ML)</vt:lpstr>
      <vt:lpstr>Цель занятия</vt:lpstr>
      <vt:lpstr>План занятия</vt:lpstr>
      <vt:lpstr>1. Повторение изученного</vt:lpstr>
      <vt:lpstr>1. Повторение изученного</vt:lpstr>
      <vt:lpstr>Презентация PowerPoint</vt:lpstr>
      <vt:lpstr>Презентация PowerPoint</vt:lpstr>
      <vt:lpstr>Презентация PowerPoint</vt:lpstr>
      <vt:lpstr>Что такое обучение?</vt:lpstr>
      <vt:lpstr>Презентация PowerPoint</vt:lpstr>
      <vt:lpstr>Презентация PowerPoint</vt:lpstr>
      <vt:lpstr>Введение в прогнозирование и машинное обучение</vt:lpstr>
      <vt:lpstr>Презентация PowerPoint</vt:lpstr>
      <vt:lpstr>Презентация PowerPoint</vt:lpstr>
      <vt:lpstr>матрица объектов-признаков</vt:lpstr>
      <vt:lpstr>Задача обучения – </vt:lpstr>
      <vt:lpstr>Презентация PowerPoint</vt:lpstr>
      <vt:lpstr>Отыскание зависимости</vt:lpstr>
      <vt:lpstr>Машинное обучение — </vt:lpstr>
      <vt:lpstr>Обучение с учителем</vt:lpstr>
      <vt:lpstr>Презентация PowerPoint</vt:lpstr>
      <vt:lpstr>Обучение с учителем Классификация</vt:lpstr>
      <vt:lpstr>Обучение с учителем регрессия</vt:lpstr>
      <vt:lpstr>Презентация PowerPoint</vt:lpstr>
      <vt:lpstr>Обучение без учителя</vt:lpstr>
      <vt:lpstr>Презентация PowerPoint</vt:lpstr>
      <vt:lpstr>Обучение без учителя</vt:lpstr>
      <vt:lpstr>Обучение без учителя кластеризация</vt:lpstr>
      <vt:lpstr>Презентация PowerPoint</vt:lpstr>
      <vt:lpstr>Презентация PowerPoint</vt:lpstr>
      <vt:lpstr>Презентация PowerPoint</vt:lpstr>
      <vt:lpstr>Обучение с учителем</vt:lpstr>
      <vt:lpstr>Оценка качества модели</vt:lpstr>
      <vt:lpstr>Построение линейной регрессии в python</vt:lpstr>
      <vt:lpstr>Презентация PowerPoint</vt:lpstr>
      <vt:lpstr>Презентация PowerPoint</vt:lpstr>
      <vt:lpstr>Презентация PowerPoint</vt:lpstr>
      <vt:lpstr>Презентация PowerPoint</vt:lpstr>
      <vt:lpstr>Презентация PowerPoint</vt:lpstr>
      <vt:lpstr>Спасибо за внимание!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Элементы машинного обучения machine learning (ML)</dc:title>
  <dc:creator>Ирина Бартасевич</dc:creator>
  <cp:lastModifiedBy>Ирина Бартасевич</cp:lastModifiedBy>
  <cp:revision>23</cp:revision>
  <dcterms:created xsi:type="dcterms:W3CDTF">2022-10-31T19:47:18Z</dcterms:created>
  <dcterms:modified xsi:type="dcterms:W3CDTF">2024-12-03T22:12:23Z</dcterms:modified>
</cp:coreProperties>
</file>