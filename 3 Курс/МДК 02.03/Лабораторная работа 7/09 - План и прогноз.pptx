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7" r:id="rId8"/>
    <p:sldId id="278" r:id="rId9"/>
    <p:sldId id="279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80" r:id="rId20"/>
    <p:sldId id="281" r:id="rId21"/>
    <p:sldId id="272" r:id="rId22"/>
    <p:sldId id="273" r:id="rId23"/>
    <p:sldId id="274" r:id="rId24"/>
    <p:sldId id="275" r:id="rId25"/>
    <p:sldId id="276" r:id="rId26"/>
    <p:sldId id="282" r:id="rId27"/>
    <p:sldId id="283" r:id="rId28"/>
    <p:sldId id="286" r:id="rId29"/>
    <p:sldId id="284" r:id="rId30"/>
    <p:sldId id="285" r:id="rId31"/>
    <p:sldId id="287" r:id="rId32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94660"/>
  </p:normalViewPr>
  <p:slideViewPr>
    <p:cSldViewPr>
      <p:cViewPr>
        <p:scale>
          <a:sx n="100" d="100"/>
          <a:sy n="100" d="100"/>
        </p:scale>
        <p:origin x="94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hp\Documents\&#1040;&#1043;&#1058;&#1059;\&#1076;&#1080;&#1089;&#1082;%20&#1076;\&#1080;&#1088;&#1080;&#1085;&#1072;\&#1080;&#1085;&#1092;&#1086;&#1088;&#1084;&#1072;&#1090;&#1080;&#1082;&#1072;\&#1048;&#1085;&#1092;&#1086;&#1088;&#1084;&#1072;&#1094;&#1080;&#1086;&#1085;&#1085;&#1099;&#1077;%20&#1090;&#1077;&#1093;&#1085;&#1086;&#1083;&#1086;&#1075;&#1080;&#1080;\&#1052;&#1077;&#1090;&#1086;&#1076;%20&#1085;&#1072;&#1080;&#1084;%20&#1082;&#1074;&#1072;&#1083;&#1088;&#1072;&#1090;&#1086;&#1074;.xl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1" i="0" u="none" strike="noStrike" baseline="0">
                <a:solidFill>
                  <a:srgbClr val="000000"/>
                </a:solidFill>
                <a:latin typeface="Arial Cyr"/>
                <a:ea typeface="Arial Cyr"/>
                <a:cs typeface="Arial Cyr"/>
              </a:defRPr>
            </a:pPr>
            <a:r>
              <a:rPr lang="ru-RU" dirty="0"/>
              <a:t>Линейная</a:t>
            </a:r>
          </a:p>
        </c:rich>
      </c:tx>
      <c:layout>
        <c:manualLayout>
          <c:xMode val="edge"/>
          <c:yMode val="edge"/>
          <c:x val="0.41290939895567158"/>
          <c:y val="3.2016118579417101E-2"/>
        </c:manualLayout>
      </c:layout>
      <c:overlay val="0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10676015312719389"/>
          <c:y val="0.11070727591114214"/>
          <c:w val="0.73339620065855582"/>
          <c:h val="0.80987033186788771"/>
        </c:manualLayout>
      </c:layout>
      <c:lineChart>
        <c:grouping val="standard"/>
        <c:varyColors val="0"/>
        <c:ser>
          <c:idx val="0"/>
          <c:order val="0"/>
          <c:tx>
            <c:strRef>
              <c:f>Лист1!$D$21</c:f>
              <c:strCache>
                <c:ptCount val="1"/>
                <c:pt idx="0">
                  <c:v>y</c:v>
                </c:pt>
              </c:strCache>
            </c:strRef>
          </c:tx>
          <c:spPr>
            <a:ln w="25400">
              <a:solidFill>
                <a:srgbClr val="000080"/>
              </a:solidFill>
              <a:prstDash val="solid"/>
            </a:ln>
          </c:spPr>
          <c:marker>
            <c:symbol val="diamond"/>
            <c:size val="5"/>
            <c:spPr>
              <a:solidFill>
                <a:srgbClr val="000080"/>
              </a:solidFill>
              <a:ln>
                <a:solidFill>
                  <a:srgbClr val="000080"/>
                </a:solidFill>
                <a:prstDash val="solid"/>
              </a:ln>
            </c:spPr>
          </c:marker>
          <c:cat>
            <c:numRef>
              <c:f>Лист1!$C$22:$C$31</c:f>
              <c:numCache>
                <c:formatCode>General</c:formatCode>
                <c:ptCount val="10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</c:numCache>
            </c:numRef>
          </c:cat>
          <c:val>
            <c:numRef>
              <c:f>Лист1!$D$22:$D$31</c:f>
              <c:numCache>
                <c:formatCode>General</c:formatCode>
                <c:ptCount val="10"/>
                <c:pt idx="0">
                  <c:v>-4</c:v>
                </c:pt>
                <c:pt idx="1">
                  <c:v>-2</c:v>
                </c:pt>
                <c:pt idx="2">
                  <c:v>-2</c:v>
                </c:pt>
                <c:pt idx="3">
                  <c:v>-1</c:v>
                </c:pt>
                <c:pt idx="4">
                  <c:v>0</c:v>
                </c:pt>
                <c:pt idx="5">
                  <c:v>1</c:v>
                </c:pt>
                <c:pt idx="6">
                  <c:v>2</c:v>
                </c:pt>
                <c:pt idx="7">
                  <c:v>2</c:v>
                </c:pt>
                <c:pt idx="8">
                  <c:v>3</c:v>
                </c:pt>
                <c:pt idx="9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616-4216-93EF-0DDBCD8D3699}"/>
            </c:ext>
          </c:extLst>
        </c:ser>
        <c:ser>
          <c:idx val="1"/>
          <c:order val="1"/>
          <c:tx>
            <c:strRef>
              <c:f>Лист1!$E$21</c:f>
              <c:strCache>
                <c:ptCount val="1"/>
                <c:pt idx="0">
                  <c:v>y-прибл</c:v>
                </c:pt>
              </c:strCache>
            </c:strRef>
          </c:tx>
          <c:spPr>
            <a:ln w="25400">
              <a:solidFill>
                <a:schemeClr val="accent2"/>
              </a:solidFill>
              <a:prstDash val="solid"/>
            </a:ln>
          </c:spPr>
          <c:marker>
            <c:symbol val="square"/>
            <c:size val="5"/>
            <c:spPr>
              <a:solidFill>
                <a:srgbClr val="FF00FF"/>
              </a:solidFill>
              <a:ln>
                <a:solidFill>
                  <a:srgbClr val="FF00FF"/>
                </a:solidFill>
                <a:prstDash val="solid"/>
              </a:ln>
            </c:spPr>
          </c:marker>
          <c:cat>
            <c:numRef>
              <c:f>Лист1!$C$22:$C$31</c:f>
              <c:numCache>
                <c:formatCode>General</c:formatCode>
                <c:ptCount val="10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</c:numCache>
            </c:numRef>
          </c:cat>
          <c:val>
            <c:numRef>
              <c:f>Лист1!$E$22:$E$31</c:f>
              <c:numCache>
                <c:formatCode>0.00</c:formatCode>
                <c:ptCount val="10"/>
                <c:pt idx="0">
                  <c:v>-3.581818181818182</c:v>
                </c:pt>
                <c:pt idx="1">
                  <c:v>-2.6969696969696972</c:v>
                </c:pt>
                <c:pt idx="2">
                  <c:v>-1.8121212121212122</c:v>
                </c:pt>
                <c:pt idx="3">
                  <c:v>-0.92727272727272725</c:v>
                </c:pt>
                <c:pt idx="4">
                  <c:v>-4.2424242424242475E-2</c:v>
                </c:pt>
                <c:pt idx="5">
                  <c:v>0.84242424242424274</c:v>
                </c:pt>
                <c:pt idx="6">
                  <c:v>1.7272727272727275</c:v>
                </c:pt>
                <c:pt idx="7">
                  <c:v>2.6121212121212123</c:v>
                </c:pt>
                <c:pt idx="8">
                  <c:v>3.4969696969696971</c:v>
                </c:pt>
                <c:pt idx="9">
                  <c:v>4.3818181818181818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616-4216-93EF-0DDBCD8D36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58069600"/>
        <c:axId val="1"/>
      </c:lineChart>
      <c:catAx>
        <c:axId val="145806960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Arial Cyr"/>
                    <a:ea typeface="Arial Cyr"/>
                    <a:cs typeface="Arial Cyr"/>
                  </a:defRPr>
                </a:pPr>
                <a:r>
                  <a:rPr lang="en-US"/>
                  <a:t>x</a:t>
                </a:r>
              </a:p>
            </c:rich>
          </c:tx>
          <c:layout>
            <c:manualLayout>
              <c:xMode val="edge"/>
              <c:yMode val="edge"/>
              <c:x val="0.44427638305567974"/>
              <c:y val="0.90963393508101587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 Cyr"/>
                <a:ea typeface="Arial Cyr"/>
                <a:cs typeface="Arial Cyr"/>
              </a:defRPr>
            </a:pPr>
            <a:endParaRPr lang="ru-RU"/>
          </a:p>
        </c:txPr>
        <c:crossAx val="1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1"/>
        <c:scaling>
          <c:orientation val="minMax"/>
        </c:scaling>
        <c:delete val="0"/>
        <c:axPos val="l"/>
        <c:majorGridlines>
          <c:spPr>
            <a:ln w="3175">
              <a:solidFill>
                <a:srgbClr val="000000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Arial Cyr"/>
                    <a:ea typeface="Arial Cyr"/>
                    <a:cs typeface="Arial Cyr"/>
                  </a:defRPr>
                </a:pPr>
                <a:r>
                  <a:rPr lang="en-US"/>
                  <a:t>f(x)</a:t>
                </a:r>
              </a:p>
            </c:rich>
          </c:tx>
          <c:layout>
            <c:manualLayout>
              <c:xMode val="edge"/>
              <c:yMode val="edge"/>
              <c:x val="3.1148528701320722E-2"/>
              <c:y val="0.49530791910208516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 Cyr"/>
                <a:ea typeface="Arial Cyr"/>
                <a:cs typeface="Arial Cyr"/>
              </a:defRPr>
            </a:pPr>
            <a:endParaRPr lang="ru-RU"/>
          </a:p>
        </c:txPr>
        <c:crossAx val="1458069600"/>
        <c:crosses val="autoZero"/>
        <c:crossBetween val="between"/>
      </c:valAx>
      <c:spPr>
        <a:noFill/>
        <a:ln w="12700">
          <a:solidFill>
            <a:srgbClr val="808080"/>
          </a:solidFill>
          <a:prstDash val="solid"/>
        </a:ln>
      </c:spPr>
    </c:plotArea>
    <c:legend>
      <c:legendPos val="r"/>
      <c:layout>
        <c:manualLayout>
          <c:xMode val="edge"/>
          <c:yMode val="edge"/>
          <c:x val="0.86146855432138747"/>
          <c:y val="0.43076651095204588"/>
          <c:w val="0.11695311632040883"/>
          <c:h val="0.20522940131872469"/>
        </c:manualLayout>
      </c:layout>
      <c:overlay val="0"/>
      <c:spPr>
        <a:solidFill>
          <a:srgbClr val="FFFFFF"/>
        </a:solidFill>
        <a:ln w="3175">
          <a:solidFill>
            <a:srgbClr val="000000"/>
          </a:solidFill>
          <a:prstDash val="solid"/>
        </a:ln>
      </c:spPr>
      <c:txPr>
        <a:bodyPr/>
        <a:lstStyle/>
        <a:p>
          <a:pPr>
            <a:defRPr sz="920" b="0" i="0" u="none" strike="noStrike" baseline="0">
              <a:solidFill>
                <a:srgbClr val="000000"/>
              </a:solidFill>
              <a:latin typeface="Arial Cyr"/>
              <a:ea typeface="Arial Cyr"/>
              <a:cs typeface="Arial Cyr"/>
            </a:defRPr>
          </a:pPr>
          <a:endParaRPr lang="ru-RU"/>
        </a:p>
      </c:txPr>
    </c:legend>
    <c:plotVisOnly val="1"/>
    <c:dispBlanksAs val="gap"/>
    <c:showDLblsOverMax val="0"/>
  </c:chart>
  <c:spPr>
    <a:solidFill>
      <a:srgbClr val="FFFFFF"/>
    </a:solidFill>
    <a:ln w="3175">
      <a:solidFill>
        <a:srgbClr val="000000"/>
      </a:solidFill>
      <a:prstDash val="solid"/>
    </a:ln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Arial Cyr"/>
          <a:ea typeface="Arial Cyr"/>
          <a:cs typeface="Arial Cyr"/>
        </a:defRPr>
      </a:pPr>
      <a:endParaRPr lang="ru-RU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C71BB9D-8A86-4D86-A62C-24919074B40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ru-RU" altLang="ru-RU" noProof="0"/>
              <a:t>Образец заголовка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A9EB2496-B299-46D0-B6FB-08D71F00776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lvl="0"/>
            <a:r>
              <a:rPr lang="ru-RU" altLang="ru-RU" noProof="0"/>
              <a:t>Образец подзаголовка</a:t>
            </a: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1E5462E2-79BB-4838-8CFD-91482803351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98E88A5A-98A9-4B30-B64B-CA5E3AFCD48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97B09A91-0415-4A05-92EF-A650D36090D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11DAEC70-11AC-4CD6-B94C-BEBB57D1560C}" type="slidenum">
              <a:rPr lang="ru-RU" altLang="ru-RU"/>
              <a:pPr/>
              <a:t>‹#›</a:t>
            </a:fld>
            <a:endParaRPr lang="ru-RU" altLang="ru-RU"/>
          </a:p>
        </p:txBody>
      </p:sp>
      <p:sp>
        <p:nvSpPr>
          <p:cNvPr id="21511" name="AutoShape 7">
            <a:extLst>
              <a:ext uri="{FF2B5EF4-FFF2-40B4-BE49-F238E27FC236}">
                <a16:creationId xmlns:a16="http://schemas.microsoft.com/office/drawing/2014/main" id="{3E7B8A4C-8F8F-4E28-B571-23C536F65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  <a:gd name="T0" fmla="*/ 0 w 1000"/>
              <a:gd name="T1" fmla="*/ 0 h 1000"/>
              <a:gd name="T2" fmla="*/ 618 w 1000"/>
              <a:gd name="T3" fmla="*/ 0 h 1000"/>
              <a:gd name="T4" fmla="*/ 618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ru-RU" altLang="ru-RU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B52462-DD20-442E-B45C-4DCB873C2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8A40F0-DBB8-4EB5-9FB3-994D7DD73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0E90A7-9BCF-4AB8-9760-43437F19A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EDC977-1B15-46FA-A430-C7F7DD137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53A077-4782-4088-BB2C-413A030F4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F3EE8F-366E-4D0C-B5DD-E8C2E3E413E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2661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928BC1-D1CE-4C0A-BFBD-DD490F957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F95D71C-7539-49B7-ADA2-64A492778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D44853-CCD2-41D9-9BC3-2C90624E0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7CC8BD-997A-4DC9-9F6D-0CF9A7B7D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02FC2E-FCB4-48FE-86A5-AD06D703D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F44B5D-BFFD-48C4-A2EF-EDA64A06B629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621255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63499F-8195-4B44-AA78-00B0E2FA7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2A4918-5B0F-464A-BF73-919F621C21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CCE6F62-0228-4850-8D0F-1364B6816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699FD28-F91B-405F-AD9C-59B07794D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816600-7374-49DD-A1C4-980B45CAE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10FC18C-3EF8-4B3D-B77D-71AEA2245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720193-0A80-4297-BC24-29EF36338CA1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47711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48AA84-64F9-4751-B4E5-FBEF35F69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BCC097D-8F55-46E8-A76B-DACACA94C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F6F8074-2C86-459B-B9DF-0325130B6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497CCD9-948B-487E-A2E2-8D2F161EC7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3144EF0-86B5-4685-810B-9DE5BD934A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DF21E07-5798-4165-9CB4-C355B205E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6C45AC9-5EB8-47CD-B9BC-4A45621F6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F72C45E-C728-499A-9E8D-C90A23BBE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877909-0B6D-45B9-A95C-AD0D5C931308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07528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065515-0B3A-4239-905B-F97A3D449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3FFB1DF-7305-4C1C-8A03-CEA454ACA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6A4FE6C-EBB4-4336-B803-29F833A8E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9EB96CD-7E73-45AE-9DA7-6BE3E4E46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9BA0A4-452E-4089-99D9-2CDFEB0B7D7D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45251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E295F9A-2B4E-4B42-82ED-B30240BE3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1F31A70-77AF-4F60-8C14-153270099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59D0FD-467B-47B2-8BD9-F156FC8AF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F21BF7-15C9-4016-82C7-291ACB7265B1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28203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DC7916-3818-46F6-9AB7-72FC75714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4ACFDF-EBE3-485D-B18B-2A44CB48B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395CEB-73D2-4E28-954F-342B43F49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ABC5BAF-FDB4-4090-AB4D-8CFF8D2FF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747DB1-3DB7-4F60-9B16-9B1E9A7DA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691163-479A-4DD2-923C-D9893CB3C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6979FF-20D9-4491-B267-6BF2E21EA4D7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68908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3E752F-A03F-4911-8736-659685588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C6EB3BC-E74F-475F-AD6E-023C38A077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F4DB03C-D00F-4294-A67A-C9B4BD74B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75EEA3-0039-4F89-8BF3-DA3D9BC85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6961735-9668-4A48-9DB0-67DDB12C9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6AB673D-7DEA-49DE-8B0C-D0D3D5C37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081C3A-749F-4B68-8131-08F1BFF38CC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319613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1E4F8C-7641-4FC2-8EEA-1E9814B73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5C3932A-B9F4-4D0B-9A77-0FC32AD57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99A11E-B117-4938-9769-54EA19063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82985B-D975-4E50-B9E2-D243DD56B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D89DC1-C119-4263-B22A-7AFE9965A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BD11E-604A-4AAD-B90B-83256AA73D05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670573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E845739-5B52-433F-BB84-547F37AF9E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379039C-CD2B-4FE2-82EC-5299A9C346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D159F8-4ADA-45CC-A287-71DCE1F9C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D6C010-9FCE-44A3-AE58-24011AF2A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459DA1-59DB-496F-A980-42626B1E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D86D0A-417B-4EB7-95D2-FC5A37F6AFCF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79871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656964-82B6-495E-B1E9-1F3CC72BC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>
            <a:extLst>
              <a:ext uri="{FF2B5EF4-FFF2-40B4-BE49-F238E27FC236}">
                <a16:creationId xmlns:a16="http://schemas.microsoft.com/office/drawing/2014/main" id="{CE917191-8993-41AD-83B9-78074C6D2371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566738" y="1752600"/>
            <a:ext cx="8001000" cy="4267200"/>
          </a:xfrm>
        </p:spPr>
        <p:txBody>
          <a:bodyPr/>
          <a:lstStyle/>
          <a:p>
            <a:endParaRPr lang="ru-RU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31901A-E776-4419-80A1-FF22F05425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D04CF0-1237-4A49-8251-1AA39A4D4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5C35D4-A68C-4A78-BED3-536FB8EE7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</p:spPr>
        <p:txBody>
          <a:bodyPr/>
          <a:lstStyle>
            <a:lvl1pPr>
              <a:defRPr/>
            </a:lvl1pPr>
          </a:lstStyle>
          <a:p>
            <a:fld id="{8C504816-5CE5-4C12-9E3F-976076FA48F0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376118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040FC3-65E2-44C2-BF31-7951F224A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8D560AE-A8E3-4DE1-816F-30CBA5A3333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91CB723-99C2-4B4E-9A8A-236C33E7A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5D97B1E-2A29-4284-AA48-EB2EE07240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9BD44C3-BD8B-4551-A0AD-03852E49B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F4DDB73-9DB5-48B4-8355-649540BA2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</p:spPr>
        <p:txBody>
          <a:bodyPr/>
          <a:lstStyle>
            <a:lvl1pPr>
              <a:defRPr/>
            </a:lvl1pPr>
          </a:lstStyle>
          <a:p>
            <a:fld id="{14211E27-D6BE-4477-B777-1D86F77037B0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874458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B71DEE56-FFDA-4015-B818-1CBCC3B3D2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0809B6D2-5952-4141-B4C1-7D78934C42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20484" name="AutoShape 4">
            <a:extLst>
              <a:ext uri="{FF2B5EF4-FFF2-40B4-BE49-F238E27FC236}">
                <a16:creationId xmlns:a16="http://schemas.microsoft.com/office/drawing/2014/main" id="{E2D2C619-D66C-4CF2-B59D-F6BF0ACED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G0" fmla="+- 585 0 0"/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ru-RU" altLang="ru-RU" sz="2400">
              <a:latin typeface="Times New Roman" panose="02020603050405020304" pitchFamily="18" charset="0"/>
            </a:endParaRPr>
          </a:p>
        </p:txBody>
      </p:sp>
      <p:sp>
        <p:nvSpPr>
          <p:cNvPr id="20485" name="Line 5">
            <a:extLst>
              <a:ext uri="{FF2B5EF4-FFF2-40B4-BE49-F238E27FC236}">
                <a16:creationId xmlns:a16="http://schemas.microsoft.com/office/drawing/2014/main" id="{FABB2F0E-7D57-4D47-B576-79F41211BD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0486" name="Rectangle 6">
            <a:extLst>
              <a:ext uri="{FF2B5EF4-FFF2-40B4-BE49-F238E27FC236}">
                <a16:creationId xmlns:a16="http://schemas.microsoft.com/office/drawing/2014/main" id="{C1A85CC3-F418-4266-BEAB-2A7C4EFD8A0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 altLang="ru-RU"/>
          </a:p>
        </p:txBody>
      </p:sp>
      <p:sp>
        <p:nvSpPr>
          <p:cNvPr id="20487" name="Rectangle 7">
            <a:extLst>
              <a:ext uri="{FF2B5EF4-FFF2-40B4-BE49-F238E27FC236}">
                <a16:creationId xmlns:a16="http://schemas.microsoft.com/office/drawing/2014/main" id="{939A6D09-B416-4A5D-B43E-8E70A18F534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endParaRPr lang="ru-RU" altLang="ru-RU"/>
          </a:p>
        </p:txBody>
      </p:sp>
      <p:sp>
        <p:nvSpPr>
          <p:cNvPr id="20488" name="Rectangle 8">
            <a:extLst>
              <a:ext uri="{FF2B5EF4-FFF2-40B4-BE49-F238E27FC236}">
                <a16:creationId xmlns:a16="http://schemas.microsoft.com/office/drawing/2014/main" id="{FBA5CB48-9179-432D-81A3-1E2D553CF0D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4A74EFC-3F3C-43F9-91A5-C9AE82E47472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</p:sldLayoutIdLst>
  <p:txStyles>
    <p:titleStyle>
      <a:lvl1pPr algn="l" rtl="0" fontAlgn="base">
        <a:spcBef>
          <a:spcPct val="0"/>
        </a:spcBef>
        <a:spcAft>
          <a:spcPct val="0"/>
        </a:spcAft>
        <a:defRPr sz="38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9pPr>
    </p:titleStyle>
    <p:bodyStyle>
      <a:lvl1pPr marL="469900" indent="-4699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288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93863" indent="-38735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39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5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8.wmf"/><Relationship Id="rId7" Type="http://schemas.openxmlformats.org/officeDocument/2006/relationships/image" Target="../media/image10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1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2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D74438E-17E1-42EC-9824-7B15EE63DBB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ru-RU" altLang="ru-RU" b="1" dirty="0"/>
              <a:t>Понятие прогноза</a:t>
            </a:r>
            <a:r>
              <a:rPr lang="ru-RU" altLang="ru-RU" dirty="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195A527-F37A-4432-91F8-39908CB50C3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47800" y="3284984"/>
            <a:ext cx="7010400" cy="2304256"/>
          </a:xfrm>
        </p:spPr>
        <p:txBody>
          <a:bodyPr/>
          <a:lstStyle/>
          <a:p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Количественные методы прогнозирования: скользящие средние, экспоненциальное сглаживание, проектирование тренда</a:t>
            </a:r>
          </a:p>
          <a:p>
            <a:endParaRPr lang="ru-R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Качественные методы прогноза</a:t>
            </a:r>
            <a:endParaRPr lang="ru-RU" altLang="ru-RU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AC3B6BE-DDEA-4B87-8054-9147EA258E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b="1"/>
              <a:t>Основные понятия</a:t>
            </a:r>
            <a:r>
              <a:rPr lang="ru-RU" altLang="ru-RU"/>
              <a:t> 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7DE4D634-DE25-42E9-BBD4-187FFB432E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sz="2600"/>
              <a:t>Прогноз – вероятностное научно-обоснованное суждение о перспективах, возможных состояниях того или иного явления в будущем и (или) об альтернативных путях и сроках их осуществления</a:t>
            </a:r>
          </a:p>
          <a:p>
            <a:r>
              <a:rPr lang="ru-RU" altLang="ru-RU" sz="2600"/>
              <a:t>План – решение относительно системы мероприятий, предусматривающее их последовательность и сроки выполнения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5" name="Rectangle 119">
            <a:extLst>
              <a:ext uri="{FF2B5EF4-FFF2-40B4-BE49-F238E27FC236}">
                <a16:creationId xmlns:a16="http://schemas.microsoft.com/office/drawing/2014/main" id="{F96ADA61-14A8-4207-B18F-ED341F880A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b="1"/>
              <a:t>Основные понятия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27960575-F272-4157-BC10-FB6DD713C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768475"/>
            <a:ext cx="8135937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 sz="2800">
                <a:latin typeface="Arial" panose="020B0604020202020204" pitchFamily="34" charset="0"/>
              </a:rPr>
              <a:t>Планирование действия и прогнозирование результата</a:t>
            </a:r>
          </a:p>
        </p:txBody>
      </p:sp>
      <p:sp>
        <p:nvSpPr>
          <p:cNvPr id="4162" name="Rectangle 66">
            <a:extLst>
              <a:ext uri="{FF2B5EF4-FFF2-40B4-BE49-F238E27FC236}">
                <a16:creationId xmlns:a16="http://schemas.microsoft.com/office/drawing/2014/main" id="{7A5AE24E-5DAC-4E18-9B4D-4149C45E5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16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4228" name="Group 132">
            <a:extLst>
              <a:ext uri="{FF2B5EF4-FFF2-40B4-BE49-F238E27FC236}">
                <a16:creationId xmlns:a16="http://schemas.microsoft.com/office/drawing/2014/main" id="{EBC6AE7A-AAC9-4D0A-A42B-DA92C2FE66C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54050" y="3582988"/>
          <a:ext cx="7710488" cy="725488"/>
        </p:xfrm>
        <a:graphic>
          <a:graphicData uri="http://schemas.openxmlformats.org/drawingml/2006/table">
            <a:tbl>
              <a:tblPr/>
              <a:tblGrid>
                <a:gridCol w="2570163">
                  <a:extLst>
                    <a:ext uri="{9D8B030D-6E8A-4147-A177-3AD203B41FA5}">
                      <a16:colId xmlns:a16="http://schemas.microsoft.com/office/drawing/2014/main" val="184392914"/>
                    </a:ext>
                  </a:extLst>
                </a:gridCol>
                <a:gridCol w="2570162">
                  <a:extLst>
                    <a:ext uri="{9D8B030D-6E8A-4147-A177-3AD203B41FA5}">
                      <a16:colId xmlns:a16="http://schemas.microsoft.com/office/drawing/2014/main" val="2294099393"/>
                    </a:ext>
                  </a:extLst>
                </a:gridCol>
                <a:gridCol w="2570163">
                  <a:extLst>
                    <a:ext uri="{9D8B030D-6E8A-4147-A177-3AD203B41FA5}">
                      <a16:colId xmlns:a16="http://schemas.microsoft.com/office/drawing/2014/main" val="3970541104"/>
                    </a:ext>
                  </a:extLst>
                </a:gridCol>
              </a:tblGrid>
              <a:tr h="7254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indent="142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indent="-4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indent="-650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indent="-1333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indent="-1333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indent="-1333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indent="-1333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indent="-1333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Прошлое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indent="142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indent="-4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indent="-650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indent="-1333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indent="-1333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indent="-1333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indent="-1333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indent="-1333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Настоящее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indent="142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indent="-4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indent="-650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indent="-1333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indent="-1333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indent="-1333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indent="-1333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indent="-1333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Будущее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568848"/>
                  </a:ext>
                </a:extLst>
              </a:tr>
            </a:tbl>
          </a:graphicData>
        </a:graphic>
      </p:graphicFrame>
      <p:sp>
        <p:nvSpPr>
          <p:cNvPr id="4244" name="AutoShape 148">
            <a:extLst>
              <a:ext uri="{FF2B5EF4-FFF2-40B4-BE49-F238E27FC236}">
                <a16:creationId xmlns:a16="http://schemas.microsoft.com/office/drawing/2014/main" id="{264D05E9-812A-4CB1-A055-CDFC10FC6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300663"/>
            <a:ext cx="2305050" cy="719137"/>
          </a:xfrm>
          <a:prstGeom prst="wedgeRectCallout">
            <a:avLst>
              <a:gd name="adj1" fmla="val -33125"/>
              <a:gd name="adj2" fmla="val -180685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ru-RU" altLang="ru-RU">
                <a:latin typeface="Arial" panose="020B0604020202020204" pitchFamily="34" charset="0"/>
              </a:rPr>
              <a:t>Ретроспектива</a:t>
            </a:r>
          </a:p>
        </p:txBody>
      </p:sp>
      <p:sp>
        <p:nvSpPr>
          <p:cNvPr id="4245" name="AutoShape 149">
            <a:extLst>
              <a:ext uri="{FF2B5EF4-FFF2-40B4-BE49-F238E27FC236}">
                <a16:creationId xmlns:a16="http://schemas.microsoft.com/office/drawing/2014/main" id="{CDD0C564-19C6-4FDF-9593-6FBF454DE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5300663"/>
            <a:ext cx="2305050" cy="719137"/>
          </a:xfrm>
          <a:prstGeom prst="wedgeRectCallout">
            <a:avLst>
              <a:gd name="adj1" fmla="val -5097"/>
              <a:gd name="adj2" fmla="val -174722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ru-RU" altLang="ru-RU">
                <a:latin typeface="Arial" panose="020B0604020202020204" pitchFamily="34" charset="0"/>
              </a:rPr>
              <a:t>Период упреждения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CB7DE55-52BB-4F7E-AF0E-C42CD5C00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b="1"/>
              <a:t>Основные понятия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73A32D9-2432-4D6F-A673-E74952D185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2313" y="2819400"/>
            <a:ext cx="7710487" cy="2389188"/>
          </a:xfrm>
        </p:spPr>
        <p:txBody>
          <a:bodyPr/>
          <a:lstStyle/>
          <a:p>
            <a:r>
              <a:rPr lang="ru-RU" altLang="ru-RU"/>
              <a:t>Информация бывает фактографическая – статистические данные, и экспертная – описание объекта на вербальном уровне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0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2" name="Group 4">
            <a:extLst>
              <a:ext uri="{FF2B5EF4-FFF2-40B4-BE49-F238E27FC236}">
                <a16:creationId xmlns:a16="http://schemas.microsoft.com/office/drawing/2014/main" id="{A1B2A833-DBA7-44E6-AF64-AB52789A0F2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0" y="1052513"/>
            <a:ext cx="9144000" cy="5262562"/>
            <a:chOff x="2274" y="3246"/>
            <a:chExt cx="7200" cy="4320"/>
          </a:xfrm>
        </p:grpSpPr>
        <p:sp>
          <p:nvSpPr>
            <p:cNvPr id="22533" name="AutoShape 5">
              <a:extLst>
                <a:ext uri="{FF2B5EF4-FFF2-40B4-BE49-F238E27FC236}">
                  <a16:creationId xmlns:a16="http://schemas.microsoft.com/office/drawing/2014/main" id="{47A53D37-C228-4B6B-9626-E8DE2EA8390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3246"/>
              <a:ext cx="7200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altLang="ru-RU" b="1"/>
            </a:p>
          </p:txBody>
        </p:sp>
        <p:grpSp>
          <p:nvGrpSpPr>
            <p:cNvPr id="22534" name="Group 6">
              <a:extLst>
                <a:ext uri="{FF2B5EF4-FFF2-40B4-BE49-F238E27FC236}">
                  <a16:creationId xmlns:a16="http://schemas.microsoft.com/office/drawing/2014/main" id="{852B039E-83F8-48D7-8010-FDAF110264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3525"/>
              <a:ext cx="6635" cy="3902"/>
              <a:chOff x="2415" y="3525"/>
              <a:chExt cx="6635" cy="3902"/>
            </a:xfrm>
          </p:grpSpPr>
          <p:sp>
            <p:nvSpPr>
              <p:cNvPr id="22535" name="Oval 7">
                <a:extLst>
                  <a:ext uri="{FF2B5EF4-FFF2-40B4-BE49-F238E27FC236}">
                    <a16:creationId xmlns:a16="http://schemas.microsoft.com/office/drawing/2014/main" id="{0C1D7FC2-B36F-4FE6-9F86-B1521A4B32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5" y="3525"/>
                <a:ext cx="1271" cy="557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ru-RU" altLang="ru-RU" b="1">
                    <a:latin typeface="Times New Roman" panose="02020603050405020304" pitchFamily="18" charset="0"/>
                  </a:rPr>
                  <a:t>Данные</a:t>
                </a:r>
                <a:endParaRPr lang="ru-RU" altLang="ru-RU" b="1">
                  <a:latin typeface="Arial" panose="020B0604020202020204" pitchFamily="34" charset="0"/>
                </a:endParaRPr>
              </a:p>
            </p:txBody>
          </p:sp>
          <p:sp>
            <p:nvSpPr>
              <p:cNvPr id="22536" name="Oval 8">
                <a:extLst>
                  <a:ext uri="{FF2B5EF4-FFF2-40B4-BE49-F238E27FC236}">
                    <a16:creationId xmlns:a16="http://schemas.microsoft.com/office/drawing/2014/main" id="{03ED5EFB-A941-4A05-9FA1-849B1CD0EE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9" y="3525"/>
                <a:ext cx="1553" cy="69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ru-RU" altLang="ru-RU" b="1">
                    <a:latin typeface="Times New Roman" panose="02020603050405020304" pitchFamily="18" charset="0"/>
                  </a:rPr>
                  <a:t>Анализ данных</a:t>
                </a:r>
                <a:endParaRPr lang="ru-RU" altLang="ru-RU" b="1">
                  <a:latin typeface="Arial" panose="020B0604020202020204" pitchFamily="34" charset="0"/>
                </a:endParaRPr>
              </a:p>
            </p:txBody>
          </p:sp>
          <p:sp>
            <p:nvSpPr>
              <p:cNvPr id="22537" name="Oval 9">
                <a:extLst>
                  <a:ext uri="{FF2B5EF4-FFF2-40B4-BE49-F238E27FC236}">
                    <a16:creationId xmlns:a16="http://schemas.microsoft.com/office/drawing/2014/main" id="{8E8A5C06-583B-47D6-8647-C58B9F23B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45" y="3525"/>
                <a:ext cx="1411" cy="975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ru-RU" altLang="ru-RU" b="1">
                    <a:latin typeface="Times New Roman" panose="02020603050405020304" pitchFamily="18" charset="0"/>
                  </a:rPr>
                  <a:t>Выбор методов и моделей</a:t>
                </a:r>
                <a:endParaRPr lang="ru-RU" altLang="ru-RU" b="1">
                  <a:latin typeface="Arial" panose="020B0604020202020204" pitchFamily="34" charset="0"/>
                </a:endParaRPr>
              </a:p>
            </p:txBody>
          </p:sp>
          <p:sp>
            <p:nvSpPr>
              <p:cNvPr id="22538" name="Oval 10">
                <a:extLst>
                  <a:ext uri="{FF2B5EF4-FFF2-40B4-BE49-F238E27FC236}">
                    <a16:creationId xmlns:a16="http://schemas.microsoft.com/office/drawing/2014/main" id="{6A86BC42-6399-440A-8F0B-19151219B6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80" y="3525"/>
                <a:ext cx="1270" cy="557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ru-RU" altLang="ru-RU" b="1">
                    <a:latin typeface="Times New Roman" panose="02020603050405020304" pitchFamily="18" charset="0"/>
                  </a:rPr>
                  <a:t>Прогноз</a:t>
                </a:r>
                <a:endParaRPr lang="ru-RU" altLang="ru-RU" b="1">
                  <a:latin typeface="Arial" panose="020B0604020202020204" pitchFamily="34" charset="0"/>
                </a:endParaRPr>
              </a:p>
            </p:txBody>
          </p:sp>
          <p:sp>
            <p:nvSpPr>
              <p:cNvPr id="22539" name="Oval 11">
                <a:extLst>
                  <a:ext uri="{FF2B5EF4-FFF2-40B4-BE49-F238E27FC236}">
                    <a16:creationId xmlns:a16="http://schemas.microsoft.com/office/drawing/2014/main" id="{E7FA4353-148F-407C-91A3-B104DC24EA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98" y="5058"/>
                <a:ext cx="1694" cy="69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ru-RU" altLang="ru-RU" b="1">
                    <a:latin typeface="Times New Roman" panose="02020603050405020304" pitchFamily="18" charset="0"/>
                  </a:rPr>
                  <a:t>Построение моделей</a:t>
                </a:r>
                <a:endParaRPr lang="ru-RU" altLang="ru-RU" b="1">
                  <a:latin typeface="Arial" panose="020B0604020202020204" pitchFamily="34" charset="0"/>
                </a:endParaRPr>
              </a:p>
            </p:txBody>
          </p:sp>
          <p:sp>
            <p:nvSpPr>
              <p:cNvPr id="22540" name="Oval 12">
                <a:extLst>
                  <a:ext uri="{FF2B5EF4-FFF2-40B4-BE49-F238E27FC236}">
                    <a16:creationId xmlns:a16="http://schemas.microsoft.com/office/drawing/2014/main" id="{5DBA8993-D702-4203-A8BA-1FBD0C33E0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4" y="6033"/>
                <a:ext cx="2118" cy="1394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ru-RU" altLang="ru-RU" b="1">
                    <a:latin typeface="Times New Roman" panose="02020603050405020304" pitchFamily="18" charset="0"/>
                  </a:rPr>
                  <a:t>Спецификация</a:t>
                </a:r>
              </a:p>
              <a:p>
                <a:pPr algn="ctr"/>
                <a:r>
                  <a:rPr lang="ru-RU" altLang="ru-RU" b="1">
                    <a:latin typeface="Times New Roman" panose="02020603050405020304" pitchFamily="18" charset="0"/>
                  </a:rPr>
                  <a:t>Идентификация</a:t>
                </a:r>
              </a:p>
              <a:p>
                <a:pPr algn="ctr"/>
                <a:r>
                  <a:rPr lang="ru-RU" altLang="ru-RU" b="1">
                    <a:latin typeface="Times New Roman" panose="02020603050405020304" pitchFamily="18" charset="0"/>
                  </a:rPr>
                  <a:t>Верификация модели</a:t>
                </a:r>
                <a:endParaRPr lang="ru-RU" altLang="ru-RU" b="1">
                  <a:latin typeface="Arial" panose="020B0604020202020204" pitchFamily="34" charset="0"/>
                </a:endParaRPr>
              </a:p>
            </p:txBody>
          </p:sp>
          <p:sp>
            <p:nvSpPr>
              <p:cNvPr id="22541" name="Oval 13">
                <a:extLst>
                  <a:ext uri="{FF2B5EF4-FFF2-40B4-BE49-F238E27FC236}">
                    <a16:creationId xmlns:a16="http://schemas.microsoft.com/office/drawing/2014/main" id="{581DCAFD-7116-4438-8F0B-0653AB19F4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74" y="5058"/>
                <a:ext cx="1694" cy="1393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ru-RU" altLang="ru-RU" b="1">
                    <a:latin typeface="Times New Roman" panose="02020603050405020304" pitchFamily="18" charset="0"/>
                  </a:rPr>
                  <a:t>Критерии качества моделей и прогноза</a:t>
                </a:r>
                <a:endParaRPr lang="ru-RU" altLang="ru-RU" b="1">
                  <a:latin typeface="Arial" panose="020B0604020202020204" pitchFamily="34" charset="0"/>
                </a:endParaRPr>
              </a:p>
            </p:txBody>
          </p:sp>
          <p:sp>
            <p:nvSpPr>
              <p:cNvPr id="22542" name="Line 14">
                <a:extLst>
                  <a:ext uri="{FF2B5EF4-FFF2-40B4-BE49-F238E27FC236}">
                    <a16:creationId xmlns:a16="http://schemas.microsoft.com/office/drawing/2014/main" id="{F020236A-C07E-4FF7-8D75-3B90A2CB1F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6" y="3803"/>
                <a:ext cx="423" cy="0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543" name="Line 15">
                <a:extLst>
                  <a:ext uri="{FF2B5EF4-FFF2-40B4-BE49-F238E27FC236}">
                    <a16:creationId xmlns:a16="http://schemas.microsoft.com/office/drawing/2014/main" id="{87F99C88-A59F-45E7-9DCA-54E4E2C00A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62" y="3803"/>
                <a:ext cx="283" cy="140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544" name="Line 16">
                <a:extLst>
                  <a:ext uri="{FF2B5EF4-FFF2-40B4-BE49-F238E27FC236}">
                    <a16:creationId xmlns:a16="http://schemas.microsoft.com/office/drawing/2014/main" id="{47A5A3C7-36AC-4084-90B7-6F5F732A64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356" y="3803"/>
                <a:ext cx="424" cy="140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545" name="Line 17">
                <a:extLst>
                  <a:ext uri="{FF2B5EF4-FFF2-40B4-BE49-F238E27FC236}">
                    <a16:creationId xmlns:a16="http://schemas.microsoft.com/office/drawing/2014/main" id="{F98609A4-5053-46E7-B2C9-2D2660CD7B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662" y="5754"/>
                <a:ext cx="141" cy="279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546" name="Line 18">
                <a:extLst>
                  <a:ext uri="{FF2B5EF4-FFF2-40B4-BE49-F238E27FC236}">
                    <a16:creationId xmlns:a16="http://schemas.microsoft.com/office/drawing/2014/main" id="{05532BBF-576B-41E2-B6B5-DC1A8699AE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945" y="4500"/>
                <a:ext cx="423" cy="558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547" name="Line 19">
                <a:extLst>
                  <a:ext uri="{FF2B5EF4-FFF2-40B4-BE49-F238E27FC236}">
                    <a16:creationId xmlns:a16="http://schemas.microsoft.com/office/drawing/2014/main" id="{9C39A2C9-F586-4887-A6F3-1EDD6FF2EC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074" y="4361"/>
                <a:ext cx="706" cy="697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073CE68-D538-4F2F-85C0-929F9B84CD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Этапы построения модели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83CDF72E-8146-4D97-BA20-B9961FD399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2060848"/>
            <a:ext cx="8496300" cy="4608240"/>
          </a:xfrm>
        </p:spPr>
        <p:txBody>
          <a:bodyPr/>
          <a:lstStyle/>
          <a:p>
            <a:pPr marL="571500" indent="-571500">
              <a:lnSpc>
                <a:spcPct val="90000"/>
              </a:lnSpc>
            </a:pPr>
            <a:r>
              <a:rPr lang="ru-RU" altLang="ru-RU" sz="3200" dirty="0"/>
              <a:t>Подбор спецификации модели – представление логики развития объекта изучения в форме математической модели, пригодной для дальнейших исследований. Это выбор и анализ состава переменных и выбор класса аппроксимирующих функций (линейная, полиномиальная и др.)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073CE68-D538-4F2F-85C0-929F9B84CD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Этапы построения модели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83CDF72E-8146-4D97-BA20-B9961FD399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2204864"/>
            <a:ext cx="8496300" cy="4464224"/>
          </a:xfrm>
        </p:spPr>
        <p:txBody>
          <a:bodyPr/>
          <a:lstStyle/>
          <a:p>
            <a:pPr marL="571500" indent="-571500">
              <a:lnSpc>
                <a:spcPct val="90000"/>
              </a:lnSpc>
            </a:pPr>
            <a:r>
              <a:rPr lang="ru-RU" altLang="ru-RU" sz="3200" dirty="0"/>
              <a:t>Идентификация параметров модели (определение значений параметров) – оценка параметров модели, выявленных спецификаций с помощью определенных методов (например метод наименьших квадратов, обобщенный метод наименьших квадратов)</a:t>
            </a:r>
          </a:p>
        </p:txBody>
      </p:sp>
    </p:spTree>
    <p:extLst>
      <p:ext uri="{BB962C8B-B14F-4D97-AF65-F5344CB8AC3E}">
        <p14:creationId xmlns:p14="http://schemas.microsoft.com/office/powerpoint/2010/main" val="152709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073CE68-D538-4F2F-85C0-929F9B84CD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Этапы построения модели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83CDF72E-8146-4D97-BA20-B9961FD399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2636912"/>
            <a:ext cx="8496300" cy="3168352"/>
          </a:xfrm>
        </p:spPr>
        <p:txBody>
          <a:bodyPr/>
          <a:lstStyle/>
          <a:p>
            <a:pPr marL="571500" indent="-571500">
              <a:lnSpc>
                <a:spcPct val="90000"/>
              </a:lnSpc>
            </a:pPr>
            <a:r>
              <a:rPr lang="ru-RU" altLang="ru-RU" sz="3600" dirty="0"/>
              <a:t>Верификация модели (проверка ее состоятельности) – оценка качества построенной модели и выбор пригодной модели</a:t>
            </a:r>
          </a:p>
        </p:txBody>
      </p:sp>
    </p:spTree>
    <p:extLst>
      <p:ext uri="{BB962C8B-B14F-4D97-AF65-F5344CB8AC3E}">
        <p14:creationId xmlns:p14="http://schemas.microsoft.com/office/powerpoint/2010/main" val="4037582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48929D-724B-4D18-98B3-0F8148821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335" y="476673"/>
            <a:ext cx="8484145" cy="864096"/>
          </a:xfrm>
        </p:spPr>
        <p:txBody>
          <a:bodyPr/>
          <a:lstStyle/>
          <a:p>
            <a:r>
              <a:rPr lang="ru-RU" sz="2000" dirty="0"/>
              <a:t>Эконометрическое моделирование реальных социально-экономических процессов и систем обычно преследует два типа конечных прикладных целей (или  одну  из  них):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D5C2F8-D5AF-46DA-9514-242111691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38" y="1752600"/>
            <a:ext cx="8001000" cy="4340696"/>
          </a:xfrm>
        </p:spPr>
        <p:txBody>
          <a:bodyPr/>
          <a:lstStyle/>
          <a:p>
            <a:pPr marL="457200" indent="-457200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dirty="0"/>
              <a:t>прогноз  экономических  и  социально-экономических показателей,  характеризующих  состояние  и  развитие  анализируемой системы</a:t>
            </a: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dirty="0"/>
              <a:t>имитацию  различных  возможных  сценариев  социально-экономического  развития  анализируемой  системы (многовариантные сценарные расчеты, ситуационное моделирование)</a:t>
            </a:r>
          </a:p>
        </p:txBody>
      </p:sp>
    </p:spTree>
    <p:extLst>
      <p:ext uri="{BB962C8B-B14F-4D97-AF65-F5344CB8AC3E}">
        <p14:creationId xmlns:p14="http://schemas.microsoft.com/office/powerpoint/2010/main" val="980251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3125E17-E6B9-4214-82AF-2E84CA62D8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400" b="1"/>
              <a:t>Характеристики качества прогнозов и методы их оценки</a:t>
            </a:r>
            <a:r>
              <a:rPr lang="ru-RU" altLang="ru-RU" sz="3400"/>
              <a:t> 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128B441A-79C9-462D-BA34-1229887D81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sz="2600" b="1" i="1"/>
              <a:t>Точность </a:t>
            </a:r>
            <a:r>
              <a:rPr lang="ru-RU" altLang="ru-RU" sz="2600"/>
              <a:t>– характеризует меру соответствия прогнозируемой величины – фактической</a:t>
            </a:r>
          </a:p>
          <a:p>
            <a:pPr>
              <a:lnSpc>
                <a:spcPct val="90000"/>
              </a:lnSpc>
            </a:pPr>
            <a:r>
              <a:rPr lang="ru-RU" altLang="ru-RU" sz="2600" b="1" i="1"/>
              <a:t>Надежность</a:t>
            </a:r>
            <a:r>
              <a:rPr lang="ru-RU" altLang="ru-RU" sz="2600"/>
              <a:t> (достоверность) – вероятность реализации соответствующей прогностической оценки для заданного доверительного интервала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ru-RU" altLang="ru-RU" sz="26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sz="2600" i="1"/>
              <a:t>Чем выше надежность, тем ниже точность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6C5BB29-2FA7-4E8C-89C0-F16E99A2E7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Ошибка прогноза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8F1FB990-67B0-4971-815A-BECBD16502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9754" y="1772816"/>
            <a:ext cx="7884492" cy="4267200"/>
          </a:xfrm>
        </p:spPr>
        <p:txBody>
          <a:bodyPr/>
          <a:lstStyle/>
          <a:p>
            <a:pPr marL="0" indent="0">
              <a:buNone/>
            </a:pPr>
            <a:r>
              <a:rPr lang="ru-RU" altLang="ru-RU" dirty="0"/>
              <a:t>Измеритель меры точности прогноза – </a:t>
            </a:r>
            <a:r>
              <a:rPr lang="ru-RU" altLang="ru-RU" b="1" i="1" dirty="0"/>
              <a:t>ошибка прогноза</a:t>
            </a:r>
            <a:r>
              <a:rPr lang="ru-RU" altLang="ru-RU" dirty="0"/>
              <a:t> </a:t>
            </a:r>
          </a:p>
          <a:p>
            <a:pPr>
              <a:buFont typeface="Wingdings" panose="05000000000000000000" pitchFamily="2" charset="2"/>
              <a:buNone/>
            </a:pPr>
            <a:endParaRPr lang="ru-RU" altLang="ru-RU" dirty="0"/>
          </a:p>
          <a:p>
            <a:pPr>
              <a:buFont typeface="Wingdings" panose="05000000000000000000" pitchFamily="2" charset="2"/>
              <a:buNone/>
            </a:pPr>
            <a:r>
              <a:rPr lang="ru-RU" altLang="ru-RU" dirty="0"/>
              <a:t>Ошибка прогноза бывает</a:t>
            </a:r>
          </a:p>
          <a:p>
            <a:r>
              <a:rPr lang="ru-RU" altLang="ru-RU" dirty="0"/>
              <a:t> </a:t>
            </a:r>
            <a:r>
              <a:rPr lang="ru-RU" altLang="ru-RU" b="1" i="1" dirty="0"/>
              <a:t>количественная</a:t>
            </a:r>
          </a:p>
          <a:p>
            <a:r>
              <a:rPr lang="ru-RU" altLang="ru-RU" b="1" i="1" dirty="0"/>
              <a:t> качественная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1877C949-8801-40F8-A383-90FE4B0B68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400"/>
              <a:t>Количественные характеристики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DDA8A952-D8CC-4E91-9E03-D74A91D24A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5547" y="2168719"/>
            <a:ext cx="8001000" cy="176433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b="1" i="1" dirty="0"/>
              <a:t>Абсолютная ошибка прогноза</a:t>
            </a:r>
            <a:r>
              <a:rPr lang="ru-RU" altLang="ru-RU" dirty="0"/>
              <a:t> – разница между фактическим и прогнозным значением</a:t>
            </a:r>
          </a:p>
        </p:txBody>
      </p:sp>
      <p:sp>
        <p:nvSpPr>
          <p:cNvPr id="26629" name="Rectangle 5">
            <a:extLst>
              <a:ext uri="{FF2B5EF4-FFF2-40B4-BE49-F238E27FC236}">
                <a16:creationId xmlns:a16="http://schemas.microsoft.com/office/drawing/2014/main" id="{6DC97ADD-2557-44CF-90CB-B302597DC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08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6628" name="Object 4">
            <a:extLst>
              <a:ext uri="{FF2B5EF4-FFF2-40B4-BE49-F238E27FC236}">
                <a16:creationId xmlns:a16="http://schemas.microsoft.com/office/drawing/2014/main" id="{1A28F091-0C32-475C-959B-A7CEEC0255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1651986"/>
              </p:ext>
            </p:extLst>
          </p:nvPr>
        </p:nvGraphicFramePr>
        <p:xfrm>
          <a:off x="1604512" y="4221088"/>
          <a:ext cx="5934975" cy="1422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55700" imgH="279400" progId="Equation.DSMT4">
                  <p:embed/>
                </p:oleObj>
              </mc:Choice>
              <mc:Fallback>
                <p:oleObj name="Equation" r:id="rId2" imgW="1155700" imgH="279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4512" y="4221088"/>
                        <a:ext cx="5934975" cy="14220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Rectangle 7">
            <a:extLst>
              <a:ext uri="{FF2B5EF4-FFF2-40B4-BE49-F238E27FC236}">
                <a16:creationId xmlns:a16="http://schemas.microsoft.com/office/drawing/2014/main" id="{472DE24D-5E90-497E-AF7E-BB0DFD7CE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6633" name="Rectangle 9">
            <a:extLst>
              <a:ext uri="{FF2B5EF4-FFF2-40B4-BE49-F238E27FC236}">
                <a16:creationId xmlns:a16="http://schemas.microsoft.com/office/drawing/2014/main" id="{62BDF01D-873E-40AD-BEEA-6C1C95129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6639" name="Rectangle 15">
            <a:extLst>
              <a:ext uri="{FF2B5EF4-FFF2-40B4-BE49-F238E27FC236}">
                <a16:creationId xmlns:a16="http://schemas.microsoft.com/office/drawing/2014/main" id="{E4C55CC0-9B2F-49C5-B200-34DBB8E77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543EFDC3-66F5-466B-9BD6-8D7A2BA74D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400"/>
              <a:t>Количественные характеристики</a:t>
            </a: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5C9E77C5-2109-46F1-9908-3C924CB1A2B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1773238"/>
            <a:ext cx="3924300" cy="503237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sz="2600" b="1" i="1"/>
              <a:t>Средняя ошибка</a:t>
            </a:r>
          </a:p>
        </p:txBody>
      </p:sp>
      <p:graphicFrame>
        <p:nvGraphicFramePr>
          <p:cNvPr id="27653" name="Object 5">
            <a:extLst>
              <a:ext uri="{FF2B5EF4-FFF2-40B4-BE49-F238E27FC236}">
                <a16:creationId xmlns:a16="http://schemas.microsoft.com/office/drawing/2014/main" id="{9338C531-B9F9-487A-832E-F1478E6583BC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49003597"/>
              </p:ext>
            </p:extLst>
          </p:nvPr>
        </p:nvGraphicFramePr>
        <p:xfrm>
          <a:off x="1946702" y="2276474"/>
          <a:ext cx="5073570" cy="2232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46200" imgH="609600" progId="Equation.DSMT4">
                  <p:embed/>
                </p:oleObj>
              </mc:Choice>
              <mc:Fallback>
                <p:oleObj name="Equation" r:id="rId2" imgW="1346200" imgH="609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6702" y="2276474"/>
                        <a:ext cx="5073570" cy="22326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7" name="Rectangle 9">
            <a:extLst>
              <a:ext uri="{FF2B5EF4-FFF2-40B4-BE49-F238E27FC236}">
                <a16:creationId xmlns:a16="http://schemas.microsoft.com/office/drawing/2014/main" id="{BC6CDC72-3981-4CB0-95F6-C0F9F6077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90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7658" name="Rectangle 10">
            <a:extLst>
              <a:ext uri="{FF2B5EF4-FFF2-40B4-BE49-F238E27FC236}">
                <a16:creationId xmlns:a16="http://schemas.microsoft.com/office/drawing/2014/main" id="{32117E99-068E-4F30-AA50-8BF11942C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922971"/>
            <a:ext cx="799306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ru-RU" sz="2400" i="1" dirty="0">
                <a:latin typeface="Times New Roman" panose="02020603050405020304" pitchFamily="18" charset="0"/>
              </a:rPr>
              <a:t>N</a:t>
            </a:r>
            <a:r>
              <a:rPr lang="en-US" altLang="ru-RU" sz="2400" i="1" dirty="0">
                <a:latin typeface="Arial" panose="020B0604020202020204" pitchFamily="34" charset="0"/>
              </a:rPr>
              <a:t> </a:t>
            </a:r>
            <a:r>
              <a:rPr lang="ru-RU" altLang="ru-RU" sz="2400" dirty="0">
                <a:latin typeface="Arial" panose="020B06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altLang="ru-RU" sz="2400" dirty="0"/>
              <a:t>число</a:t>
            </a:r>
            <a:r>
              <a:rPr lang="en-US" altLang="ru-RU" sz="2400" dirty="0"/>
              <a:t> </a:t>
            </a:r>
            <a:r>
              <a:rPr lang="ru-RU" altLang="ru-RU" sz="2400" dirty="0"/>
              <a:t>наблюдений обучающей выборки</a:t>
            </a:r>
            <a:endParaRPr lang="en-US" altLang="ru-RU" sz="2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en-US" altLang="ru-RU" sz="2400" i="1" dirty="0">
                <a:latin typeface="Times New Roman" panose="02020603050405020304" pitchFamily="18" charset="0"/>
              </a:rPr>
              <a:t>l</a:t>
            </a:r>
            <a:r>
              <a:rPr lang="ru-RU" altLang="ru-RU" sz="2400" dirty="0"/>
              <a:t>- период упреждения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25E3D13-296C-4FEE-8D8E-53E238058B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400"/>
              <a:t>Относительные характеристики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643026D9-2757-4DDA-94CA-5A91BC2BBC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1752600"/>
            <a:ext cx="8001000" cy="1171575"/>
          </a:xfrm>
        </p:spPr>
        <p:txBody>
          <a:bodyPr/>
          <a:lstStyle/>
          <a:p>
            <a:r>
              <a:rPr lang="ru-RU" altLang="ru-RU"/>
              <a:t>Коэффициент несоответствия Тейла (для тестового периода)</a:t>
            </a:r>
          </a:p>
        </p:txBody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D67271A6-B705-4442-A78D-B109E8A00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9700" name="Object 4">
            <a:extLst>
              <a:ext uri="{FF2B5EF4-FFF2-40B4-BE49-F238E27FC236}">
                <a16:creationId xmlns:a16="http://schemas.microsoft.com/office/drawing/2014/main" id="{5EE99359-21A7-4581-98C3-2068F6D6B1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3068638"/>
          <a:ext cx="4895850" cy="2601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700" imgH="889000" progId="Equation.DSMT4">
                  <p:embed/>
                </p:oleObj>
              </mc:Choice>
              <mc:Fallback>
                <p:oleObj name="Equation" r:id="rId2" imgW="1663700" imgH="889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068638"/>
                        <a:ext cx="4895850" cy="2601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574B717-D581-4F1F-9E88-73EB80BEDB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400"/>
              <a:t>Информационные характеристики качества модели 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B6D39E74-34AF-44B2-B26E-BE88A612C7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1752600"/>
            <a:ext cx="8001000" cy="668338"/>
          </a:xfrm>
        </p:spPr>
        <p:txBody>
          <a:bodyPr/>
          <a:lstStyle/>
          <a:p>
            <a:pPr marL="571500" indent="-571500"/>
            <a:r>
              <a:rPr lang="ru-RU" altLang="ru-RU"/>
              <a:t>Среднеквадратическое отклонение</a:t>
            </a:r>
          </a:p>
        </p:txBody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743D5EB5-2B9E-4EFE-8CB3-42A55CC55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86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30724" name="Object 4">
            <a:extLst>
              <a:ext uri="{FF2B5EF4-FFF2-40B4-BE49-F238E27FC236}">
                <a16:creationId xmlns:a16="http://schemas.microsoft.com/office/drawing/2014/main" id="{40DC990F-FF1F-4FAD-9BD3-0A3C807719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2636838"/>
          <a:ext cx="4968875" cy="229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85900" imgH="685800" progId="Equation.DSMT4">
                  <p:embed/>
                </p:oleObj>
              </mc:Choice>
              <mc:Fallback>
                <p:oleObj name="Equation" r:id="rId2" imgW="1485900" imgH="685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636838"/>
                        <a:ext cx="4968875" cy="2293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7" name="Rectangle 7">
            <a:extLst>
              <a:ext uri="{FF2B5EF4-FFF2-40B4-BE49-F238E27FC236}">
                <a16:creationId xmlns:a16="http://schemas.microsoft.com/office/drawing/2014/main" id="{4D4F8B6D-E7FF-433C-A441-E30956B06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3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30726" name="Object 6">
            <a:extLst>
              <a:ext uri="{FF2B5EF4-FFF2-40B4-BE49-F238E27FC236}">
                <a16:creationId xmlns:a16="http://schemas.microsoft.com/office/drawing/2014/main" id="{9FA8191D-0E9C-43A0-B022-ED9D5F3176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5300663"/>
          <a:ext cx="4953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780" imgH="164814" progId="Equation.DSMT4">
                  <p:embed/>
                </p:oleObj>
              </mc:Choice>
              <mc:Fallback>
                <p:oleObj name="Equation" r:id="rId4" imgW="126780" imgH="164814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300663"/>
                        <a:ext cx="495300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8" name="Rectangle 8">
            <a:extLst>
              <a:ext uri="{FF2B5EF4-FFF2-40B4-BE49-F238E27FC236}">
                <a16:creationId xmlns:a16="http://schemas.microsoft.com/office/drawing/2014/main" id="{ED0C57D3-48F1-4C56-B8E9-5DAB1464D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5434013"/>
            <a:ext cx="6931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- число степеней свободы (зависит от вида модели)</a:t>
            </a:r>
            <a:endParaRPr lang="ru-RU" altLang="ru-RU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60AE4ADF-6389-417F-A121-E71CA9415A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400"/>
              <a:t>Информационные характеристики качества модели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41FAE6A1-B5EF-4898-BB2E-A29B1B9750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2348880"/>
            <a:ext cx="8001000" cy="3670920"/>
          </a:xfrm>
        </p:spPr>
        <p:txBody>
          <a:bodyPr/>
          <a:lstStyle/>
          <a:p>
            <a:pPr marL="571500" indent="-571500"/>
            <a:r>
              <a:rPr lang="ru-RU" altLang="ru-RU" dirty="0"/>
              <a:t>Коэффициент детерминации – показывает на сколько объясняемые переменные описывают объясняющую переменную (в % или долях)</a:t>
            </a:r>
            <a:endParaRPr lang="en-US" altLang="ru-RU" dirty="0"/>
          </a:p>
          <a:p>
            <a:pPr marL="571500" indent="-571500"/>
            <a:r>
              <a:rPr lang="en-US" altLang="ru-RU" dirty="0"/>
              <a:t>F</a:t>
            </a:r>
            <a:r>
              <a:rPr lang="ru-RU" altLang="ru-RU" dirty="0"/>
              <a:t>-статистика – показывает значимость модели в целом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2E7C4B58-69AE-49AB-BE4B-6C94B9FE63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400"/>
              <a:t>Наивные методы прогнозирования 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6768CFC2-9E59-4523-9419-9C4FD182B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1752600"/>
            <a:ext cx="8001000" cy="739775"/>
          </a:xfrm>
        </p:spPr>
        <p:txBody>
          <a:bodyPr/>
          <a:lstStyle/>
          <a:p>
            <a:pPr marL="571500" indent="-571500"/>
            <a:r>
              <a:rPr lang="ru-RU" altLang="ru-RU"/>
              <a:t>модель простой средней</a:t>
            </a:r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FD4FB96F-2F1D-4CFE-A7B5-8529DDF6E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32772" name="Object 4">
            <a:extLst>
              <a:ext uri="{FF2B5EF4-FFF2-40B4-BE49-F238E27FC236}">
                <a16:creationId xmlns:a16="http://schemas.microsoft.com/office/drawing/2014/main" id="{BCCFE190-A522-4AE4-9FA3-1688CBA6A9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2708275"/>
          <a:ext cx="2490788" cy="243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22080" imgH="609480" progId="Equation.DSMT4">
                  <p:embed/>
                </p:oleObj>
              </mc:Choice>
              <mc:Fallback>
                <p:oleObj name="Equation" r:id="rId2" imgW="622080" imgH="609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708275"/>
                        <a:ext cx="2490788" cy="2439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9F36D98B-3E5B-42B2-AF7F-33A706F511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400"/>
              <a:t>Наивные методы прогнозирования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2FECD8F4-74BA-4033-AB77-E2844F37E2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2060848"/>
            <a:ext cx="8001000" cy="3958951"/>
          </a:xfrm>
        </p:spPr>
        <p:txBody>
          <a:bodyPr/>
          <a:lstStyle/>
          <a:p>
            <a:r>
              <a:rPr lang="ru-RU" altLang="ru-RU" dirty="0"/>
              <a:t>модель простой скользящей средней</a:t>
            </a:r>
          </a:p>
          <a:p>
            <a:endParaRPr lang="ru-RU" altLang="ru-RU" dirty="0"/>
          </a:p>
        </p:txBody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DEA3C54C-16C2-42F1-A97F-896705DA0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24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BC8BFBF-F8EB-4793-BD97-7A09E1CA4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688" y="3429000"/>
            <a:ext cx="6515100" cy="19621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399E1E-0664-4A19-86CC-B245F52F9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b="1" i="0" dirty="0">
                <a:solidFill>
                  <a:srgbClr val="000000"/>
                </a:solidFill>
                <a:effectLst/>
                <a:latin typeface="Open Sans"/>
              </a:rPr>
              <a:t>Ряды динамики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97E6D-0879-411A-82EA-28D85A329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38" y="1752600"/>
            <a:ext cx="8253734" cy="4556720"/>
          </a:xfrm>
        </p:spPr>
        <p:txBody>
          <a:bodyPr/>
          <a:lstStyle/>
          <a:p>
            <a:pPr algn="l"/>
            <a:r>
              <a:rPr lang="ru-RU" sz="2400" b="1" i="0" dirty="0">
                <a:solidFill>
                  <a:srgbClr val="000000"/>
                </a:solidFill>
                <a:effectLst/>
                <a:latin typeface="Open Sans"/>
              </a:rPr>
              <a:t>Ряды динамики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Open Sans"/>
              </a:rPr>
              <a:t> — это ряды статистических показателей, характеризующих развитие явлений природы и общества во времени</a:t>
            </a:r>
          </a:p>
          <a:p>
            <a:pPr algn="l"/>
            <a:r>
              <a:rPr lang="ru-RU" sz="2400" b="0" i="0" dirty="0">
                <a:solidFill>
                  <a:srgbClr val="000000"/>
                </a:solidFill>
                <a:effectLst/>
                <a:latin typeface="Open Sans"/>
              </a:rPr>
              <a:t> Публикуемые Госкомстатом России статистические сборники содержат большое количество рядов динамики в табличной форме</a:t>
            </a:r>
          </a:p>
          <a:p>
            <a:pPr algn="l"/>
            <a:r>
              <a:rPr lang="ru-RU" sz="2400" b="0" i="0" dirty="0">
                <a:solidFill>
                  <a:srgbClr val="000000"/>
                </a:solidFill>
                <a:effectLst/>
                <a:latin typeface="Open Sans"/>
              </a:rPr>
              <a:t>Ряды динамики позволяют выявить закономерности развития изучаемых явлений</a:t>
            </a:r>
          </a:p>
        </p:txBody>
      </p:sp>
    </p:spTree>
    <p:extLst>
      <p:ext uri="{BB962C8B-B14F-4D97-AF65-F5344CB8AC3E}">
        <p14:creationId xmlns:p14="http://schemas.microsoft.com/office/powerpoint/2010/main" val="8805066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399E1E-0664-4A19-86CC-B245F52F9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b="1" i="0" dirty="0">
                <a:solidFill>
                  <a:srgbClr val="000000"/>
                </a:solidFill>
                <a:effectLst/>
                <a:latin typeface="Open Sans"/>
              </a:rPr>
              <a:t>Ряды динамики-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Open Sans"/>
              </a:rPr>
              <a:t>два вида показателей: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97E6D-0879-411A-82EA-28D85A329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38" y="1752600"/>
            <a:ext cx="8109718" cy="441270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2800" b="1" i="0" dirty="0">
                <a:solidFill>
                  <a:srgbClr val="000000"/>
                </a:solidFill>
                <a:effectLst/>
                <a:latin typeface="Open Sans"/>
              </a:rPr>
              <a:t>Показатели времени</a:t>
            </a:r>
            <a:r>
              <a:rPr lang="ru-RU" sz="2800" dirty="0">
                <a:solidFill>
                  <a:srgbClr val="000000"/>
                </a:solidFill>
                <a:latin typeface="Open Sans"/>
              </a:rPr>
              <a:t>: 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Open Sans"/>
              </a:rPr>
              <a:t>годы, кварталы, месяцы и др.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ru-RU" sz="2800" b="0" i="0" dirty="0">
              <a:solidFill>
                <a:srgbClr val="000000"/>
              </a:solidFill>
              <a:effectLst/>
              <a:latin typeface="Open San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2800" b="1" i="0" dirty="0">
                <a:solidFill>
                  <a:srgbClr val="000000"/>
                </a:solidFill>
                <a:effectLst/>
                <a:latin typeface="Open Sans"/>
              </a:rPr>
              <a:t>Показатели уровней ряда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Open Sans"/>
              </a:rPr>
              <a:t> – это: 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ru-RU" sz="2400" b="0" i="0" dirty="0">
                <a:solidFill>
                  <a:srgbClr val="000000"/>
                </a:solidFill>
                <a:effectLst/>
                <a:latin typeface="Open Sans"/>
              </a:rPr>
              <a:t>абсолютные величины, например, производство продукта в тоннах или рублях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ru-RU" sz="2400" b="0" i="0" dirty="0">
                <a:solidFill>
                  <a:srgbClr val="000000"/>
                </a:solidFill>
                <a:effectLst/>
                <a:latin typeface="Open Sans"/>
              </a:rPr>
              <a:t>относительные величины, например, удельный вес городского населения в %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ru-RU" sz="2400" b="0" i="0" dirty="0">
                <a:solidFill>
                  <a:srgbClr val="000000"/>
                </a:solidFill>
                <a:effectLst/>
                <a:latin typeface="Open Sans"/>
              </a:rPr>
              <a:t>средние величины, например, средняя заработная плата работников отрасли по годам и т. п.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15460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231CFDCF-C452-4AC7-B216-A93AD8EF60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Показатели ряда динамики</a:t>
            </a:r>
          </a:p>
        </p:txBody>
      </p:sp>
      <p:graphicFrame>
        <p:nvGraphicFramePr>
          <p:cNvPr id="35845" name="Object 5">
            <a:extLst>
              <a:ext uri="{FF2B5EF4-FFF2-40B4-BE49-F238E27FC236}">
                <a16:creationId xmlns:a16="http://schemas.microsoft.com/office/drawing/2014/main" id="{84174E36-2CFC-4C3D-A270-3D0C01AD6B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1787525"/>
          <a:ext cx="2951163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50900" imgH="228600" progId="Equation.DSMT4">
                  <p:embed/>
                </p:oleObj>
              </mc:Choice>
              <mc:Fallback>
                <p:oleObj name="Equation" r:id="rId2" imgW="8509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1787525"/>
                        <a:ext cx="2951163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4" name="Object 4">
            <a:extLst>
              <a:ext uri="{FF2B5EF4-FFF2-40B4-BE49-F238E27FC236}">
                <a16:creationId xmlns:a16="http://schemas.microsoft.com/office/drawing/2014/main" id="{9EC4FAEB-38A8-416A-BA1A-B82D577BC9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2565400"/>
          <a:ext cx="3490912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241300" progId="Equation.DSMT4">
                  <p:embed/>
                </p:oleObj>
              </mc:Choice>
              <mc:Fallback>
                <p:oleObj name="Equation" r:id="rId4" imgW="914400" imgH="2413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2565400"/>
                        <a:ext cx="3490912" cy="922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6" name="Rectangle 6">
            <a:extLst>
              <a:ext uri="{FF2B5EF4-FFF2-40B4-BE49-F238E27FC236}">
                <a16:creationId xmlns:a16="http://schemas.microsoft.com/office/drawing/2014/main" id="{990CA2C1-6E8A-45EB-85D2-5D42C5653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916113"/>
            <a:ext cx="4541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абсолютный прирост: базовый  - </a:t>
            </a:r>
            <a:endParaRPr lang="ru-RU" altLang="ru-RU" sz="2400">
              <a:latin typeface="Arial" panose="020B0604020202020204" pitchFamily="34" charset="0"/>
            </a:endParaRPr>
          </a:p>
        </p:txBody>
      </p:sp>
      <p:sp>
        <p:nvSpPr>
          <p:cNvPr id="35847" name="Rectangle 7">
            <a:extLst>
              <a:ext uri="{FF2B5EF4-FFF2-40B4-BE49-F238E27FC236}">
                <a16:creationId xmlns:a16="http://schemas.microsoft.com/office/drawing/2014/main" id="{4BC5CB6C-DF40-4903-98B8-7942F31AC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2781300"/>
            <a:ext cx="13985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цепной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 </a:t>
            </a:r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-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35851" name="Object 11">
            <a:extLst>
              <a:ext uri="{FF2B5EF4-FFF2-40B4-BE49-F238E27FC236}">
                <a16:creationId xmlns:a16="http://schemas.microsoft.com/office/drawing/2014/main" id="{5776B282-069E-4320-96E5-1B04CF6D32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3573463"/>
          <a:ext cx="3311525" cy="132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79032" imgH="431613" progId="Equation.DSMT4">
                  <p:embed/>
                </p:oleObj>
              </mc:Choice>
              <mc:Fallback>
                <p:oleObj name="Equation" r:id="rId6" imgW="1079032" imgH="431613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3573463"/>
                        <a:ext cx="3311525" cy="1325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0" name="Object 10">
            <a:extLst>
              <a:ext uri="{FF2B5EF4-FFF2-40B4-BE49-F238E27FC236}">
                <a16:creationId xmlns:a16="http://schemas.microsoft.com/office/drawing/2014/main" id="{85313762-D711-4B17-8E77-05ADB32F1E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4868863"/>
          <a:ext cx="3311525" cy="138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79032" imgH="444307" progId="Equation.DSMT4">
                  <p:embed/>
                </p:oleObj>
              </mc:Choice>
              <mc:Fallback>
                <p:oleObj name="Equation" r:id="rId8" imgW="1079032" imgH="444307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4868863"/>
                        <a:ext cx="3311525" cy="1387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2" name="Rectangle 12">
            <a:extLst>
              <a:ext uri="{FF2B5EF4-FFF2-40B4-BE49-F238E27FC236}">
                <a16:creationId xmlns:a16="http://schemas.microsoft.com/office/drawing/2014/main" id="{202560DC-F27E-4759-B17F-DAE3BB4B0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25" y="3848100"/>
            <a:ext cx="4352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400" dirty="0">
                <a:latin typeface="Arial" panose="020B0604020202020204" pitchFamily="34" charset="0"/>
                <a:cs typeface="Times New Roman" panose="02020603050405020304" pitchFamily="18" charset="0"/>
              </a:rPr>
              <a:t>темп прироста:         базовый  - </a:t>
            </a:r>
            <a:endParaRPr lang="ru-RU" altLang="ru-RU" sz="2400" dirty="0">
              <a:latin typeface="Arial" panose="020B0604020202020204" pitchFamily="34" charset="0"/>
            </a:endParaRPr>
          </a:p>
        </p:txBody>
      </p:sp>
      <p:sp>
        <p:nvSpPr>
          <p:cNvPr id="35855" name="Rectangle 15">
            <a:extLst>
              <a:ext uri="{FF2B5EF4-FFF2-40B4-BE49-F238E27FC236}">
                <a16:creationId xmlns:a16="http://schemas.microsoft.com/office/drawing/2014/main" id="{6B2C6D36-50D8-491C-A74C-0E458799B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5229225"/>
            <a:ext cx="1563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цепной  -  </a:t>
            </a:r>
            <a:endParaRPr lang="ru-RU" altLang="ru-RU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83E66C4-0098-45AE-B9F2-4D07F1800A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Показатели ряда динамики</a:t>
            </a:r>
          </a:p>
        </p:txBody>
      </p:sp>
      <p:graphicFrame>
        <p:nvGraphicFramePr>
          <p:cNvPr id="36869" name="Object 5">
            <a:extLst>
              <a:ext uri="{FF2B5EF4-FFF2-40B4-BE49-F238E27FC236}">
                <a16:creationId xmlns:a16="http://schemas.microsoft.com/office/drawing/2014/main" id="{C431E1F3-2E50-452A-8274-28C6559F2556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4932363" y="1844675"/>
          <a:ext cx="3022600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65200" imgH="431800" progId="Equation.DSMT4">
                  <p:embed/>
                </p:oleObj>
              </mc:Choice>
              <mc:Fallback>
                <p:oleObj name="Equation" r:id="rId2" imgW="965200" imgH="431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1844675"/>
                        <a:ext cx="3022600" cy="135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8" name="Rectangle 4">
            <a:extLst>
              <a:ext uri="{FF2B5EF4-FFF2-40B4-BE49-F238E27FC236}">
                <a16:creationId xmlns:a16="http://schemas.microsoft.com/office/drawing/2014/main" id="{F5D80A8F-555E-4E87-9859-010194C68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675" y="2156916"/>
            <a:ext cx="41036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 sz="2400" dirty="0">
                <a:latin typeface="Arial" panose="020B0604020202020204" pitchFamily="34" charset="0"/>
                <a:cs typeface="Times New Roman" panose="02020603050405020304" pitchFamily="18" charset="0"/>
              </a:rPr>
              <a:t>темп роста:         базовый  - </a:t>
            </a:r>
            <a:endParaRPr lang="ru-RU" altLang="ru-RU" sz="2400" dirty="0">
              <a:latin typeface="Arial" panose="020B0604020202020204" pitchFamily="34" charset="0"/>
            </a:endParaRPr>
          </a:p>
        </p:txBody>
      </p:sp>
      <p:graphicFrame>
        <p:nvGraphicFramePr>
          <p:cNvPr id="36871" name="Object 7">
            <a:extLst>
              <a:ext uri="{FF2B5EF4-FFF2-40B4-BE49-F238E27FC236}">
                <a16:creationId xmlns:a16="http://schemas.microsoft.com/office/drawing/2014/main" id="{FBAC644C-66CB-4DCB-BAD7-F1189439E136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4932363" y="3716338"/>
          <a:ext cx="3240087" cy="136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28254" imgH="431613" progId="Equation.DSMT4">
                  <p:embed/>
                </p:oleObj>
              </mc:Choice>
              <mc:Fallback>
                <p:oleObj name="Equation" r:id="rId4" imgW="1028254" imgH="431613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3716338"/>
                        <a:ext cx="3240087" cy="1362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3" name="Rectangle 9">
            <a:extLst>
              <a:ext uri="{FF2B5EF4-FFF2-40B4-BE49-F238E27FC236}">
                <a16:creationId xmlns:a16="http://schemas.microsoft.com/office/drawing/2014/main" id="{D4C2E733-3B1B-4B5B-968A-14115E1A9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149725"/>
            <a:ext cx="1655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r"/>
            <a:r>
              <a:rPr lang="ru-RU" altLang="ru-RU" sz="2400">
                <a:latin typeface="Times New Roman" panose="02020603050405020304" pitchFamily="18" charset="0"/>
              </a:rPr>
              <a:t>цепной</a:t>
            </a:r>
            <a:r>
              <a:rPr lang="ru-RU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-</a:t>
            </a:r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B54FB0EA-C0F5-48F2-9E92-7A71B1C772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Показатели ряда динамики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940" name="Object 4">
                <a:extLst>
                  <a:ext uri="{FF2B5EF4-FFF2-40B4-BE49-F238E27FC236}">
                    <a16:creationId xmlns:a16="http://schemas.microsoft.com/office/drawing/2014/main" id="{AAC4ECB1-D9F3-49DD-B03F-37DF5F587683}"/>
                  </a:ext>
                </a:extLst>
              </p:cNvPr>
              <p:cNvSpPr txBox="1"/>
              <p:nvPr/>
            </p:nvSpPr>
            <p:spPr bwMode="auto">
              <a:xfrm>
                <a:off x="2268538" y="4437063"/>
                <a:ext cx="2908300" cy="142716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ru-RU" sz="3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ru-RU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ru-RU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bar>
                      <m:r>
                        <a:rPr lang="ru-RU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3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ru-RU" sz="3600" dirty="0"/>
              </a:p>
            </p:txBody>
          </p:sp>
        </mc:Choice>
        <mc:Fallback>
          <p:sp>
            <p:nvSpPr>
              <p:cNvPr id="39940" name="Object 4">
                <a:extLst>
                  <a:ext uri="{FF2B5EF4-FFF2-40B4-BE49-F238E27FC236}">
                    <a16:creationId xmlns:a16="http://schemas.microsoft.com/office/drawing/2014/main" id="{AAC4ECB1-D9F3-49DD-B03F-37DF5F587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8538" y="4437063"/>
                <a:ext cx="2908300" cy="14271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942" name="Rectangle 6">
            <a:extLst>
              <a:ext uri="{FF2B5EF4-FFF2-40B4-BE49-F238E27FC236}">
                <a16:creationId xmlns:a16="http://schemas.microsoft.com/office/drawing/2014/main" id="{79757A38-C6EA-438D-8F71-2E973BCAF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133600"/>
            <a:ext cx="424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400" dirty="0">
                <a:latin typeface="Arial" panose="020B0604020202020204" pitchFamily="34" charset="0"/>
                <a:cs typeface="Times New Roman" panose="02020603050405020304" pitchFamily="18" charset="0"/>
              </a:rPr>
              <a:t>Средний абсолютный прирост:</a:t>
            </a:r>
            <a:endParaRPr lang="ru-RU" altLang="ru-RU" sz="2400" dirty="0">
              <a:latin typeface="Arial" panose="020B0604020202020204" pitchFamily="34" charset="0"/>
            </a:endParaRPr>
          </a:p>
        </p:txBody>
      </p:sp>
      <p:sp>
        <p:nvSpPr>
          <p:cNvPr id="39943" name="Rectangle 7">
            <a:extLst>
              <a:ext uri="{FF2B5EF4-FFF2-40B4-BE49-F238E27FC236}">
                <a16:creationId xmlns:a16="http://schemas.microsoft.com/office/drawing/2014/main" id="{E8E25A50-2B15-46E7-8749-71F3DD020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3500438"/>
            <a:ext cx="74771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или:</a:t>
            </a:r>
            <a:endParaRPr lang="ru-RU" altLang="ru-RU" sz="2400">
              <a:latin typeface="Arial" panose="020B0604020202020204" pitchFamily="34" charset="0"/>
            </a:endParaRPr>
          </a:p>
          <a:p>
            <a:pPr eaLnBrk="0" hangingPunct="0"/>
            <a:endParaRPr lang="ru-RU" altLang="ru-RU" sz="2400">
              <a:latin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1B75B25-F443-4445-A57E-6B6C77442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096" y="1965325"/>
            <a:ext cx="2918732" cy="2095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A206CE47-DF39-4189-9609-5212AAFA2F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Показатели ряда динамики</a:t>
            </a:r>
          </a:p>
        </p:txBody>
      </p:sp>
      <p:sp>
        <p:nvSpPr>
          <p:cNvPr id="40966" name="Rectangle 6">
            <a:extLst>
              <a:ext uri="{FF2B5EF4-FFF2-40B4-BE49-F238E27FC236}">
                <a16:creationId xmlns:a16="http://schemas.microsoft.com/office/drawing/2014/main" id="{B0DD9B63-EEA7-4C75-BF3D-1F9996A38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068513"/>
            <a:ext cx="290671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Средний темп роста:</a:t>
            </a:r>
            <a:endParaRPr lang="ru-RU" altLang="ru-RU" sz="2400">
              <a:latin typeface="Arial" panose="020B0604020202020204" pitchFamily="34" charset="0"/>
            </a:endParaRPr>
          </a:p>
          <a:p>
            <a:pPr eaLnBrk="0" hangingPunct="0"/>
            <a:endParaRPr lang="ru-RU" altLang="ru-RU" sz="2400">
              <a:latin typeface="Arial" panose="020B0604020202020204" pitchFamily="34" charset="0"/>
            </a:endParaRPr>
          </a:p>
        </p:txBody>
      </p:sp>
      <p:sp>
        <p:nvSpPr>
          <p:cNvPr id="40967" name="Rectangle 7">
            <a:extLst>
              <a:ext uri="{FF2B5EF4-FFF2-40B4-BE49-F238E27FC236}">
                <a16:creationId xmlns:a16="http://schemas.microsoft.com/office/drawing/2014/main" id="{7157CA8A-AA94-40C5-9FBE-D2F6D4330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4292600"/>
            <a:ext cx="10080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или</a:t>
            </a:r>
            <a:endParaRPr lang="ru-RU" altLang="ru-RU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347B6D8-0BB2-4B7C-99D2-4C1D88D488EE}"/>
                  </a:ext>
                </a:extLst>
              </p:cNvPr>
              <p:cNvSpPr txBox="1"/>
              <p:nvPr/>
            </p:nvSpPr>
            <p:spPr>
              <a:xfrm>
                <a:off x="1716634" y="2831189"/>
                <a:ext cx="5710731" cy="7605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ru-RU" sz="400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bar>
                        </m:e>
                        <m:sub>
                          <m:r>
                            <a:rPr lang="ru-RU" sz="4000" b="0" i="1" smtClean="0">
                              <a:latin typeface="Cambria Math" panose="02040503050406030204" pitchFamily="18" charset="0"/>
                            </a:rPr>
                            <m:t>р</m:t>
                          </m:r>
                        </m:sub>
                      </m:sSub>
                      <m:r>
                        <a:rPr lang="ru-RU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ru-RU" sz="4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g>
                        <m:e>
                          <m:sSub>
                            <m:sSubPr>
                              <m:ctrlPr>
                                <a:rPr lang="ru-RU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ru-RU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ru-RU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ru-RU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…</m:t>
                          </m:r>
                          <m:r>
                            <a:rPr lang="ru-RU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ru-RU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ru-RU" sz="4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347B6D8-0BB2-4B7C-99D2-4C1D88D48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6634" y="2831189"/>
                <a:ext cx="5710731" cy="7605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934F4EE-6EF6-42F6-8D8D-C480729FE93C}"/>
                  </a:ext>
                </a:extLst>
              </p:cNvPr>
              <p:cNvSpPr txBox="1"/>
              <p:nvPr/>
            </p:nvSpPr>
            <p:spPr>
              <a:xfrm>
                <a:off x="3059832" y="4650793"/>
                <a:ext cx="2808312" cy="14550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ru-RU" sz="320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bar>
                        </m:e>
                        <m:sub>
                          <m:r>
                            <a:rPr lang="ru-RU" sz="3200" b="0" i="1" smtClean="0">
                              <a:latin typeface="Cambria Math" panose="02040503050406030204" pitchFamily="18" charset="0"/>
                            </a:rPr>
                            <m:t>р</m:t>
                          </m:r>
                        </m:sub>
                      </m:sSub>
                      <m:r>
                        <a:rPr lang="ru-RU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ru-RU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g>
                        <m:e>
                          <m:f>
                            <m:fPr>
                              <m:ctrlPr>
                                <a:rPr lang="ru-RU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ru-RU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ru-RU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934F4EE-6EF6-42F6-8D8D-C480729FE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4650793"/>
                <a:ext cx="2808312" cy="14550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7974A7D4-A059-4EFD-ACA2-0915A67CEA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Показатели ряда динамики</a:t>
            </a:r>
          </a:p>
        </p:txBody>
      </p:sp>
      <p:sp>
        <p:nvSpPr>
          <p:cNvPr id="41990" name="Rectangle 6">
            <a:extLst>
              <a:ext uri="{FF2B5EF4-FFF2-40B4-BE49-F238E27FC236}">
                <a16:creationId xmlns:a16="http://schemas.microsoft.com/office/drawing/2014/main" id="{CC0C002C-6F35-42C1-B10E-94914D6BA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895475"/>
            <a:ext cx="785018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 sz="2800" dirty="0">
                <a:latin typeface="Arial" panose="020B0604020202020204" pitchFamily="34" charset="0"/>
                <a:cs typeface="Times New Roman" panose="02020603050405020304" pitchFamily="18" charset="0"/>
              </a:rPr>
              <a:t>Средний темп прироста (при выражении среднего темпа роста в коэффициентах):</a:t>
            </a:r>
            <a:endParaRPr lang="ru-RU" altLang="ru-RU" sz="4000" dirty="0">
              <a:latin typeface="Arial" panose="020B0604020202020204" pitchFamily="34" charset="0"/>
            </a:endParaRPr>
          </a:p>
        </p:txBody>
      </p:sp>
      <p:sp>
        <p:nvSpPr>
          <p:cNvPr id="41991" name="Rectangle 7">
            <a:extLst>
              <a:ext uri="{FF2B5EF4-FFF2-40B4-BE49-F238E27FC236}">
                <a16:creationId xmlns:a16="http://schemas.microsoft.com/office/drawing/2014/main" id="{39240ED5-45DD-40BA-A18E-7CC945ADF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4293096"/>
            <a:ext cx="2614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400" dirty="0">
                <a:latin typeface="Arial" panose="020B0604020202020204" pitchFamily="34" charset="0"/>
                <a:cs typeface="Times New Roman" panose="02020603050405020304" pitchFamily="18" charset="0"/>
              </a:rPr>
              <a:t>или (в процентах):</a:t>
            </a:r>
            <a:endParaRPr lang="ru-RU" altLang="ru-RU" sz="3600" dirty="0">
              <a:latin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7BC62D-449A-40B2-A028-14C80A1E8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939" y="3024435"/>
            <a:ext cx="3429000" cy="108585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03885E4-1F96-4245-B2EF-7F90A02A4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752" y="4856658"/>
            <a:ext cx="4905375" cy="11334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30773E-49B4-4CE3-917A-FE5569AC6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800" b="1" dirty="0"/>
              <a:t>Аппроксимация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BBC9E0-CE31-415B-9BBA-0AB232AFB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38" y="2420888"/>
            <a:ext cx="8001000" cy="3598912"/>
          </a:xfrm>
        </p:spPr>
        <p:txBody>
          <a:bodyPr/>
          <a:lstStyle/>
          <a:p>
            <a:pPr marL="0" indent="0" algn="l">
              <a:buNone/>
            </a:pPr>
            <a:r>
              <a:rPr lang="ru-RU" sz="3200" b="1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Аппроксима́ция</a:t>
            </a:r>
            <a:r>
              <a:rPr lang="ru-RU" sz="3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(от </a:t>
            </a:r>
            <a:r>
              <a:rPr lang="ru-RU" sz="3200" b="0" i="0" u="none" strike="noStrike" dirty="0">
                <a:solidFill>
                  <a:srgbClr val="0B0080"/>
                </a:solidFill>
                <a:effectLst/>
                <a:latin typeface="Arial" panose="020B0604020202020204" pitchFamily="34" charset="0"/>
              </a:rPr>
              <a:t>лат.</a:t>
            </a:r>
            <a:r>
              <a:rPr lang="ru-RU" sz="3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ru-RU" sz="3200" b="0" i="1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proxima</a:t>
            </a:r>
            <a:r>
              <a:rPr lang="ru-RU" sz="3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— ближайшая) или </a:t>
            </a:r>
            <a:r>
              <a:rPr lang="ru-RU" sz="3200" b="1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приближе́ние</a:t>
            </a:r>
            <a:r>
              <a:rPr lang="ru-RU" sz="3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— </a:t>
            </a:r>
            <a:r>
              <a:rPr lang="ru-RU" sz="3200" dirty="0">
                <a:solidFill>
                  <a:srgbClr val="202122"/>
                </a:solidFill>
                <a:latin typeface="Arial" panose="020B0604020202020204" pitchFamily="34" charset="0"/>
              </a:rPr>
              <a:t>научный метод</a:t>
            </a:r>
            <a:r>
              <a:rPr lang="ru-RU" sz="3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состоящий в замене одних объектов другими, в каком-то смысле близкими к исходным, но более простыми</a:t>
            </a:r>
          </a:p>
        </p:txBody>
      </p:sp>
    </p:spTree>
    <p:extLst>
      <p:ext uri="{BB962C8B-B14F-4D97-AF65-F5344CB8AC3E}">
        <p14:creationId xmlns:p14="http://schemas.microsoft.com/office/powerpoint/2010/main" val="36861586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30773E-49B4-4CE3-917A-FE5569AC6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800" b="1" dirty="0"/>
              <a:t>Аппроксимация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BBC9E0-CE31-415B-9BBA-0AB232AFB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752600"/>
            <a:ext cx="8424936" cy="4267200"/>
          </a:xfrm>
        </p:spPr>
        <p:txBody>
          <a:bodyPr/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lang="ru-RU" sz="2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Аппроксимация позволяет исследовать числовые характеристики и качественные свойства объекта, сводя задачу к изучению более простых или более удобных объектов (например, таких, характеристики которых легко вычисляются или свойства которых уже известны)</a:t>
            </a:r>
            <a:endParaRPr lang="ru-RU" sz="2200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lang="ru-RU" sz="2200" dirty="0">
                <a:solidFill>
                  <a:srgbClr val="202122"/>
                </a:solidFill>
                <a:latin typeface="Arial" panose="020B0604020202020204" pitchFamily="34" charset="0"/>
              </a:rPr>
              <a:t>Аппроксимацией называется процесс подбора эмпирической формулы </a:t>
            </a:r>
            <a:r>
              <a:rPr lang="ru-RU" sz="2200" i="1" dirty="0">
                <a:solidFill>
                  <a:srgbClr val="202122"/>
                </a:solidFill>
                <a:latin typeface="Arial" panose="020B0604020202020204" pitchFamily="34" charset="0"/>
              </a:rPr>
              <a:t>φ(х)</a:t>
            </a:r>
            <a:r>
              <a:rPr lang="ru-RU" sz="2200" dirty="0">
                <a:solidFill>
                  <a:srgbClr val="202122"/>
                </a:solidFill>
                <a:latin typeface="Arial" panose="020B0604020202020204" pitchFamily="34" charset="0"/>
              </a:rPr>
              <a:t> для установленной из опыта предполагаемой функциональной зависимости </a:t>
            </a:r>
            <a:r>
              <a:rPr lang="en-US" sz="2200" i="1" dirty="0">
                <a:solidFill>
                  <a:srgbClr val="202122"/>
                </a:solidFill>
                <a:latin typeface="Arial" panose="020B0604020202020204" pitchFamily="34" charset="0"/>
              </a:rPr>
              <a:t>y=f(x)</a:t>
            </a:r>
            <a:endParaRPr lang="ru-RU" sz="2200" i="1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lang="ru-RU" sz="2200" i="1" dirty="0">
                <a:solidFill>
                  <a:srgbClr val="202122"/>
                </a:solidFill>
                <a:latin typeface="Arial" panose="020B0604020202020204" pitchFamily="34" charset="0"/>
              </a:rPr>
              <a:t>Эмпирические формулы служат для аналитического представления опытных данных и построения на их основе прогнозов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2447830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C06F09F0-6AB3-44F6-B990-06C5DC6EC4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1017162"/>
              </p:ext>
            </p:extLst>
          </p:nvPr>
        </p:nvGraphicFramePr>
        <p:xfrm>
          <a:off x="1187624" y="1700808"/>
          <a:ext cx="7200800" cy="432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93B9B31E-CA0F-416A-B598-13EAA0C1C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ru-RU" sz="4800" b="1" dirty="0"/>
              <a:t>Аппроксимация</a:t>
            </a:r>
          </a:p>
        </p:txBody>
      </p:sp>
    </p:spTree>
    <p:extLst>
      <p:ext uri="{BB962C8B-B14F-4D97-AF65-F5344CB8AC3E}">
        <p14:creationId xmlns:p14="http://schemas.microsoft.com/office/powerpoint/2010/main" val="113231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1E7522-A198-4A3E-B3C5-ABDD8DEBB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5400" b="1" dirty="0"/>
              <a:t>Интерполяция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95E889-911A-4C22-BE48-30B4D8AB6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ru-RU" sz="3600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Интерполя́ция</a:t>
            </a:r>
            <a:r>
              <a:rPr lang="ru-RU" sz="3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ru-RU" sz="36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интерполи́рование</a:t>
            </a:r>
            <a:r>
              <a:rPr lang="ru-RU" sz="3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— в вычислительной математике нахождение неизвестных промежуточных значений некоторой функции, по имеющемуся дискретному набору ее известных значений, определенным способом</a:t>
            </a:r>
          </a:p>
          <a:p>
            <a:endParaRPr lang="ru-RU" sz="3600" b="1" dirty="0"/>
          </a:p>
        </p:txBody>
      </p:sp>
    </p:spTree>
    <p:extLst>
      <p:ext uri="{BB962C8B-B14F-4D97-AF65-F5344CB8AC3E}">
        <p14:creationId xmlns:p14="http://schemas.microsoft.com/office/powerpoint/2010/main" val="4276622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C6C28B-9D04-47A5-95B7-C4DC167A8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800" b="1" i="0" dirty="0"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ЭКСТРАПОЛЯЦИЯ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496717-20C6-4451-9F55-73C5F4F3B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3200" b="1" i="0" dirty="0">
                <a:effectLst/>
                <a:latin typeface="Helvetica" panose="020B0604020202020204" pitchFamily="34" charset="0"/>
              </a:rPr>
              <a:t>ЭКСТРАПОЛЯЦИЯ</a:t>
            </a:r>
            <a:r>
              <a:rPr lang="ru-RU" sz="3200" b="0" i="0" dirty="0">
                <a:effectLst/>
                <a:latin typeface="Helvetica" panose="020B0604020202020204" pitchFamily="34" charset="0"/>
              </a:rPr>
              <a:t> 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(от лат.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extrapolire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 — делать гладким, выправлять, полировать) – в научном познании способ распространения выводов, полученных при исследовании одной части явлений, процессов и систем на неисследованные части и на них в целом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1048713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>
            <a:extLst>
              <a:ext uri="{FF2B5EF4-FFF2-40B4-BE49-F238E27FC236}">
                <a16:creationId xmlns:a16="http://schemas.microsoft.com/office/drawing/2014/main" id="{1E093063-C382-4A05-B9F4-4E0D63BBC5E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052736"/>
            <a:ext cx="8257257" cy="43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955675"/>
      </p:ext>
    </p:extLst>
  </p:cSld>
  <p:clrMapOvr>
    <a:masterClrMapping/>
  </p:clrMapOvr>
</p:sld>
</file>

<file path=ppt/theme/theme1.xml><?xml version="1.0" encoding="utf-8"?>
<a:theme xmlns:a="http://schemas.openxmlformats.org/drawingml/2006/main" name="Профиль">
  <a:themeElements>
    <a:clrScheme name="Профиль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Профиль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Профиль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рофиль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347</TotalTime>
  <Words>748</Words>
  <Application>Microsoft Office PowerPoint</Application>
  <PresentationFormat>Экран (4:3)</PresentationFormat>
  <Paragraphs>108</Paragraphs>
  <Slides>31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42" baseType="lpstr">
      <vt:lpstr>Arial</vt:lpstr>
      <vt:lpstr>Arial Cyr</vt:lpstr>
      <vt:lpstr>Calibri</vt:lpstr>
      <vt:lpstr>Cambria Math</vt:lpstr>
      <vt:lpstr>Helvetica</vt:lpstr>
      <vt:lpstr>Open Sans</vt:lpstr>
      <vt:lpstr>Times New Roman</vt:lpstr>
      <vt:lpstr>Verdana</vt:lpstr>
      <vt:lpstr>Wingdings</vt:lpstr>
      <vt:lpstr>Профиль</vt:lpstr>
      <vt:lpstr>Equation</vt:lpstr>
      <vt:lpstr>Понятие прогноза </vt:lpstr>
      <vt:lpstr>Основные понятия </vt:lpstr>
      <vt:lpstr>Основные понятия</vt:lpstr>
      <vt:lpstr>Основные понятия</vt:lpstr>
      <vt:lpstr>Презентация PowerPoint</vt:lpstr>
      <vt:lpstr>Этапы построения модели</vt:lpstr>
      <vt:lpstr>Этапы построения модели</vt:lpstr>
      <vt:lpstr>Этапы построения модели</vt:lpstr>
      <vt:lpstr>Эконометрическое моделирование реальных социально-экономических процессов и систем обычно преследует два типа конечных прикладных целей (или  одну  из  них):</vt:lpstr>
      <vt:lpstr>Характеристики качества прогнозов и методы их оценки </vt:lpstr>
      <vt:lpstr>Ошибка прогноза</vt:lpstr>
      <vt:lpstr>Количественные характеристики</vt:lpstr>
      <vt:lpstr>Количественные характеристики</vt:lpstr>
      <vt:lpstr>Относительные характеристики</vt:lpstr>
      <vt:lpstr>Информационные характеристики качества модели </vt:lpstr>
      <vt:lpstr>Информационные характеристики качества модели</vt:lpstr>
      <vt:lpstr>Наивные методы прогнозирования </vt:lpstr>
      <vt:lpstr>Наивные методы прогнозирования</vt:lpstr>
      <vt:lpstr>Ряды динамики</vt:lpstr>
      <vt:lpstr>Ряды динамики-два вида показателей:</vt:lpstr>
      <vt:lpstr>Показатели ряда динамики</vt:lpstr>
      <vt:lpstr>Показатели ряда динамики</vt:lpstr>
      <vt:lpstr>Показатели ряда динамики</vt:lpstr>
      <vt:lpstr>Показатели ряда динамики</vt:lpstr>
      <vt:lpstr>Показатели ряда динамики</vt:lpstr>
      <vt:lpstr>Аппроксимация</vt:lpstr>
      <vt:lpstr>Аппроксимация</vt:lpstr>
      <vt:lpstr>Аппроксимация</vt:lpstr>
      <vt:lpstr>Интерполяция</vt:lpstr>
      <vt:lpstr>ЭКСТРАПОЛЯЦИЯ</vt:lpstr>
      <vt:lpstr>Презентация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План и прогноз</dc:title>
  <dc:creator>Иринка</dc:creator>
  <cp:lastModifiedBy>Ирина Бартасевич</cp:lastModifiedBy>
  <cp:revision>19</cp:revision>
  <dcterms:created xsi:type="dcterms:W3CDTF">2009-09-18T05:28:33Z</dcterms:created>
  <dcterms:modified xsi:type="dcterms:W3CDTF">2022-10-29T11:56:56Z</dcterms:modified>
</cp:coreProperties>
</file>