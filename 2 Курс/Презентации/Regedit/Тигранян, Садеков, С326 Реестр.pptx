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6d8c6adfe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6d8c6adfe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6d8c6adfe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6d8c6adfe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68686dbf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68686dbf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68686dbf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68686dbf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727e80c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727e80c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727e80c3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727e80c3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68686dbf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68686dbf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egistry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3038" y="774175"/>
            <a:ext cx="3363876" cy="359515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26725" y="450600"/>
            <a:ext cx="6411900" cy="1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2800">
                <a:solidFill>
                  <a:schemeClr val="dk1"/>
                </a:solidFill>
              </a:rPr>
              <a:t>Системный реестр. Просмотр, анализ и редактирование.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19200" y="3410300"/>
            <a:ext cx="29844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Тигранян Эдуард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Садеков Дмитри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55875" y="4350200"/>
            <a:ext cx="1460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С326</a:t>
            </a:r>
            <a:endParaRPr sz="1600">
              <a:solidFill>
                <a:schemeClr val="lt2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000" y="2053800"/>
            <a:ext cx="3810058" cy="8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3636525" y="50"/>
            <a:ext cx="55074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18850" y="1301900"/>
            <a:ext cx="32724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2000">
                <a:solidFill>
                  <a:schemeClr val="dk1"/>
                </a:solidFill>
              </a:rPr>
              <a:t>Системный реестр</a:t>
            </a:r>
            <a:r>
              <a:rPr lang="ru" sz="2000">
                <a:solidFill>
                  <a:schemeClr val="dk1"/>
                </a:solidFill>
              </a:rPr>
              <a:t> - это база данных для хранения информации о параметрах и настройках компьютера в операционных системах Microsoft Windows.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0475" y="805675"/>
            <a:ext cx="5483524" cy="306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Разделитель1.png"/>
          <p:cNvPicPr preferRelativeResize="0"/>
          <p:nvPr/>
        </p:nvPicPr>
        <p:blipFill rotWithShape="1">
          <a:blip r:embed="rId4">
            <a:alphaModFix/>
          </a:blip>
          <a:srcRect b="37204" l="15669" r="13297" t="35917"/>
          <a:stretch/>
        </p:blipFill>
        <p:spPr>
          <a:xfrm>
            <a:off x="-47325" y="894775"/>
            <a:ext cx="3828623" cy="2873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146850" y="31350"/>
            <a:ext cx="32724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</a:rPr>
              <a:t>Определение и значение в Windows</a:t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68" name="Google Shape;68;p14" title="Разделитель1.png"/>
          <p:cNvPicPr preferRelativeResize="0"/>
          <p:nvPr/>
        </p:nvPicPr>
        <p:blipFill rotWithShape="1">
          <a:blip r:embed="rId4">
            <a:alphaModFix/>
          </a:blip>
          <a:srcRect b="0" l="12873" r="11397" t="0"/>
          <a:stretch/>
        </p:blipFill>
        <p:spPr>
          <a:xfrm rot="-5400000">
            <a:off x="1021200" y="2028774"/>
            <a:ext cx="5249101" cy="106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-145" y="214700"/>
            <a:ext cx="914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chemeClr val="dk1"/>
                </a:solidFill>
              </a:rPr>
              <a:t>Структура реестра</a:t>
            </a:r>
            <a:endParaRPr b="1" sz="2600">
              <a:solidFill>
                <a:schemeClr val="dk1"/>
              </a:solidFill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1329347" y="871050"/>
            <a:ext cx="6427310" cy="3689000"/>
            <a:chOff x="1127936" y="1019250"/>
            <a:chExt cx="6592113" cy="3689000"/>
          </a:xfrm>
        </p:grpSpPr>
        <p:grpSp>
          <p:nvGrpSpPr>
            <p:cNvPr id="75" name="Google Shape;75;p15"/>
            <p:cNvGrpSpPr/>
            <p:nvPr/>
          </p:nvGrpSpPr>
          <p:grpSpPr>
            <a:xfrm>
              <a:off x="1127936" y="1019250"/>
              <a:ext cx="6592113" cy="3689000"/>
              <a:chOff x="1258461" y="1086575"/>
              <a:chExt cx="6592113" cy="3689000"/>
            </a:xfrm>
          </p:grpSpPr>
          <p:pic>
            <p:nvPicPr>
              <p:cNvPr id="76" name="Google Shape;76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12342" r="0" t="0"/>
              <a:stretch/>
            </p:blipFill>
            <p:spPr>
              <a:xfrm>
                <a:off x="1258461" y="1086575"/>
                <a:ext cx="6592113" cy="3689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5"/>
              <p:cNvSpPr/>
              <p:nvPr/>
            </p:nvSpPr>
            <p:spPr>
              <a:xfrm>
                <a:off x="1299350" y="2493475"/>
                <a:ext cx="808500" cy="71280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" name="Google Shape;78;p15"/>
            <p:cNvSpPr/>
            <p:nvPr/>
          </p:nvSpPr>
          <p:spPr>
            <a:xfrm>
              <a:off x="1162875" y="1043425"/>
              <a:ext cx="1078500" cy="197400"/>
            </a:xfrm>
            <a:prstGeom prst="rect">
              <a:avLst/>
            </a:prstGeom>
            <a:solidFill>
              <a:srgbClr val="FDF3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9" name="Google Shape;79;p15" title="Разделитель1.png"/>
          <p:cNvPicPr preferRelativeResize="0"/>
          <p:nvPr/>
        </p:nvPicPr>
        <p:blipFill rotWithShape="1">
          <a:blip r:embed="rId4">
            <a:alphaModFix/>
          </a:blip>
          <a:srcRect b="37204" l="15669" r="15116" t="35917"/>
          <a:stretch/>
        </p:blipFill>
        <p:spPr>
          <a:xfrm>
            <a:off x="951938" y="641550"/>
            <a:ext cx="7239977" cy="43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Разделитель1.png"/>
          <p:cNvPicPr preferRelativeResize="0"/>
          <p:nvPr/>
        </p:nvPicPr>
        <p:blipFill rotWithShape="1">
          <a:blip r:embed="rId4">
            <a:alphaModFix/>
          </a:blip>
          <a:srcRect b="37204" l="15669" r="15116" t="35917"/>
          <a:stretch/>
        </p:blipFill>
        <p:spPr>
          <a:xfrm>
            <a:off x="952075" y="4332500"/>
            <a:ext cx="7239977" cy="43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0" l="1075" r="2044" t="0"/>
          <a:stretch/>
        </p:blipFill>
        <p:spPr>
          <a:xfrm>
            <a:off x="1423700" y="1055625"/>
            <a:ext cx="6208377" cy="350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Разделитель1.png"/>
          <p:cNvPicPr preferRelativeResize="0"/>
          <p:nvPr/>
        </p:nvPicPr>
        <p:blipFill rotWithShape="1">
          <a:blip r:embed="rId4">
            <a:alphaModFix/>
          </a:blip>
          <a:srcRect b="37204" l="15669" r="15116" t="35917"/>
          <a:stretch/>
        </p:blipFill>
        <p:spPr>
          <a:xfrm>
            <a:off x="1067913" y="826725"/>
            <a:ext cx="6984100" cy="43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Разделитель1.png"/>
          <p:cNvPicPr preferRelativeResize="0"/>
          <p:nvPr/>
        </p:nvPicPr>
        <p:blipFill rotWithShape="1">
          <a:blip r:embed="rId4">
            <a:alphaModFix/>
          </a:blip>
          <a:srcRect b="37204" l="15669" r="15116" t="35917"/>
          <a:stretch/>
        </p:blipFill>
        <p:spPr>
          <a:xfrm>
            <a:off x="1091988" y="4309425"/>
            <a:ext cx="6984100" cy="4347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2105662" y="406125"/>
            <a:ext cx="49086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chemeClr val="dk1"/>
                </a:solidFill>
              </a:rPr>
              <a:t>Структура реестра Windows</a:t>
            </a:r>
            <a:endParaRPr b="1"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3636525" y="-61300"/>
            <a:ext cx="5507400" cy="5204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155100" y="958825"/>
            <a:ext cx="3560400" cy="4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Просмотр информации о системе в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u="sng">
                <a:solidFill>
                  <a:schemeClr val="dk1"/>
                </a:solidFill>
              </a:rPr>
              <a:t>CurrentVersion</a:t>
            </a:r>
            <a:endParaRPr sz="20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по пути: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C:\Windows\system32\config\SOFTWARE: Microsoft\Windows NT\CurrentVersion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_________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95" name="Google Shape;95;p17" title="Разделитель1.png"/>
          <p:cNvPicPr preferRelativeResize="0"/>
          <p:nvPr/>
        </p:nvPicPr>
        <p:blipFill rotWithShape="1">
          <a:blip r:embed="rId3">
            <a:alphaModFix/>
          </a:blip>
          <a:srcRect b="37204" l="15669" r="13297" t="35917"/>
          <a:stretch/>
        </p:blipFill>
        <p:spPr>
          <a:xfrm>
            <a:off x="-47300" y="600250"/>
            <a:ext cx="3828623" cy="2873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241200" y="131250"/>
            <a:ext cx="30837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chemeClr val="dk1"/>
                </a:solidFill>
              </a:rPr>
              <a:t>Пример 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4">
            <a:alphaModFix/>
          </a:blip>
          <a:srcRect b="1353" l="861" r="38908" t="1237"/>
          <a:stretch/>
        </p:blipFill>
        <p:spPr>
          <a:xfrm>
            <a:off x="3636525" y="238425"/>
            <a:ext cx="5507401" cy="460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 title="Разделитель1.png"/>
          <p:cNvPicPr preferRelativeResize="0"/>
          <p:nvPr/>
        </p:nvPicPr>
        <p:blipFill rotWithShape="1">
          <a:blip r:embed="rId3">
            <a:alphaModFix/>
          </a:blip>
          <a:srcRect b="0" l="12873" r="11397" t="0"/>
          <a:stretch/>
        </p:blipFill>
        <p:spPr>
          <a:xfrm rot="-5400000">
            <a:off x="1021200" y="2028774"/>
            <a:ext cx="5249101" cy="106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0" y="315150"/>
            <a:ext cx="535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620"/>
              <a:t>Основные разделы</a:t>
            </a:r>
            <a:endParaRPr b="1" sz="2620"/>
          </a:p>
        </p:txBody>
      </p:sp>
      <p:sp>
        <p:nvSpPr>
          <p:cNvPr id="104" name="Google Shape;104;p18"/>
          <p:cNvSpPr/>
          <p:nvPr/>
        </p:nvSpPr>
        <p:spPr>
          <a:xfrm>
            <a:off x="5353050" y="-30600"/>
            <a:ext cx="5507400" cy="5204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0" l="0" r="0" t="695"/>
          <a:stretch/>
        </p:blipFill>
        <p:spPr>
          <a:xfrm>
            <a:off x="5496400" y="1644863"/>
            <a:ext cx="3790950" cy="185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86800" y="1105050"/>
            <a:ext cx="5409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HKEY_CURRENT_USER - хранит информацию о текущем пользователе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HKEY_USERS - хранит информацию о всех пользователях на устройстве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HKEY_LOCAL_MACHINE - </a:t>
            </a:r>
            <a:r>
              <a:rPr lang="ru" sz="2000">
                <a:solidFill>
                  <a:schemeClr val="dk1"/>
                </a:solidFill>
              </a:rPr>
              <a:t>хранит параметры конфигурации компьютера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HKEY_CLASSES_ROOT - управление ассоциациями файлов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HKEY_CURRENT_CONFIG - обеспечение доступа к текущей конфигурации оборудования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</p:txBody>
      </p:sp>
      <p:pic>
        <p:nvPicPr>
          <p:cNvPr id="107" name="Google Shape;107;p18" title="Разделитель1.png"/>
          <p:cNvPicPr preferRelativeResize="0"/>
          <p:nvPr/>
        </p:nvPicPr>
        <p:blipFill rotWithShape="1">
          <a:blip r:embed="rId4">
            <a:alphaModFix/>
          </a:blip>
          <a:srcRect b="0" l="12873" r="11397" t="0"/>
          <a:stretch/>
        </p:blipFill>
        <p:spPr>
          <a:xfrm rot="-5400000">
            <a:off x="2729800" y="2037274"/>
            <a:ext cx="5249101" cy="106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 title="Разделитель1.png"/>
          <p:cNvPicPr preferRelativeResize="0"/>
          <p:nvPr/>
        </p:nvPicPr>
        <p:blipFill rotWithShape="1">
          <a:blip r:embed="rId4">
            <a:alphaModFix/>
          </a:blip>
          <a:srcRect b="0" l="16152" r="8118" t="0"/>
          <a:stretch/>
        </p:blipFill>
        <p:spPr>
          <a:xfrm>
            <a:off x="247300" y="447150"/>
            <a:ext cx="5249101" cy="107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9" title="Разделитель1.png"/>
          <p:cNvPicPr preferRelativeResize="0"/>
          <p:nvPr/>
        </p:nvPicPr>
        <p:blipFill rotWithShape="1">
          <a:blip r:embed="rId3">
            <a:alphaModFix/>
          </a:blip>
          <a:srcRect b="37204" l="15669" r="15116" t="35917"/>
          <a:stretch/>
        </p:blipFill>
        <p:spPr>
          <a:xfrm>
            <a:off x="340200" y="767900"/>
            <a:ext cx="6152223" cy="4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524163" y="363325"/>
            <a:ext cx="57843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chemeClr val="dk1"/>
                </a:solidFill>
              </a:rPr>
              <a:t>Расположение реестра в системе</a:t>
            </a:r>
            <a:endParaRPr b="1" sz="2600">
              <a:solidFill>
                <a:schemeClr val="dk1"/>
              </a:solidFill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 rotWithShape="1">
          <a:blip r:embed="rId4">
            <a:alphaModFix/>
          </a:blip>
          <a:srcRect b="1680" l="0" r="49086" t="-1680"/>
          <a:stretch/>
        </p:blipFill>
        <p:spPr>
          <a:xfrm>
            <a:off x="6654850" y="904525"/>
            <a:ext cx="2320525" cy="317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 rotWithShape="1">
          <a:blip r:embed="rId5">
            <a:alphaModFix/>
          </a:blip>
          <a:srcRect b="-1476" l="1277" r="50889" t="6211"/>
          <a:stretch/>
        </p:blipFill>
        <p:spPr>
          <a:xfrm>
            <a:off x="524163" y="1179875"/>
            <a:ext cx="2812375" cy="22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5">
            <a:alphaModFix/>
          </a:blip>
          <a:srcRect b="0" l="49908" r="-654" t="0"/>
          <a:stretch/>
        </p:blipFill>
        <p:spPr>
          <a:xfrm>
            <a:off x="3448838" y="1179875"/>
            <a:ext cx="2919250" cy="22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/>
        </p:nvSpPr>
        <p:spPr>
          <a:xfrm>
            <a:off x="6308475" y="4104475"/>
            <a:ext cx="28551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Основные файлы реестра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1201225" y="3520800"/>
            <a:ext cx="47265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Папка с профилями системных сервисов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0" name="Google Shape;120;p19" title="Разделитель1.png"/>
          <p:cNvPicPr preferRelativeResize="0"/>
          <p:nvPr/>
        </p:nvPicPr>
        <p:blipFill rotWithShape="1">
          <a:blip r:embed="rId3">
            <a:alphaModFix/>
          </a:blip>
          <a:srcRect b="37204" l="15669" r="15116" t="35917"/>
          <a:stretch/>
        </p:blipFill>
        <p:spPr>
          <a:xfrm>
            <a:off x="340212" y="3767350"/>
            <a:ext cx="6152223" cy="41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1229463" y="1220625"/>
            <a:ext cx="7005300" cy="24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6600"/>
              <a:t>СПАСИБО ЗА ВНИМАНИЕ</a:t>
            </a:r>
            <a:endParaRPr b="1" sz="6600"/>
          </a:p>
        </p:txBody>
      </p:sp>
      <p:pic>
        <p:nvPicPr>
          <p:cNvPr id="126" name="Google Shape;126;p20" title="Разделитель1.png"/>
          <p:cNvPicPr preferRelativeResize="0"/>
          <p:nvPr/>
        </p:nvPicPr>
        <p:blipFill rotWithShape="1">
          <a:blip r:embed="rId3">
            <a:alphaModFix/>
          </a:blip>
          <a:srcRect b="37204" l="15669" r="13297" t="35917"/>
          <a:stretch/>
        </p:blipFill>
        <p:spPr>
          <a:xfrm>
            <a:off x="0" y="1220625"/>
            <a:ext cx="9464223" cy="28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 title="Разделитель1.png"/>
          <p:cNvPicPr preferRelativeResize="0"/>
          <p:nvPr/>
        </p:nvPicPr>
        <p:blipFill rotWithShape="1">
          <a:blip r:embed="rId3">
            <a:alphaModFix/>
          </a:blip>
          <a:srcRect b="37204" l="15669" r="13297" t="35917"/>
          <a:stretch/>
        </p:blipFill>
        <p:spPr>
          <a:xfrm>
            <a:off x="-20087" y="3383200"/>
            <a:ext cx="9464223" cy="28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