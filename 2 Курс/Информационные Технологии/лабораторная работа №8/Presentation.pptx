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8" r:id="rId3"/>
    <p:sldId id="285" r:id="rId4"/>
    <p:sldId id="257" r:id="rId5"/>
    <p:sldId id="280" r:id="rId6"/>
    <p:sldId id="283" r:id="rId7"/>
    <p:sldId id="261" r:id="rId8"/>
    <p:sldId id="265" r:id="rId9"/>
    <p:sldId id="269" r:id="rId10"/>
    <p:sldId id="273" r:id="rId11"/>
    <p:sldId id="270" r:id="rId12"/>
    <p:sldId id="271" r:id="rId13"/>
    <p:sldId id="272" r:id="rId14"/>
    <p:sldId id="274" r:id="rId15"/>
    <p:sldId id="284" r:id="rId16"/>
    <p:sldId id="275" r:id="rId17"/>
    <p:sldId id="288" r:id="rId18"/>
    <p:sldId id="289" r:id="rId19"/>
    <p:sldId id="290" r:id="rId20"/>
    <p:sldId id="291" r:id="rId21"/>
    <p:sldId id="292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11526B06-E018-4DDA-897D-73516105FB88}">
          <p14:sldIdLst>
            <p14:sldId id="256"/>
            <p14:sldId id="258"/>
            <p14:sldId id="285"/>
            <p14:sldId id="257"/>
            <p14:sldId id="280"/>
            <p14:sldId id="283"/>
            <p14:sldId id="261"/>
            <p14:sldId id="265"/>
            <p14:sldId id="269"/>
            <p14:sldId id="273"/>
            <p14:sldId id="270"/>
            <p14:sldId id="271"/>
            <p14:sldId id="272"/>
            <p14:sldId id="274"/>
            <p14:sldId id="284"/>
            <p14:sldId id="275"/>
            <p14:sldId id="288"/>
            <p14:sldId id="289"/>
            <p14:sldId id="290"/>
            <p14:sldId id="291"/>
            <p14:sldId id="29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523" initials="u" lastIdx="2" clrIdx="0">
    <p:extLst>
      <p:ext uri="{19B8F6BF-5375-455C-9EA6-DF929625EA0E}">
        <p15:presenceInfo xmlns:p15="http://schemas.microsoft.com/office/powerpoint/2012/main" userId="S-1-5-21-226154547-3511207844-766559826-284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2A35"/>
    <a:srgbClr val="8FAADC"/>
    <a:srgbClr val="325CA0"/>
    <a:srgbClr val="3B5597"/>
    <a:srgbClr val="1E1E1E"/>
    <a:srgbClr val="1F4E79"/>
    <a:srgbClr val="335CB7"/>
    <a:srgbClr val="2B6CA7"/>
    <a:srgbClr val="456ECB"/>
    <a:srgbClr val="2621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2" autoAdjust="0"/>
    <p:restoredTop sz="94673" autoAdjust="0"/>
  </p:normalViewPr>
  <p:slideViewPr>
    <p:cSldViewPr snapToGrid="0">
      <p:cViewPr varScale="1">
        <p:scale>
          <a:sx n="86" d="100"/>
          <a:sy n="86" d="100"/>
        </p:scale>
        <p:origin x="96" y="4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24A3F0-12CB-4003-850B-EACD01F808DC}" type="datetimeFigureOut">
              <a:rPr lang="ru-RU" smtClean="0"/>
              <a:t>17.12.2024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E50385-0914-4D68-8628-646F422D839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82245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E50385-0914-4D68-8628-646F422D839A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59602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E50385-0914-4D68-8628-646F422D839A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59204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E50385-0914-4D68-8628-646F422D839A}" type="slidenum">
              <a:rPr lang="ru-RU" smtClean="0"/>
              <a:t>16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9171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E50385-0914-4D68-8628-646F422D839A}" type="slidenum">
              <a:rPr lang="ru-RU" smtClean="0"/>
              <a:t>20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78440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3072C-C843-4F33-8159-6679BB8FA03D}" type="datetimeFigureOut">
              <a:rPr lang="ru-RU" smtClean="0"/>
              <a:t>17.12.2024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BD981-A647-4787-B531-67C70252423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02705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3072C-C843-4F33-8159-6679BB8FA03D}" type="datetimeFigureOut">
              <a:rPr lang="ru-RU" smtClean="0"/>
              <a:t>17.12.2024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BD981-A647-4787-B531-67C70252423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62957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3072C-C843-4F33-8159-6679BB8FA03D}" type="datetimeFigureOut">
              <a:rPr lang="ru-RU" smtClean="0"/>
              <a:t>17.12.2024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BD981-A647-4787-B531-67C70252423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42046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3072C-C843-4F33-8159-6679BB8FA03D}" type="datetimeFigureOut">
              <a:rPr lang="ru-RU" smtClean="0"/>
              <a:t>17.12.2024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BD981-A647-4787-B531-67C70252423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09830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3072C-C843-4F33-8159-6679BB8FA03D}" type="datetimeFigureOut">
              <a:rPr lang="ru-RU" smtClean="0"/>
              <a:t>17.12.2024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BD981-A647-4787-B531-67C70252423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32343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3072C-C843-4F33-8159-6679BB8FA03D}" type="datetimeFigureOut">
              <a:rPr lang="ru-RU" smtClean="0"/>
              <a:t>17.12.2024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BD981-A647-4787-B531-67C70252423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68188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3072C-C843-4F33-8159-6679BB8FA03D}" type="datetimeFigureOut">
              <a:rPr lang="ru-RU" smtClean="0"/>
              <a:t>17.12.2024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BD981-A647-4787-B531-67C70252423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74978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3072C-C843-4F33-8159-6679BB8FA03D}" type="datetimeFigureOut">
              <a:rPr lang="ru-RU" smtClean="0"/>
              <a:t>17.12.2024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BD981-A647-4787-B531-67C70252423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6906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3072C-C843-4F33-8159-6679BB8FA03D}" type="datetimeFigureOut">
              <a:rPr lang="ru-RU" smtClean="0"/>
              <a:t>17.12.2024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BD981-A647-4787-B531-67C70252423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79039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3072C-C843-4F33-8159-6679BB8FA03D}" type="datetimeFigureOut">
              <a:rPr lang="ru-RU" smtClean="0"/>
              <a:t>17.12.2024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BD981-A647-4787-B531-67C70252423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87962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3072C-C843-4F33-8159-6679BB8FA03D}" type="datetimeFigureOut">
              <a:rPr lang="ru-RU" smtClean="0"/>
              <a:t>17.12.2024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BD981-A647-4787-B531-67C70252423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51805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73072C-C843-4F33-8159-6679BB8FA03D}" type="datetimeFigureOut">
              <a:rPr lang="ru-RU" smtClean="0"/>
              <a:t>17.12.2024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3BD981-A647-4787-B531-67C70252423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45141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13" Type="http://schemas.openxmlformats.org/officeDocument/2006/relationships/slide" Target="slide14.xml"/><Relationship Id="rId3" Type="http://schemas.openxmlformats.org/officeDocument/2006/relationships/slide" Target="slide4.xml"/><Relationship Id="rId7" Type="http://schemas.openxmlformats.org/officeDocument/2006/relationships/slide" Target="slide8.xml"/><Relationship Id="rId12" Type="http://schemas.openxmlformats.org/officeDocument/2006/relationships/slide" Target="slide13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7.xml"/><Relationship Id="rId11" Type="http://schemas.openxmlformats.org/officeDocument/2006/relationships/slide" Target="slide12.xml"/><Relationship Id="rId5" Type="http://schemas.openxmlformats.org/officeDocument/2006/relationships/slide" Target="slide6.xml"/><Relationship Id="rId10" Type="http://schemas.openxmlformats.org/officeDocument/2006/relationships/slide" Target="slide11.xml"/><Relationship Id="rId4" Type="http://schemas.openxmlformats.org/officeDocument/2006/relationships/slide" Target="slide5.xml"/><Relationship Id="rId9" Type="http://schemas.openxmlformats.org/officeDocument/2006/relationships/slide" Target="slide10.xml"/><Relationship Id="rId14" Type="http://schemas.openxmlformats.org/officeDocument/2006/relationships/slide" Target="slide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B5597"/>
          </a:solidFill>
          <a:ln>
            <a:solidFill>
              <a:srgbClr val="5520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36108" y="2745349"/>
            <a:ext cx="9422675" cy="801190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Односвязный список на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C++</a:t>
            </a:r>
            <a:endParaRPr lang="ru-RU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18551" y="6035855"/>
            <a:ext cx="3387634" cy="499699"/>
          </a:xfrm>
        </p:spPr>
        <p:txBody>
          <a:bodyPr>
            <a:normAutofit fontScale="92500"/>
          </a:bodyPr>
          <a:lstStyle/>
          <a:p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Тигранян Эдуард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326</a:t>
            </a:r>
          </a:p>
        </p:txBody>
      </p:sp>
      <p:sp>
        <p:nvSpPr>
          <p:cNvPr id="5" name="Управляющая кнопка: &quot;Вперед&quot; или &quot;Следующий&quot; 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92CFC9D0-DF62-10C1-D453-4062D21BF0A6}"/>
              </a:ext>
            </a:extLst>
          </p:cNvPr>
          <p:cNvSpPr/>
          <p:nvPr/>
        </p:nvSpPr>
        <p:spPr>
          <a:xfrm>
            <a:off x="11317179" y="6011412"/>
            <a:ext cx="798110" cy="741150"/>
          </a:xfrm>
          <a:prstGeom prst="actionButtonForwardNext">
            <a:avLst/>
          </a:prstGeom>
          <a:solidFill>
            <a:srgbClr val="222A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13034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25CA0"/>
          </a:solidFill>
          <a:ln>
            <a:solidFill>
              <a:srgbClr val="5520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99794" y="1328150"/>
            <a:ext cx="688657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Список как структура данных</a:t>
            </a:r>
            <a:endParaRPr lang="ru-RU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hlinkClick r:id="rId3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Структура данных</a:t>
            </a:r>
            <a:endParaRPr lang="ru-RU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Свойство списка</a:t>
            </a:r>
            <a:endParaRPr lang="ru-RU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Создание односвязного списка</a:t>
            </a:r>
            <a:endParaRPr lang="ru-RU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Создание классов</a:t>
            </a:r>
            <a:endParaRPr lang="ru-RU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Метод </a:t>
            </a:r>
            <a:r>
              <a:rPr lang="en-US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push_front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ru-R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 конструктор</a:t>
            </a:r>
            <a:endParaRPr lang="ru-RU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Методы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clear()</a:t>
            </a:r>
            <a:r>
              <a:rPr lang="ru-R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</a:t>
            </a:r>
            <a:r>
              <a:rPr lang="en-US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pop_front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()</a:t>
            </a:r>
            <a:endParaRPr lang="ru-RU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Метод </a:t>
            </a:r>
            <a:r>
              <a:rPr lang="en-US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removeAt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()</a:t>
            </a:r>
            <a:endParaRPr lang="ru-RU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Деструктор, </a:t>
            </a:r>
            <a:r>
              <a:rPr lang="en-US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pop_back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(), </a:t>
            </a:r>
            <a:r>
              <a:rPr lang="en-US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getSize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()</a:t>
            </a:r>
            <a:endParaRPr lang="ru-RU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Метод </a:t>
            </a:r>
            <a:r>
              <a:rPr lang="en-US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push_back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()</a:t>
            </a:r>
            <a:endParaRPr lang="ru-RU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Метод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insert()</a:t>
            </a:r>
            <a:endParaRPr lang="ru-RU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Перегрузка оператора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[]</a:t>
            </a:r>
            <a:endParaRPr lang="ru-RU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Тестирование</a:t>
            </a:r>
            <a:endParaRPr lang="ru-RU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Управляющая кнопка: &quot;Вперед&quot; или &quot;Следующий&quot; 1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3B914A3F-9FBE-3B6C-9FC1-7F2AAEDCC245}"/>
              </a:ext>
            </a:extLst>
          </p:cNvPr>
          <p:cNvSpPr/>
          <p:nvPr/>
        </p:nvSpPr>
        <p:spPr>
          <a:xfrm>
            <a:off x="11317179" y="6011412"/>
            <a:ext cx="798110" cy="741150"/>
          </a:xfrm>
          <a:prstGeom prst="actionButtonForwardNext">
            <a:avLst/>
          </a:prstGeom>
          <a:solidFill>
            <a:srgbClr val="222A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Управляющая кнопка: &quot;Назад&quot; или &quot;Предыдущий&quot; 2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61D941CB-9C98-1F7E-ADE2-CC090A38D877}"/>
              </a:ext>
            </a:extLst>
          </p:cNvPr>
          <p:cNvSpPr/>
          <p:nvPr/>
        </p:nvSpPr>
        <p:spPr>
          <a:xfrm>
            <a:off x="10559727" y="6004684"/>
            <a:ext cx="798113" cy="747331"/>
          </a:xfrm>
          <a:prstGeom prst="actionButtonBackPrevious">
            <a:avLst/>
          </a:prstGeom>
          <a:solidFill>
            <a:srgbClr val="222A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Управляющая кнопка: &quot;На главную&quot; 5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1DBFD8DA-7FBC-3AF0-96A7-66B0CA2C12AB}"/>
              </a:ext>
            </a:extLst>
          </p:cNvPr>
          <p:cNvSpPr/>
          <p:nvPr/>
        </p:nvSpPr>
        <p:spPr>
          <a:xfrm>
            <a:off x="9771829" y="6011412"/>
            <a:ext cx="798110" cy="741150"/>
          </a:xfrm>
          <a:prstGeom prst="actionButtonHome">
            <a:avLst/>
          </a:prstGeom>
          <a:solidFill>
            <a:srgbClr val="222A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Управляющая кнопка: возврат 7">
            <a:hlinkClick r:id="" action="ppaction://hlinkshowjump?jump=lastslideviewed" highlightClick="1"/>
            <a:extLst>
              <a:ext uri="{FF2B5EF4-FFF2-40B4-BE49-F238E27FC236}">
                <a16:creationId xmlns:a16="http://schemas.microsoft.com/office/drawing/2014/main" id="{0AC1CD57-405B-281D-A2F4-5F8BCD67AFB2}"/>
              </a:ext>
            </a:extLst>
          </p:cNvPr>
          <p:cNvSpPr/>
          <p:nvPr/>
        </p:nvSpPr>
        <p:spPr>
          <a:xfrm>
            <a:off x="8983806" y="6004684"/>
            <a:ext cx="798114" cy="741150"/>
          </a:xfrm>
          <a:prstGeom prst="actionButtonReturn">
            <a:avLst/>
          </a:prstGeom>
          <a:solidFill>
            <a:schemeClr val="tx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8A6AA42-0A2B-57DE-FCB1-ECA22416AD41}"/>
              </a:ext>
            </a:extLst>
          </p:cNvPr>
          <p:cNvSpPr/>
          <p:nvPr/>
        </p:nvSpPr>
        <p:spPr>
          <a:xfrm>
            <a:off x="-15240" y="165"/>
            <a:ext cx="12222480" cy="670373"/>
          </a:xfrm>
          <a:prstGeom prst="rect">
            <a:avLst/>
          </a:prstGeom>
          <a:solidFill>
            <a:srgbClr val="222A35"/>
          </a:solidFill>
          <a:ln>
            <a:solidFill>
              <a:srgbClr val="222A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rgbClr val="222A35"/>
                </a:solidFill>
              </a:ln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B3E997-3CFA-0408-9DAD-6F14E6644175}"/>
              </a:ext>
            </a:extLst>
          </p:cNvPr>
          <p:cNvSpPr txBox="1"/>
          <p:nvPr/>
        </p:nvSpPr>
        <p:spPr>
          <a:xfrm>
            <a:off x="-15240" y="42963"/>
            <a:ext cx="1222248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ru-RU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Содержание</a:t>
            </a:r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18F36039-CFB5-254F-DA9F-CD37CA351EE1}"/>
              </a:ext>
            </a:extLst>
          </p:cNvPr>
          <p:cNvCxnSpPr>
            <a:cxnSpLocks/>
          </p:cNvCxnSpPr>
          <p:nvPr/>
        </p:nvCxnSpPr>
        <p:spPr>
          <a:xfrm flipV="1">
            <a:off x="-44116" y="692006"/>
            <a:ext cx="12310712" cy="18326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2451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B5597"/>
          </a:solidFill>
          <a:ln>
            <a:solidFill>
              <a:srgbClr val="5520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731695" y="2370444"/>
            <a:ext cx="8728610" cy="1470035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Список как структура данных</a:t>
            </a:r>
          </a:p>
        </p:txBody>
      </p:sp>
      <p:sp>
        <p:nvSpPr>
          <p:cNvPr id="5" name="Управляющая кнопка: &quot;Вперед&quot; или &quot;Следующий&quot; 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92CFC9D0-DF62-10C1-D453-4062D21BF0A6}"/>
              </a:ext>
            </a:extLst>
          </p:cNvPr>
          <p:cNvSpPr/>
          <p:nvPr/>
        </p:nvSpPr>
        <p:spPr>
          <a:xfrm>
            <a:off x="11317179" y="6011412"/>
            <a:ext cx="798110" cy="741150"/>
          </a:xfrm>
          <a:prstGeom prst="actionButtonForwardNext">
            <a:avLst/>
          </a:prstGeom>
          <a:solidFill>
            <a:srgbClr val="222A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Управляющая кнопка: &quot;Назад&quot; или &quot;Предыдущий&quot; 5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3E907295-A605-57C7-CD84-B45A3550B11D}"/>
              </a:ext>
            </a:extLst>
          </p:cNvPr>
          <p:cNvSpPr/>
          <p:nvPr/>
        </p:nvSpPr>
        <p:spPr>
          <a:xfrm>
            <a:off x="10559727" y="6004684"/>
            <a:ext cx="798113" cy="747331"/>
          </a:xfrm>
          <a:prstGeom prst="actionButtonBackPrevious">
            <a:avLst/>
          </a:prstGeom>
          <a:solidFill>
            <a:srgbClr val="222A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Управляющая кнопка: &quot;На главную&quot; 6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FCAA2CDD-2DFA-1C2E-632E-65F2CF30EC73}"/>
              </a:ext>
            </a:extLst>
          </p:cNvPr>
          <p:cNvSpPr/>
          <p:nvPr/>
        </p:nvSpPr>
        <p:spPr>
          <a:xfrm>
            <a:off x="9771829" y="6011412"/>
            <a:ext cx="798110" cy="741150"/>
          </a:xfrm>
          <a:prstGeom prst="actionButtonHome">
            <a:avLst/>
          </a:prstGeom>
          <a:solidFill>
            <a:srgbClr val="222A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Управляющая кнопка: возврат 7">
            <a:hlinkClick r:id="" action="ppaction://hlinkshowjump?jump=lastslideviewed" highlightClick="1"/>
            <a:extLst>
              <a:ext uri="{FF2B5EF4-FFF2-40B4-BE49-F238E27FC236}">
                <a16:creationId xmlns:a16="http://schemas.microsoft.com/office/drawing/2014/main" id="{11172BFC-2E57-D14C-FCB3-851B3E403694}"/>
              </a:ext>
            </a:extLst>
          </p:cNvPr>
          <p:cNvSpPr/>
          <p:nvPr/>
        </p:nvSpPr>
        <p:spPr>
          <a:xfrm>
            <a:off x="8983806" y="6004684"/>
            <a:ext cx="798114" cy="741150"/>
          </a:xfrm>
          <a:prstGeom prst="actionButtonReturn">
            <a:avLst/>
          </a:prstGeom>
          <a:solidFill>
            <a:schemeClr val="tx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2237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222480" cy="6858000"/>
          </a:xfrm>
          <a:prstGeom prst="rect">
            <a:avLst/>
          </a:prstGeom>
          <a:solidFill>
            <a:srgbClr val="3B5597"/>
          </a:solidFill>
          <a:ln>
            <a:solidFill>
              <a:srgbClr val="335CB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156A4D32-98CB-AB0C-AA29-7DCB159E477B}"/>
              </a:ext>
            </a:extLst>
          </p:cNvPr>
          <p:cNvSpPr/>
          <p:nvPr/>
        </p:nvSpPr>
        <p:spPr>
          <a:xfrm>
            <a:off x="-15240" y="165"/>
            <a:ext cx="12222480" cy="670373"/>
          </a:xfrm>
          <a:prstGeom prst="rect">
            <a:avLst/>
          </a:prstGeom>
          <a:solidFill>
            <a:srgbClr val="222A35"/>
          </a:solidFill>
          <a:ln>
            <a:solidFill>
              <a:srgbClr val="222A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rgbClr val="222A35"/>
                </a:solidFill>
              </a:ln>
            </a:endParaRPr>
          </a:p>
        </p:txBody>
      </p:sp>
      <p:sp>
        <p:nvSpPr>
          <p:cNvPr id="6" name="Подзаголовок 5"/>
          <p:cNvSpPr>
            <a:spLocks noGrp="1"/>
          </p:cNvSpPr>
          <p:nvPr>
            <p:ph type="subTitle" idx="1"/>
          </p:nvPr>
        </p:nvSpPr>
        <p:spPr>
          <a:xfrm>
            <a:off x="3795354" y="906553"/>
            <a:ext cx="7302138" cy="953653"/>
          </a:xfrm>
          <a:solidFill>
            <a:schemeClr val="tx2">
              <a:lumMod val="50000"/>
            </a:schemeClr>
          </a:solidFill>
          <a:ln w="12700">
            <a:solidFill>
              <a:schemeClr val="bg1"/>
            </a:solidFill>
          </a:ln>
        </p:spPr>
        <p:txBody>
          <a:bodyPr>
            <a:noAutofit/>
          </a:bodyPr>
          <a:lstStyle/>
          <a:p>
            <a:pPr algn="l"/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Связный список – базовая динамическая структура данных, состоящая из узлов, каждый из которых содержит значение и ссылку на следующий узел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Подзаголовок 5"/>
          <p:cNvSpPr txBox="1">
            <a:spLocks/>
          </p:cNvSpPr>
          <p:nvPr/>
        </p:nvSpPr>
        <p:spPr>
          <a:xfrm>
            <a:off x="3285902" y="4171087"/>
            <a:ext cx="8321041" cy="977186"/>
          </a:xfrm>
          <a:prstGeom prst="rect">
            <a:avLst/>
          </a:prstGeom>
          <a:solidFill>
            <a:schemeClr val="tx2">
              <a:lumMod val="50000"/>
            </a:schemeClr>
          </a:solidFill>
          <a:ln w="19050">
            <a:solidFill>
              <a:schemeClr val="bg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то время как массивы имеют структуру при которой данные в памяти хранятся подряд и итерация по ним происходит с помощью прибавления к ячейки памяти байт </a:t>
            </a: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2891631"/>
              </p:ext>
            </p:extLst>
          </p:nvPr>
        </p:nvGraphicFramePr>
        <p:xfrm>
          <a:off x="2290724" y="2036837"/>
          <a:ext cx="1419494" cy="1431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94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15676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5676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указатель</a:t>
                      </a: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093844"/>
              </p:ext>
            </p:extLst>
          </p:nvPr>
        </p:nvGraphicFramePr>
        <p:xfrm>
          <a:off x="4405452" y="2023774"/>
          <a:ext cx="1434011" cy="1431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4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15676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5676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указатель</a:t>
                      </a: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9576960"/>
              </p:ext>
            </p:extLst>
          </p:nvPr>
        </p:nvGraphicFramePr>
        <p:xfrm>
          <a:off x="6560100" y="2006797"/>
          <a:ext cx="1434011" cy="1435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4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15676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3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указатель</a:t>
                      </a: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Таблица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9607315"/>
              </p:ext>
            </p:extLst>
          </p:nvPr>
        </p:nvGraphicFramePr>
        <p:xfrm>
          <a:off x="8751030" y="1997648"/>
          <a:ext cx="1434011" cy="1431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4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15676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16</a:t>
                      </a: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5676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указатель</a:t>
                      </a: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539435" y="3466267"/>
            <a:ext cx="9220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HEAD</a:t>
            </a:r>
            <a:endParaRPr lang="ru-RU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57427" y="3475155"/>
            <a:ext cx="7141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TAIL</a:t>
            </a:r>
            <a:endParaRPr lang="ru-RU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559770" y="2614081"/>
            <a:ext cx="8445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NULL</a:t>
            </a:r>
            <a:endParaRPr lang="ru-RU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" name="Прямая со стрелкой 15"/>
          <p:cNvCxnSpPr/>
          <p:nvPr/>
        </p:nvCxnSpPr>
        <p:spPr>
          <a:xfrm flipV="1">
            <a:off x="3710218" y="2353493"/>
            <a:ext cx="696686" cy="748938"/>
          </a:xfrm>
          <a:prstGeom prst="straightConnector1">
            <a:avLst/>
          </a:prstGeom>
          <a:ln w="38100">
            <a:solidFill>
              <a:schemeClr val="bg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/>
          <p:cNvCxnSpPr/>
          <p:nvPr/>
        </p:nvCxnSpPr>
        <p:spPr>
          <a:xfrm flipV="1">
            <a:off x="5848173" y="2350182"/>
            <a:ext cx="696686" cy="748938"/>
          </a:xfrm>
          <a:prstGeom prst="straightConnector1">
            <a:avLst/>
          </a:prstGeom>
          <a:ln w="38100">
            <a:solidFill>
              <a:schemeClr val="bg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/>
          <p:nvPr/>
        </p:nvCxnSpPr>
        <p:spPr>
          <a:xfrm flipV="1">
            <a:off x="7990478" y="2350182"/>
            <a:ext cx="770712" cy="748938"/>
          </a:xfrm>
          <a:prstGeom prst="straightConnector1">
            <a:avLst/>
          </a:prstGeom>
          <a:ln w="38100">
            <a:solidFill>
              <a:schemeClr val="bg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>
            <a:cxnSpLocks/>
            <a:endCxn id="14" idx="1"/>
          </p:cNvCxnSpPr>
          <p:nvPr/>
        </p:nvCxnSpPr>
        <p:spPr>
          <a:xfrm flipV="1">
            <a:off x="10185041" y="2814136"/>
            <a:ext cx="374729" cy="214241"/>
          </a:xfrm>
          <a:prstGeom prst="straightConnector1">
            <a:avLst/>
          </a:prstGeom>
          <a:ln w="38100">
            <a:solidFill>
              <a:schemeClr val="bg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Таблица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2181626"/>
              </p:ext>
            </p:extLst>
          </p:nvPr>
        </p:nvGraphicFramePr>
        <p:xfrm>
          <a:off x="571650" y="5343111"/>
          <a:ext cx="8128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Номер</a:t>
                      </a:r>
                      <a:r>
                        <a:rPr lang="ru-RU" sz="2000" b="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ячейки</a:t>
                      </a:r>
                      <a:endParaRPr lang="ru-RU" sz="20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Значение</a:t>
                      </a: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0" y="18326"/>
            <a:ext cx="1222248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ru-RU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Структура данных</a:t>
            </a:r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7F24C2A7-5AF0-843E-AA58-3DA40D391178}"/>
              </a:ext>
            </a:extLst>
          </p:cNvPr>
          <p:cNvCxnSpPr>
            <a:cxnSpLocks/>
          </p:cNvCxnSpPr>
          <p:nvPr/>
        </p:nvCxnSpPr>
        <p:spPr>
          <a:xfrm>
            <a:off x="-30480" y="3955531"/>
            <a:ext cx="12252960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3EF606FB-F98E-B317-798C-12508C7693FD}"/>
              </a:ext>
            </a:extLst>
          </p:cNvPr>
          <p:cNvCxnSpPr>
            <a:cxnSpLocks/>
          </p:cNvCxnSpPr>
          <p:nvPr/>
        </p:nvCxnSpPr>
        <p:spPr>
          <a:xfrm flipV="1">
            <a:off x="-44116" y="692006"/>
            <a:ext cx="12310712" cy="18326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E1CEA2C4-6DEC-E4A4-BB96-C4AAAE63951F}"/>
              </a:ext>
            </a:extLst>
          </p:cNvPr>
          <p:cNvCxnSpPr>
            <a:cxnSpLocks/>
          </p:cNvCxnSpPr>
          <p:nvPr/>
        </p:nvCxnSpPr>
        <p:spPr>
          <a:xfrm flipV="1">
            <a:off x="-30480" y="6663612"/>
            <a:ext cx="12222480" cy="2992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Управляющая кнопка: &quot;Вперед&quot; или &quot;Следующий&quot; 1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EC39DA1B-9C58-59EC-77CD-A722A339CB19}"/>
              </a:ext>
            </a:extLst>
          </p:cNvPr>
          <p:cNvSpPr/>
          <p:nvPr/>
        </p:nvSpPr>
        <p:spPr>
          <a:xfrm>
            <a:off x="11317179" y="6011412"/>
            <a:ext cx="798110" cy="741150"/>
          </a:xfrm>
          <a:prstGeom prst="actionButtonForwardNext">
            <a:avLst/>
          </a:prstGeom>
          <a:solidFill>
            <a:srgbClr val="222A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Управляющая кнопка: &quot;Назад&quot; или &quot;Предыдущий&quot; 2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6F4B6E3F-83FD-AEBB-6E3C-6B3FE63B464C}"/>
              </a:ext>
            </a:extLst>
          </p:cNvPr>
          <p:cNvSpPr/>
          <p:nvPr/>
        </p:nvSpPr>
        <p:spPr>
          <a:xfrm>
            <a:off x="10559727" y="6004684"/>
            <a:ext cx="798113" cy="747331"/>
          </a:xfrm>
          <a:prstGeom prst="actionButtonBackPrevious">
            <a:avLst/>
          </a:prstGeom>
          <a:solidFill>
            <a:srgbClr val="222A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Управляющая кнопка: &quot;На главную&quot; 18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B0C5ECE7-0AF0-46EC-BA4F-2CE9FA09C969}"/>
              </a:ext>
            </a:extLst>
          </p:cNvPr>
          <p:cNvSpPr/>
          <p:nvPr/>
        </p:nvSpPr>
        <p:spPr>
          <a:xfrm>
            <a:off x="9771829" y="6011412"/>
            <a:ext cx="798110" cy="741150"/>
          </a:xfrm>
          <a:prstGeom prst="actionButtonHome">
            <a:avLst/>
          </a:prstGeom>
          <a:solidFill>
            <a:srgbClr val="222A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Управляющая кнопка: возврат 20">
            <a:hlinkClick r:id="" action="ppaction://hlinkshowjump?jump=lastslideviewed" highlightClick="1"/>
            <a:extLst>
              <a:ext uri="{FF2B5EF4-FFF2-40B4-BE49-F238E27FC236}">
                <a16:creationId xmlns:a16="http://schemas.microsoft.com/office/drawing/2014/main" id="{A7CC7D92-D9FC-C54A-4785-6EEF59C5F47B}"/>
              </a:ext>
            </a:extLst>
          </p:cNvPr>
          <p:cNvSpPr/>
          <p:nvPr/>
        </p:nvSpPr>
        <p:spPr>
          <a:xfrm>
            <a:off x="8983806" y="6004684"/>
            <a:ext cx="798114" cy="741150"/>
          </a:xfrm>
          <a:prstGeom prst="actionButtonReturn">
            <a:avLst/>
          </a:prstGeom>
          <a:solidFill>
            <a:schemeClr val="tx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9050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222480" cy="6858000"/>
          </a:xfrm>
          <a:prstGeom prst="rect">
            <a:avLst/>
          </a:prstGeom>
          <a:solidFill>
            <a:srgbClr val="3B5597"/>
          </a:solidFill>
          <a:ln>
            <a:solidFill>
              <a:srgbClr val="335CB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2C424041-01CF-6BDD-3FDD-BF795598A435}"/>
              </a:ext>
            </a:extLst>
          </p:cNvPr>
          <p:cNvSpPr/>
          <p:nvPr/>
        </p:nvSpPr>
        <p:spPr>
          <a:xfrm>
            <a:off x="-15240" y="703659"/>
            <a:ext cx="12237720" cy="814691"/>
          </a:xfrm>
          <a:prstGeom prst="rect">
            <a:avLst/>
          </a:prstGeom>
          <a:solidFill>
            <a:srgbClr val="8FAAD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156A4D32-98CB-AB0C-AA29-7DCB159E477B}"/>
              </a:ext>
            </a:extLst>
          </p:cNvPr>
          <p:cNvSpPr/>
          <p:nvPr/>
        </p:nvSpPr>
        <p:spPr>
          <a:xfrm>
            <a:off x="-15240" y="165"/>
            <a:ext cx="12222480" cy="670373"/>
          </a:xfrm>
          <a:prstGeom prst="rect">
            <a:avLst/>
          </a:prstGeom>
          <a:solidFill>
            <a:srgbClr val="222A35"/>
          </a:solidFill>
          <a:ln>
            <a:solidFill>
              <a:srgbClr val="222A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rgbClr val="222A35"/>
                </a:solidFill>
              </a:ln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0" y="18326"/>
            <a:ext cx="1222248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ru-RU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Свойства списка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3EF606FB-F98E-B317-798C-12508C7693FD}"/>
              </a:ext>
            </a:extLst>
          </p:cNvPr>
          <p:cNvCxnSpPr>
            <a:cxnSpLocks/>
          </p:cNvCxnSpPr>
          <p:nvPr/>
        </p:nvCxnSpPr>
        <p:spPr>
          <a:xfrm flipV="1">
            <a:off x="-44116" y="692006"/>
            <a:ext cx="12310712" cy="18326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Управляющая кнопка: &quot;Вперед&quot; или &quot;Следующий&quot; 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FF2E7739-1679-4AD0-E4C2-7E4FC8DA192D}"/>
              </a:ext>
            </a:extLst>
          </p:cNvPr>
          <p:cNvSpPr/>
          <p:nvPr/>
        </p:nvSpPr>
        <p:spPr>
          <a:xfrm>
            <a:off x="11317179" y="6011412"/>
            <a:ext cx="798110" cy="741150"/>
          </a:xfrm>
          <a:prstGeom prst="actionButtonForwardNext">
            <a:avLst/>
          </a:prstGeom>
          <a:solidFill>
            <a:srgbClr val="222A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Управляющая кнопка: &quot;Назад&quot; или &quot;Предыдущий&quot; 8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E6B495CB-EC78-5104-7CB9-9F7D60BC7CF2}"/>
              </a:ext>
            </a:extLst>
          </p:cNvPr>
          <p:cNvSpPr/>
          <p:nvPr/>
        </p:nvSpPr>
        <p:spPr>
          <a:xfrm>
            <a:off x="10559727" y="6004684"/>
            <a:ext cx="798113" cy="747331"/>
          </a:xfrm>
          <a:prstGeom prst="actionButtonBackPrevious">
            <a:avLst/>
          </a:prstGeom>
          <a:solidFill>
            <a:srgbClr val="222A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Управляющая кнопка: &quot;На главную&quot; 9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0EB89390-E5AA-F54E-52D5-044D9E22AA6F}"/>
              </a:ext>
            </a:extLst>
          </p:cNvPr>
          <p:cNvSpPr/>
          <p:nvPr/>
        </p:nvSpPr>
        <p:spPr>
          <a:xfrm>
            <a:off x="9771829" y="6011412"/>
            <a:ext cx="798110" cy="741150"/>
          </a:xfrm>
          <a:prstGeom prst="actionButtonHome">
            <a:avLst/>
          </a:prstGeom>
          <a:solidFill>
            <a:srgbClr val="222A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Управляющая кнопка: возврат 10">
            <a:hlinkClick r:id="" action="ppaction://hlinkshowjump?jump=lastslideviewed" highlightClick="1"/>
            <a:extLst>
              <a:ext uri="{FF2B5EF4-FFF2-40B4-BE49-F238E27FC236}">
                <a16:creationId xmlns:a16="http://schemas.microsoft.com/office/drawing/2014/main" id="{E18CD862-F35B-0F28-AAE6-582621245675}"/>
              </a:ext>
            </a:extLst>
          </p:cNvPr>
          <p:cNvSpPr/>
          <p:nvPr/>
        </p:nvSpPr>
        <p:spPr>
          <a:xfrm>
            <a:off x="8983806" y="6004684"/>
            <a:ext cx="798114" cy="741150"/>
          </a:xfrm>
          <a:prstGeom prst="actionButtonReturn">
            <a:avLst/>
          </a:prstGeom>
          <a:solidFill>
            <a:schemeClr val="tx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3FBDDA67-E5FF-901E-E161-33F5831BA454}"/>
              </a:ext>
            </a:extLst>
          </p:cNvPr>
          <p:cNvCxnSpPr>
            <a:cxnSpLocks/>
          </p:cNvCxnSpPr>
          <p:nvPr/>
        </p:nvCxnSpPr>
        <p:spPr>
          <a:xfrm flipH="1" flipV="1">
            <a:off x="6111240" y="731800"/>
            <a:ext cx="9866" cy="6455384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B9CEF83-C83F-12DA-51BD-182230524E84}"/>
              </a:ext>
            </a:extLst>
          </p:cNvPr>
          <p:cNvSpPr txBox="1"/>
          <p:nvPr/>
        </p:nvSpPr>
        <p:spPr>
          <a:xfrm>
            <a:off x="2209800" y="760971"/>
            <a:ext cx="1691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Плюсы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CF2A0E-4E13-72D9-89B1-0204DA49372B}"/>
              </a:ext>
            </a:extLst>
          </p:cNvPr>
          <p:cNvSpPr txBox="1"/>
          <p:nvPr/>
        </p:nvSpPr>
        <p:spPr>
          <a:xfrm>
            <a:off x="8434735" y="791175"/>
            <a:ext cx="18962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Минусы</a:t>
            </a:r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96914E78-574C-87C6-114C-6BCF21D3B9AB}"/>
              </a:ext>
            </a:extLst>
          </p:cNvPr>
          <p:cNvCxnSpPr>
            <a:cxnSpLocks/>
          </p:cNvCxnSpPr>
          <p:nvPr/>
        </p:nvCxnSpPr>
        <p:spPr>
          <a:xfrm flipV="1">
            <a:off x="-34250" y="1523457"/>
            <a:ext cx="12290980" cy="1496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6FABF05-D65B-FA86-869B-A4972FA4A0D2}"/>
              </a:ext>
            </a:extLst>
          </p:cNvPr>
          <p:cNvSpPr txBox="1"/>
          <p:nvPr/>
        </p:nvSpPr>
        <p:spPr>
          <a:xfrm>
            <a:off x="6103620" y="1559885"/>
            <a:ext cx="604413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 fontAlgn="base"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Использование памяти</a:t>
            </a:r>
            <a:r>
              <a:rPr lang="ru-RU" sz="2000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 Для связанного списка требуется больше памяти по сравнению с массивом. Поскольку в связанном списке указатель также требуется для хранения адреса следующего элемента, и для этого требуется дополнительная память.</a:t>
            </a:r>
          </a:p>
          <a:p>
            <a:pPr marL="342900" indent="-342900" algn="l" fontAlgn="base"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Обход</a:t>
            </a:r>
            <a:r>
              <a:rPr lang="ru-RU" sz="2000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 В Обход связанного списка занимает больше времени по сравнению с массивом. Прямой доступ к элементу в связанном списке невозможен, как в массиве по индексу. Например, для доступа к узлу в позиции n необходимо обойти все узлы перед ним.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i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3BC85F-F442-6158-A216-08991F88CE88}"/>
              </a:ext>
            </a:extLst>
          </p:cNvPr>
          <p:cNvSpPr txBox="1"/>
          <p:nvPr/>
        </p:nvSpPr>
        <p:spPr>
          <a:xfrm>
            <a:off x="-7027" y="1538417"/>
            <a:ext cx="618604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Операции вставки и удаления:</a:t>
            </a:r>
            <a:r>
              <a:rPr lang="ru-RU" sz="2000" b="0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Нет необходимости сдвигать элементы после вставки или удаления элемента, необходимо обновить только адрес, присутствующий в следующем указателе.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Гибкость: </a:t>
            </a:r>
            <a:r>
              <a:rPr lang="ru-RU" sz="2000" b="0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элементы связанного списка не хранятся в смежных ячейках памяти, в отличие от массива.</a:t>
            </a:r>
            <a:endParaRPr lang="ru-RU" sz="20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Эффективность для больших данных:</a:t>
            </a:r>
            <a:r>
              <a:rPr lang="ru-RU" sz="2000" b="0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При работе с большими наборами данных связанные списки играют решающую роль, поскольку они могут динамически увеличиваться и сокращаться.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Масштабируемость: </a:t>
            </a:r>
            <a:r>
              <a:rPr lang="ru-RU" sz="2000" b="0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Содержит возможность добавлять или удалять элементы в любом месте.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endParaRPr lang="ru-RU" sz="2000" b="0" i="0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7181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B5597"/>
          </a:solidFill>
          <a:ln>
            <a:solidFill>
              <a:srgbClr val="5520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731695" y="2370444"/>
            <a:ext cx="8728610" cy="1470035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Создание односвязного списка</a:t>
            </a:r>
          </a:p>
        </p:txBody>
      </p:sp>
      <p:sp>
        <p:nvSpPr>
          <p:cNvPr id="5" name="Управляющая кнопка: &quot;Вперед&quot; или &quot;Следующий&quot; 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92CFC9D0-DF62-10C1-D453-4062D21BF0A6}"/>
              </a:ext>
            </a:extLst>
          </p:cNvPr>
          <p:cNvSpPr/>
          <p:nvPr/>
        </p:nvSpPr>
        <p:spPr>
          <a:xfrm>
            <a:off x="11317179" y="6011412"/>
            <a:ext cx="798110" cy="741150"/>
          </a:xfrm>
          <a:prstGeom prst="actionButtonForwardNext">
            <a:avLst/>
          </a:prstGeom>
          <a:solidFill>
            <a:srgbClr val="222A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Управляющая кнопка: &quot;Назад&quot; или &quot;Предыдущий&quot; 5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3E907295-A605-57C7-CD84-B45A3550B11D}"/>
              </a:ext>
            </a:extLst>
          </p:cNvPr>
          <p:cNvSpPr/>
          <p:nvPr/>
        </p:nvSpPr>
        <p:spPr>
          <a:xfrm>
            <a:off x="10559727" y="6004684"/>
            <a:ext cx="798113" cy="747331"/>
          </a:xfrm>
          <a:prstGeom prst="actionButtonBackPrevious">
            <a:avLst/>
          </a:prstGeom>
          <a:solidFill>
            <a:srgbClr val="222A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Управляющая кнопка: &quot;На главную&quot; 6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FCAA2CDD-2DFA-1C2E-632E-65F2CF30EC73}"/>
              </a:ext>
            </a:extLst>
          </p:cNvPr>
          <p:cNvSpPr/>
          <p:nvPr/>
        </p:nvSpPr>
        <p:spPr>
          <a:xfrm>
            <a:off x="9771829" y="6011412"/>
            <a:ext cx="798110" cy="741150"/>
          </a:xfrm>
          <a:prstGeom prst="actionButtonHome">
            <a:avLst/>
          </a:prstGeom>
          <a:solidFill>
            <a:srgbClr val="222A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Управляющая кнопка: возврат 7">
            <a:hlinkClick r:id="" action="ppaction://hlinkshowjump?jump=lastslideviewed" highlightClick="1"/>
            <a:extLst>
              <a:ext uri="{FF2B5EF4-FFF2-40B4-BE49-F238E27FC236}">
                <a16:creationId xmlns:a16="http://schemas.microsoft.com/office/drawing/2014/main" id="{11172BFC-2E57-D14C-FCB3-851B3E403694}"/>
              </a:ext>
            </a:extLst>
          </p:cNvPr>
          <p:cNvSpPr/>
          <p:nvPr/>
        </p:nvSpPr>
        <p:spPr>
          <a:xfrm>
            <a:off x="8983806" y="6004684"/>
            <a:ext cx="798114" cy="741150"/>
          </a:xfrm>
          <a:prstGeom prst="actionButtonReturn">
            <a:avLst/>
          </a:prstGeom>
          <a:solidFill>
            <a:schemeClr val="tx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45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8626"/>
            <a:ext cx="12192000" cy="6858000"/>
          </a:xfrm>
          <a:prstGeom prst="rect">
            <a:avLst/>
          </a:prstGeom>
          <a:solidFill>
            <a:srgbClr val="3B5597"/>
          </a:solidFill>
          <a:ln>
            <a:solidFill>
              <a:srgbClr val="5520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74407DAB-1457-8F0C-218F-71DE9266A9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347"/>
          <a:stretch/>
        </p:blipFill>
        <p:spPr>
          <a:xfrm>
            <a:off x="539932" y="1093152"/>
            <a:ext cx="11435003" cy="5018098"/>
          </a:xfrm>
          <a:prstGeom prst="rect">
            <a:avLst/>
          </a:prstGeom>
          <a:noFill/>
          <a:ln w="60325" cap="rnd">
            <a:solidFill>
              <a:schemeClr val="bg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64CC072-4419-813B-FCE3-D11199E731EC}"/>
              </a:ext>
            </a:extLst>
          </p:cNvPr>
          <p:cNvSpPr txBox="1"/>
          <p:nvPr/>
        </p:nvSpPr>
        <p:spPr>
          <a:xfrm>
            <a:off x="7193332" y="1151453"/>
            <a:ext cx="4825719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Весь список это класс с различными методами, где каждый элемент списка это его подкласс.</a:t>
            </a:r>
          </a:p>
          <a:p>
            <a:pPr>
              <a:spcAft>
                <a:spcPts val="1200"/>
              </a:spcAft>
            </a:pP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Перед классами объявляется шаблон 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typename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T&gt;</a:t>
            </a: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что позволяет классу работать с любым заданным типом данных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1200"/>
              </a:spcAft>
            </a:pP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вложенном классе хранится информация текущей ячейки и указатель на следующею ячейку</a:t>
            </a:r>
          </a:p>
          <a:p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Также в 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</a:t>
            </a: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инкапсуляции храниться 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head (</a:t>
            </a: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голова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указатель на первую ячейку списка</a:t>
            </a:r>
          </a:p>
        </p:txBody>
      </p: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448A373F-0962-FEF1-6680-C6620D1986F5}"/>
              </a:ext>
            </a:extLst>
          </p:cNvPr>
          <p:cNvCxnSpPr>
            <a:cxnSpLocks/>
          </p:cNvCxnSpPr>
          <p:nvPr/>
        </p:nvCxnSpPr>
        <p:spPr>
          <a:xfrm flipV="1">
            <a:off x="7120339" y="1093152"/>
            <a:ext cx="0" cy="5018098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B993273-4BB3-3BA6-03BE-596906EFBEC5}"/>
              </a:ext>
            </a:extLst>
          </p:cNvPr>
          <p:cNvSpPr/>
          <p:nvPr/>
        </p:nvSpPr>
        <p:spPr>
          <a:xfrm>
            <a:off x="-15240" y="165"/>
            <a:ext cx="12222480" cy="670373"/>
          </a:xfrm>
          <a:prstGeom prst="rect">
            <a:avLst/>
          </a:prstGeom>
          <a:solidFill>
            <a:srgbClr val="222A35"/>
          </a:solidFill>
          <a:ln>
            <a:solidFill>
              <a:srgbClr val="222A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rgbClr val="222A35"/>
                </a:solidFill>
              </a:ln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7A67AA-29D1-4BCD-9B06-40990BCB9C9C}"/>
              </a:ext>
            </a:extLst>
          </p:cNvPr>
          <p:cNvSpPr txBox="1"/>
          <p:nvPr/>
        </p:nvSpPr>
        <p:spPr>
          <a:xfrm>
            <a:off x="0" y="18326"/>
            <a:ext cx="1222248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ru-RU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Создание класса</a:t>
            </a:r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7C2CBB4B-AC5D-2ECD-389C-DBDA21B014FB}"/>
              </a:ext>
            </a:extLst>
          </p:cNvPr>
          <p:cNvCxnSpPr>
            <a:cxnSpLocks/>
          </p:cNvCxnSpPr>
          <p:nvPr/>
        </p:nvCxnSpPr>
        <p:spPr>
          <a:xfrm flipV="1">
            <a:off x="-44116" y="692006"/>
            <a:ext cx="12310712" cy="18326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Управляющая кнопка: &quot;Вперед&quot; или &quot;Следующий&quot; 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4F8AE335-0327-1435-AA8B-604C43E6B441}"/>
              </a:ext>
            </a:extLst>
          </p:cNvPr>
          <p:cNvSpPr/>
          <p:nvPr/>
        </p:nvSpPr>
        <p:spPr>
          <a:xfrm>
            <a:off x="11317179" y="6011412"/>
            <a:ext cx="798110" cy="741150"/>
          </a:xfrm>
          <a:prstGeom prst="actionButtonForwardNext">
            <a:avLst/>
          </a:prstGeom>
          <a:solidFill>
            <a:srgbClr val="222A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Управляющая кнопка: &quot;Назад&quot; или &quot;Предыдущий&quot; 8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13B880EC-5BBB-1798-31C8-9C401EC13B0E}"/>
              </a:ext>
            </a:extLst>
          </p:cNvPr>
          <p:cNvSpPr/>
          <p:nvPr/>
        </p:nvSpPr>
        <p:spPr>
          <a:xfrm>
            <a:off x="10559727" y="6004684"/>
            <a:ext cx="798113" cy="747331"/>
          </a:xfrm>
          <a:prstGeom prst="actionButtonBackPrevious">
            <a:avLst/>
          </a:prstGeom>
          <a:solidFill>
            <a:srgbClr val="222A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Управляющая кнопка: &quot;На главную&quot; 9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14EE6357-E655-D1A5-E57E-D229F46A72C1}"/>
              </a:ext>
            </a:extLst>
          </p:cNvPr>
          <p:cNvSpPr/>
          <p:nvPr/>
        </p:nvSpPr>
        <p:spPr>
          <a:xfrm>
            <a:off x="9771829" y="6011412"/>
            <a:ext cx="798110" cy="741150"/>
          </a:xfrm>
          <a:prstGeom prst="actionButtonHome">
            <a:avLst/>
          </a:prstGeom>
          <a:solidFill>
            <a:srgbClr val="222A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Управляющая кнопка: возврат 10">
            <a:hlinkClick r:id="" action="ppaction://hlinkshowjump?jump=lastslideviewed" highlightClick="1"/>
            <a:extLst>
              <a:ext uri="{FF2B5EF4-FFF2-40B4-BE49-F238E27FC236}">
                <a16:creationId xmlns:a16="http://schemas.microsoft.com/office/drawing/2014/main" id="{EAC33A40-0659-867E-D1DA-ACF8FB58DECE}"/>
              </a:ext>
            </a:extLst>
          </p:cNvPr>
          <p:cNvSpPr/>
          <p:nvPr/>
        </p:nvSpPr>
        <p:spPr>
          <a:xfrm>
            <a:off x="8983806" y="6004684"/>
            <a:ext cx="798114" cy="741150"/>
          </a:xfrm>
          <a:prstGeom prst="actionButtonReturn">
            <a:avLst/>
          </a:prstGeom>
          <a:solidFill>
            <a:schemeClr val="tx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9214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B5597"/>
          </a:solidFill>
          <a:ln>
            <a:solidFill>
              <a:srgbClr val="5520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8BA392D1-44BE-46C8-C485-805B763FC275}"/>
              </a:ext>
            </a:extLst>
          </p:cNvPr>
          <p:cNvSpPr/>
          <p:nvPr/>
        </p:nvSpPr>
        <p:spPr>
          <a:xfrm>
            <a:off x="423511" y="1164658"/>
            <a:ext cx="11377061" cy="5001336"/>
          </a:xfrm>
          <a:prstGeom prst="rect">
            <a:avLst/>
          </a:prstGeom>
          <a:solidFill>
            <a:srgbClr val="1E1E1E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1B0E4BC8-75AF-61BF-8864-3B548F6AC5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443"/>
          <a:stretch/>
        </p:blipFill>
        <p:spPr>
          <a:xfrm>
            <a:off x="611755" y="1789644"/>
            <a:ext cx="5210727" cy="135781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4395" y="1318662"/>
            <a:ext cx="2047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Конструктор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ru-RU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F5D9A3C-0C36-15ED-D652-9FE2590D188C}"/>
              </a:ext>
            </a:extLst>
          </p:cNvPr>
          <p:cNvSpPr/>
          <p:nvPr/>
        </p:nvSpPr>
        <p:spPr>
          <a:xfrm>
            <a:off x="-15240" y="165"/>
            <a:ext cx="12222480" cy="670373"/>
          </a:xfrm>
          <a:prstGeom prst="rect">
            <a:avLst/>
          </a:prstGeom>
          <a:solidFill>
            <a:srgbClr val="222A35"/>
          </a:solidFill>
          <a:ln>
            <a:solidFill>
              <a:srgbClr val="222A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rgbClr val="222A35"/>
                </a:solidFill>
              </a:ln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0CF3F4-56BD-88F4-6684-2E0BFDDC192B}"/>
              </a:ext>
            </a:extLst>
          </p:cNvPr>
          <p:cNvSpPr txBox="1"/>
          <p:nvPr/>
        </p:nvSpPr>
        <p:spPr>
          <a:xfrm>
            <a:off x="0" y="18326"/>
            <a:ext cx="1222248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ru-RU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Метод </a:t>
            </a:r>
            <a:r>
              <a:rPr lang="en-US" sz="3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push_front</a:t>
            </a: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 конструктор</a:t>
            </a: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66A3AAD0-8395-5573-0E1B-4EC7FB62C994}"/>
              </a:ext>
            </a:extLst>
          </p:cNvPr>
          <p:cNvCxnSpPr>
            <a:cxnSpLocks/>
          </p:cNvCxnSpPr>
          <p:nvPr/>
        </p:nvCxnSpPr>
        <p:spPr>
          <a:xfrm flipV="1">
            <a:off x="-44116" y="692006"/>
            <a:ext cx="12310712" cy="18326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2C96D0DB-923D-C8B0-A02D-C865B22CCB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4071" b="5773"/>
          <a:stretch/>
        </p:blipFill>
        <p:spPr>
          <a:xfrm>
            <a:off x="564395" y="3795695"/>
            <a:ext cx="5630061" cy="135781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4395" y="3257714"/>
            <a:ext cx="29073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Метод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push_front():</a:t>
            </a:r>
            <a:endParaRPr lang="ru-RU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8F25CE21-ECBF-4116-1B0F-87295B7EB5EF}"/>
              </a:ext>
            </a:extLst>
          </p:cNvPr>
          <p:cNvCxnSpPr>
            <a:cxnSpLocks/>
          </p:cNvCxnSpPr>
          <p:nvPr/>
        </p:nvCxnSpPr>
        <p:spPr>
          <a:xfrm flipV="1">
            <a:off x="7015823" y="1164658"/>
            <a:ext cx="0" cy="5001336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83AE4EA-5E93-B4D2-B875-F0ED59494C1B}"/>
              </a:ext>
            </a:extLst>
          </p:cNvPr>
          <p:cNvSpPr txBox="1"/>
          <p:nvPr/>
        </p:nvSpPr>
        <p:spPr>
          <a:xfrm>
            <a:off x="7122322" y="1282977"/>
            <a:ext cx="457175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Конструктор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ru-RU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1200"/>
              </a:spcAft>
            </a:pP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конструкторе изначально в 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head</a:t>
            </a: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присваивается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nullptr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так как списка пока, что не существует, и в следствии его размер = 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pPr>
              <a:spcAft>
                <a:spcPts val="600"/>
              </a:spcAft>
            </a:pP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push_front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():</a:t>
            </a:r>
          </a:p>
          <a:p>
            <a:pPr>
              <a:spcAft>
                <a:spcPts val="1200"/>
              </a:spcAft>
            </a:pP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Метод для добавления элементов в начало списка. Поскольку мы добавляем элементы в начало то хедеру нужно присвоить новый элемент списка а также произвести инкремент переменной 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size</a:t>
            </a: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так как мы добавляем новый элемент.</a:t>
            </a:r>
          </a:p>
        </p:txBody>
      </p:sp>
      <p:sp>
        <p:nvSpPr>
          <p:cNvPr id="13" name="Управляющая кнопка: &quot;Вперед&quot; или &quot;Следующий&quot; 12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FFB35ADF-1BF7-325A-9D4D-09C281C0CB20}"/>
              </a:ext>
            </a:extLst>
          </p:cNvPr>
          <p:cNvSpPr/>
          <p:nvPr/>
        </p:nvSpPr>
        <p:spPr>
          <a:xfrm>
            <a:off x="11317179" y="6011412"/>
            <a:ext cx="798110" cy="741150"/>
          </a:xfrm>
          <a:prstGeom prst="actionButtonForwardNext">
            <a:avLst/>
          </a:prstGeom>
          <a:solidFill>
            <a:srgbClr val="222A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Управляющая кнопка: &quot;Назад&quot; или &quot;Предыдущий&quot; 14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19EBC183-01D3-7173-16B2-6F615CD61E28}"/>
              </a:ext>
            </a:extLst>
          </p:cNvPr>
          <p:cNvSpPr/>
          <p:nvPr/>
        </p:nvSpPr>
        <p:spPr>
          <a:xfrm>
            <a:off x="10559727" y="6004684"/>
            <a:ext cx="798113" cy="747331"/>
          </a:xfrm>
          <a:prstGeom prst="actionButtonBackPrevious">
            <a:avLst/>
          </a:prstGeom>
          <a:solidFill>
            <a:srgbClr val="222A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Управляющая кнопка: &quot;На главную&quot; 17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EF4259DA-A8EC-658E-6AD9-AF2095E5BB80}"/>
              </a:ext>
            </a:extLst>
          </p:cNvPr>
          <p:cNvSpPr/>
          <p:nvPr/>
        </p:nvSpPr>
        <p:spPr>
          <a:xfrm>
            <a:off x="9771829" y="6011412"/>
            <a:ext cx="798110" cy="741150"/>
          </a:xfrm>
          <a:prstGeom prst="actionButtonHome">
            <a:avLst/>
          </a:prstGeom>
          <a:solidFill>
            <a:srgbClr val="222A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Управляющая кнопка: возврат 18">
            <a:hlinkClick r:id="" action="ppaction://hlinkshowjump?jump=lastslideviewed" highlightClick="1"/>
            <a:extLst>
              <a:ext uri="{FF2B5EF4-FFF2-40B4-BE49-F238E27FC236}">
                <a16:creationId xmlns:a16="http://schemas.microsoft.com/office/drawing/2014/main" id="{6B8D913D-4698-CE3D-B04C-5DF497B31D4F}"/>
              </a:ext>
            </a:extLst>
          </p:cNvPr>
          <p:cNvSpPr/>
          <p:nvPr/>
        </p:nvSpPr>
        <p:spPr>
          <a:xfrm>
            <a:off x="8983806" y="6004684"/>
            <a:ext cx="798114" cy="741150"/>
          </a:xfrm>
          <a:prstGeom prst="actionButtonReturn">
            <a:avLst/>
          </a:prstGeom>
          <a:solidFill>
            <a:schemeClr val="tx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5160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B5597"/>
          </a:solidFill>
          <a:ln>
            <a:solidFill>
              <a:srgbClr val="5520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8BA392D1-44BE-46C8-C485-805B763FC275}"/>
              </a:ext>
            </a:extLst>
          </p:cNvPr>
          <p:cNvSpPr/>
          <p:nvPr/>
        </p:nvSpPr>
        <p:spPr>
          <a:xfrm>
            <a:off x="423511" y="1164658"/>
            <a:ext cx="11377061" cy="5001336"/>
          </a:xfrm>
          <a:prstGeom prst="rect">
            <a:avLst/>
          </a:prstGeom>
          <a:solidFill>
            <a:srgbClr val="1E1E1E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564395" y="1318662"/>
            <a:ext cx="2785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Метод </a:t>
            </a:r>
            <a:r>
              <a:rPr lang="en-US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pop_front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():</a:t>
            </a:r>
            <a:endParaRPr lang="ru-RU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F5D9A3C-0C36-15ED-D652-9FE2590D188C}"/>
              </a:ext>
            </a:extLst>
          </p:cNvPr>
          <p:cNvSpPr/>
          <p:nvPr/>
        </p:nvSpPr>
        <p:spPr>
          <a:xfrm>
            <a:off x="-15240" y="165"/>
            <a:ext cx="12222480" cy="670373"/>
          </a:xfrm>
          <a:prstGeom prst="rect">
            <a:avLst/>
          </a:prstGeom>
          <a:solidFill>
            <a:srgbClr val="222A35"/>
          </a:solidFill>
          <a:ln>
            <a:solidFill>
              <a:srgbClr val="222A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rgbClr val="222A35"/>
                </a:solidFill>
              </a:ln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0CF3F4-56BD-88F4-6684-2E0BFDDC192B}"/>
              </a:ext>
            </a:extLst>
          </p:cNvPr>
          <p:cNvSpPr txBox="1"/>
          <p:nvPr/>
        </p:nvSpPr>
        <p:spPr>
          <a:xfrm>
            <a:off x="0" y="18326"/>
            <a:ext cx="1222248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ru-RU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Методы </a:t>
            </a: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clear()</a:t>
            </a:r>
            <a:r>
              <a:rPr lang="ru-RU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3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pop_front</a:t>
            </a: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endParaRPr lang="ru-RU" sz="3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66A3AAD0-8395-5573-0E1B-4EC7FB62C994}"/>
              </a:ext>
            </a:extLst>
          </p:cNvPr>
          <p:cNvCxnSpPr>
            <a:cxnSpLocks/>
          </p:cNvCxnSpPr>
          <p:nvPr/>
        </p:nvCxnSpPr>
        <p:spPr>
          <a:xfrm flipV="1">
            <a:off x="-44116" y="692006"/>
            <a:ext cx="12310712" cy="18326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4395" y="3665326"/>
            <a:ext cx="29073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Метод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clear():</a:t>
            </a:r>
            <a:endParaRPr lang="ru-RU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8F25CE21-ECBF-4116-1B0F-87295B7EB5EF}"/>
              </a:ext>
            </a:extLst>
          </p:cNvPr>
          <p:cNvCxnSpPr>
            <a:cxnSpLocks/>
          </p:cNvCxnSpPr>
          <p:nvPr/>
        </p:nvCxnSpPr>
        <p:spPr>
          <a:xfrm flipV="1">
            <a:off x="6869174" y="1164658"/>
            <a:ext cx="0" cy="5001336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A8A361A-487D-B632-C656-3F2C596C36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340" b="2304"/>
          <a:stretch/>
        </p:blipFill>
        <p:spPr>
          <a:xfrm>
            <a:off x="667507" y="1780327"/>
            <a:ext cx="5514975" cy="185139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7EE80D7-D1A9-F65C-0537-A8C07BA6AF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07" y="4247390"/>
            <a:ext cx="3848100" cy="16192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F8FF129-D6A2-912C-57A1-B24A0B8F5823}"/>
              </a:ext>
            </a:extLst>
          </p:cNvPr>
          <p:cNvSpPr txBox="1"/>
          <p:nvPr/>
        </p:nvSpPr>
        <p:spPr>
          <a:xfrm>
            <a:off x="7033109" y="1238598"/>
            <a:ext cx="457175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pop_front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():</a:t>
            </a:r>
            <a:endParaRPr lang="ru-RU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1200"/>
              </a:spcAft>
            </a:pP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Метод удаления первого элемента списка. Для удаления мы присваиваем 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head </a:t>
            </a: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переменной 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 </a:t>
            </a: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 передаём 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head </a:t>
            </a: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казатель на следующий элемент. Далее удаляем 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 </a:t>
            </a: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 очистки память и производим декремент переменной 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size.</a:t>
            </a:r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clear():</a:t>
            </a:r>
          </a:p>
          <a:p>
            <a:pPr>
              <a:spcAft>
                <a:spcPts val="600"/>
              </a:spcAft>
            </a:pP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Метод для удаления всех элементов списка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Используем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pop_front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 всех элементов списка.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Управляющая кнопка: &quot;Вперед&quot; или &quot;Следующий&quot; 1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F5751B8E-5288-9D44-AF48-75E571D8E212}"/>
              </a:ext>
            </a:extLst>
          </p:cNvPr>
          <p:cNvSpPr/>
          <p:nvPr/>
        </p:nvSpPr>
        <p:spPr>
          <a:xfrm>
            <a:off x="11317179" y="6011412"/>
            <a:ext cx="798110" cy="741150"/>
          </a:xfrm>
          <a:prstGeom prst="actionButtonForwardNext">
            <a:avLst/>
          </a:prstGeom>
          <a:solidFill>
            <a:srgbClr val="222A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Управляющая кнопка: &quot;Назад&quot; или &quot;Предыдущий&quot; 15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00570D07-A5A6-CB07-16F7-ECD3F6CFB57E}"/>
              </a:ext>
            </a:extLst>
          </p:cNvPr>
          <p:cNvSpPr/>
          <p:nvPr/>
        </p:nvSpPr>
        <p:spPr>
          <a:xfrm>
            <a:off x="10559727" y="6004684"/>
            <a:ext cx="798113" cy="747331"/>
          </a:xfrm>
          <a:prstGeom prst="actionButtonBackPrevious">
            <a:avLst/>
          </a:prstGeom>
          <a:solidFill>
            <a:srgbClr val="222A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Управляющая кнопка: &quot;На главную&quot; 17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A7141642-8E33-9C0A-66F9-F544CBA0F11C}"/>
              </a:ext>
            </a:extLst>
          </p:cNvPr>
          <p:cNvSpPr/>
          <p:nvPr/>
        </p:nvSpPr>
        <p:spPr>
          <a:xfrm>
            <a:off x="9771829" y="6011412"/>
            <a:ext cx="798110" cy="741150"/>
          </a:xfrm>
          <a:prstGeom prst="actionButtonHome">
            <a:avLst/>
          </a:prstGeom>
          <a:solidFill>
            <a:srgbClr val="222A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Управляющая кнопка: возврат 18">
            <a:hlinkClick r:id="" action="ppaction://hlinkshowjump?jump=lastslideviewed" highlightClick="1"/>
            <a:extLst>
              <a:ext uri="{FF2B5EF4-FFF2-40B4-BE49-F238E27FC236}">
                <a16:creationId xmlns:a16="http://schemas.microsoft.com/office/drawing/2014/main" id="{B08EEC4A-35FE-C199-6CB8-FAAFBE05E822}"/>
              </a:ext>
            </a:extLst>
          </p:cNvPr>
          <p:cNvSpPr/>
          <p:nvPr/>
        </p:nvSpPr>
        <p:spPr>
          <a:xfrm>
            <a:off x="8983806" y="6004684"/>
            <a:ext cx="798114" cy="741150"/>
          </a:xfrm>
          <a:prstGeom prst="actionButtonReturn">
            <a:avLst/>
          </a:prstGeom>
          <a:solidFill>
            <a:schemeClr val="tx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09957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B5597"/>
          </a:solidFill>
          <a:ln>
            <a:solidFill>
              <a:srgbClr val="5520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8BA392D1-44BE-46C8-C485-805B763FC275}"/>
              </a:ext>
            </a:extLst>
          </p:cNvPr>
          <p:cNvSpPr/>
          <p:nvPr/>
        </p:nvSpPr>
        <p:spPr>
          <a:xfrm>
            <a:off x="407469" y="1164658"/>
            <a:ext cx="11377061" cy="5001336"/>
          </a:xfrm>
          <a:prstGeom prst="rect">
            <a:avLst/>
          </a:prstGeom>
          <a:solidFill>
            <a:srgbClr val="1E1E1E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F5D9A3C-0C36-15ED-D652-9FE2590D188C}"/>
              </a:ext>
            </a:extLst>
          </p:cNvPr>
          <p:cNvSpPr/>
          <p:nvPr/>
        </p:nvSpPr>
        <p:spPr>
          <a:xfrm>
            <a:off x="-15240" y="165"/>
            <a:ext cx="12222480" cy="670373"/>
          </a:xfrm>
          <a:prstGeom prst="rect">
            <a:avLst/>
          </a:prstGeom>
          <a:solidFill>
            <a:srgbClr val="222A35"/>
          </a:solidFill>
          <a:ln>
            <a:solidFill>
              <a:srgbClr val="222A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rgbClr val="222A35"/>
                </a:solidFill>
              </a:ln>
            </a:endParaRP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66A3AAD0-8395-5573-0E1B-4EC7FB62C994}"/>
              </a:ext>
            </a:extLst>
          </p:cNvPr>
          <p:cNvCxnSpPr>
            <a:cxnSpLocks/>
          </p:cNvCxnSpPr>
          <p:nvPr/>
        </p:nvCxnSpPr>
        <p:spPr>
          <a:xfrm flipV="1">
            <a:off x="-44116" y="692006"/>
            <a:ext cx="12310712" cy="18326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8F25CE21-ECBF-4116-1B0F-87295B7EB5EF}"/>
              </a:ext>
            </a:extLst>
          </p:cNvPr>
          <p:cNvCxnSpPr>
            <a:cxnSpLocks/>
          </p:cNvCxnSpPr>
          <p:nvPr/>
        </p:nvCxnSpPr>
        <p:spPr>
          <a:xfrm flipV="1">
            <a:off x="6801354" y="1164658"/>
            <a:ext cx="0" cy="5001336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A5B6AA2-8357-F7B4-1BBA-318D8BE4D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17" y="1314735"/>
            <a:ext cx="5591175" cy="4724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A930B05-40AB-9A07-B962-E3D23E43429D}"/>
              </a:ext>
            </a:extLst>
          </p:cNvPr>
          <p:cNvSpPr txBox="1"/>
          <p:nvPr/>
        </p:nvSpPr>
        <p:spPr>
          <a:xfrm>
            <a:off x="0" y="18326"/>
            <a:ext cx="1222248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ru-RU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Метод </a:t>
            </a: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removeAt()</a:t>
            </a:r>
            <a:endParaRPr lang="ru-RU" sz="3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C14ABA-B033-8B19-E78F-ABF2218EC359}"/>
              </a:ext>
            </a:extLst>
          </p:cNvPr>
          <p:cNvSpPr txBox="1"/>
          <p:nvPr/>
        </p:nvSpPr>
        <p:spPr>
          <a:xfrm>
            <a:off x="6901132" y="1176266"/>
            <a:ext cx="4815141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removeAt():</a:t>
            </a:r>
          </a:p>
          <a:p>
            <a:pPr>
              <a:spcAft>
                <a:spcPts val="600"/>
              </a:spcAft>
            </a:pP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Метод для удаления элемента по индексу. Если 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index </a:t>
            </a: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равен = 0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 можно вызвать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pop_front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ином случае нужно пройтись циклом до предыдущего элемента и придать полю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pNext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значение следующего элемента притом удалив интересуемый элемент.</a:t>
            </a:r>
          </a:p>
          <a:p>
            <a:pPr>
              <a:spcAft>
                <a:spcPts val="600"/>
              </a:spcAft>
            </a:pPr>
            <a:endParaRPr lang="ru-RU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Управляющая кнопка: &quot;Вперед&quot; или &quot;Следующий&quot; 10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6CDB4C34-75A0-FE43-3B1A-F2C7AA9A5185}"/>
              </a:ext>
            </a:extLst>
          </p:cNvPr>
          <p:cNvSpPr/>
          <p:nvPr/>
        </p:nvSpPr>
        <p:spPr>
          <a:xfrm>
            <a:off x="11317179" y="6011412"/>
            <a:ext cx="798110" cy="741150"/>
          </a:xfrm>
          <a:prstGeom prst="actionButtonForwardNext">
            <a:avLst/>
          </a:prstGeom>
          <a:solidFill>
            <a:srgbClr val="222A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Управляющая кнопка: &quot;Назад&quot; или &quot;Предыдущий&quot; 12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7F68152C-5656-127F-10BF-0305F63690AD}"/>
              </a:ext>
            </a:extLst>
          </p:cNvPr>
          <p:cNvSpPr/>
          <p:nvPr/>
        </p:nvSpPr>
        <p:spPr>
          <a:xfrm>
            <a:off x="10559727" y="6004684"/>
            <a:ext cx="798113" cy="747331"/>
          </a:xfrm>
          <a:prstGeom prst="actionButtonBackPrevious">
            <a:avLst/>
          </a:prstGeom>
          <a:solidFill>
            <a:srgbClr val="222A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Управляющая кнопка: &quot;На главную&quot; 13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656CB170-9401-1F46-86FA-9D049BF65CF2}"/>
              </a:ext>
            </a:extLst>
          </p:cNvPr>
          <p:cNvSpPr/>
          <p:nvPr/>
        </p:nvSpPr>
        <p:spPr>
          <a:xfrm>
            <a:off x="9771829" y="6011412"/>
            <a:ext cx="798110" cy="741150"/>
          </a:xfrm>
          <a:prstGeom prst="actionButtonHome">
            <a:avLst/>
          </a:prstGeom>
          <a:solidFill>
            <a:srgbClr val="222A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Управляющая кнопка: возврат 14">
            <a:hlinkClick r:id="" action="ppaction://hlinkshowjump?jump=lastslideviewed" highlightClick="1"/>
            <a:extLst>
              <a:ext uri="{FF2B5EF4-FFF2-40B4-BE49-F238E27FC236}">
                <a16:creationId xmlns:a16="http://schemas.microsoft.com/office/drawing/2014/main" id="{2FC86806-CBFF-D6DD-DE23-C07E0F5DDE5A}"/>
              </a:ext>
            </a:extLst>
          </p:cNvPr>
          <p:cNvSpPr/>
          <p:nvPr/>
        </p:nvSpPr>
        <p:spPr>
          <a:xfrm>
            <a:off x="8983806" y="6004684"/>
            <a:ext cx="798114" cy="741150"/>
          </a:xfrm>
          <a:prstGeom prst="actionButtonReturn">
            <a:avLst/>
          </a:prstGeom>
          <a:solidFill>
            <a:schemeClr val="tx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31265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B5597"/>
          </a:solidFill>
          <a:ln>
            <a:solidFill>
              <a:srgbClr val="5520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8BA392D1-44BE-46C8-C485-805B763FC275}"/>
              </a:ext>
            </a:extLst>
          </p:cNvPr>
          <p:cNvSpPr/>
          <p:nvPr/>
        </p:nvSpPr>
        <p:spPr>
          <a:xfrm>
            <a:off x="423511" y="1164658"/>
            <a:ext cx="11377061" cy="5001336"/>
          </a:xfrm>
          <a:prstGeom prst="rect">
            <a:avLst/>
          </a:prstGeom>
          <a:solidFill>
            <a:srgbClr val="1E1E1E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4393" y="2903478"/>
            <a:ext cx="29073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Метод </a:t>
            </a:r>
            <a:r>
              <a:rPr lang="en-US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pop_back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():</a:t>
            </a:r>
            <a:endParaRPr lang="ru-RU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F5D9A3C-0C36-15ED-D652-9FE2590D188C}"/>
              </a:ext>
            </a:extLst>
          </p:cNvPr>
          <p:cNvSpPr/>
          <p:nvPr/>
        </p:nvSpPr>
        <p:spPr>
          <a:xfrm>
            <a:off x="-15240" y="165"/>
            <a:ext cx="12222480" cy="670373"/>
          </a:xfrm>
          <a:prstGeom prst="rect">
            <a:avLst/>
          </a:prstGeom>
          <a:solidFill>
            <a:srgbClr val="222A35"/>
          </a:solidFill>
          <a:ln>
            <a:solidFill>
              <a:srgbClr val="222A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rgbClr val="222A35"/>
                </a:solidFill>
              </a:ln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0CF3F4-56BD-88F4-6684-2E0BFDDC192B}"/>
              </a:ext>
            </a:extLst>
          </p:cNvPr>
          <p:cNvSpPr txBox="1"/>
          <p:nvPr/>
        </p:nvSpPr>
        <p:spPr>
          <a:xfrm>
            <a:off x="0" y="18326"/>
            <a:ext cx="1222248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ru-RU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Деструктор, </a:t>
            </a:r>
            <a:r>
              <a:rPr lang="en-US" sz="3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pop_back</a:t>
            </a: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(), </a:t>
            </a:r>
            <a:r>
              <a:rPr lang="en-US" sz="3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getSize</a:t>
            </a: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endParaRPr lang="ru-RU" sz="3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66A3AAD0-8395-5573-0E1B-4EC7FB62C994}"/>
              </a:ext>
            </a:extLst>
          </p:cNvPr>
          <p:cNvCxnSpPr>
            <a:cxnSpLocks/>
          </p:cNvCxnSpPr>
          <p:nvPr/>
        </p:nvCxnSpPr>
        <p:spPr>
          <a:xfrm flipV="1">
            <a:off x="-44116" y="692006"/>
            <a:ext cx="12310712" cy="18326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4394" y="4678778"/>
            <a:ext cx="29073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Метод </a:t>
            </a:r>
            <a:r>
              <a:rPr lang="en-US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getSize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():</a:t>
            </a:r>
            <a:endParaRPr lang="ru-RU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8F25CE21-ECBF-4116-1B0F-87295B7EB5EF}"/>
              </a:ext>
            </a:extLst>
          </p:cNvPr>
          <p:cNvCxnSpPr>
            <a:cxnSpLocks/>
          </p:cNvCxnSpPr>
          <p:nvPr/>
        </p:nvCxnSpPr>
        <p:spPr>
          <a:xfrm flipV="1">
            <a:off x="6515491" y="1164658"/>
            <a:ext cx="0" cy="5001336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C62D9E7-81AB-0C92-C53D-FFD59CA428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098"/>
          <a:stretch/>
        </p:blipFill>
        <p:spPr>
          <a:xfrm>
            <a:off x="677983" y="1962804"/>
            <a:ext cx="3848637" cy="8407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EE9FC4E-D6AA-3FF7-B0ED-1035C49C8D4A}"/>
              </a:ext>
            </a:extLst>
          </p:cNvPr>
          <p:cNvSpPr txBox="1"/>
          <p:nvPr/>
        </p:nvSpPr>
        <p:spPr>
          <a:xfrm>
            <a:off x="564394" y="1401247"/>
            <a:ext cx="29073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Деструктор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F715237-25BF-EA50-7B89-D9581AD6B3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243"/>
          <a:stretch/>
        </p:blipFill>
        <p:spPr>
          <a:xfrm>
            <a:off x="677983" y="3488560"/>
            <a:ext cx="3676650" cy="1042878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E22EAED-9830-2A17-9547-08BABF1986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358" y="5287783"/>
            <a:ext cx="3771900" cy="39052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B732D8A-741F-2BD1-779E-7F33B2E0F05C}"/>
              </a:ext>
            </a:extLst>
          </p:cNvPr>
          <p:cNvSpPr txBox="1"/>
          <p:nvPr/>
        </p:nvSpPr>
        <p:spPr>
          <a:xfrm>
            <a:off x="6687478" y="1251575"/>
            <a:ext cx="4571751" cy="386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Деструктор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():</a:t>
            </a:r>
            <a:endParaRPr lang="ru-RU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деструкторе для очистки памяти вызываем метод 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clear()</a:t>
            </a:r>
            <a:endParaRPr lang="ru-RU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pop_back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():</a:t>
            </a:r>
          </a:p>
          <a:p>
            <a:pPr>
              <a:spcAft>
                <a:spcPts val="600"/>
              </a:spcAft>
            </a:pP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Метод для удаления последнего элемента. Вызываем 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removeAt</a:t>
            </a: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и в качестве аргумента задаем последний элемент списка.</a:t>
            </a:r>
          </a:p>
          <a:p>
            <a:pPr>
              <a:spcAft>
                <a:spcPts val="600"/>
              </a:spcAft>
            </a:pP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getSize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():</a:t>
            </a:r>
          </a:p>
          <a:p>
            <a:pPr>
              <a:spcAft>
                <a:spcPts val="600"/>
              </a:spcAft>
            </a:pP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Метод возвращающий размер списка.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Управляющая кнопка: &quot;Вперед&quot; или &quot;Следующий&quot; 1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D4A978D6-570C-C263-6CE1-F0795C573B00}"/>
              </a:ext>
            </a:extLst>
          </p:cNvPr>
          <p:cNvSpPr/>
          <p:nvPr/>
        </p:nvSpPr>
        <p:spPr>
          <a:xfrm>
            <a:off x="11317179" y="6011412"/>
            <a:ext cx="798110" cy="741150"/>
          </a:xfrm>
          <a:prstGeom prst="actionButtonForwardNext">
            <a:avLst/>
          </a:prstGeom>
          <a:solidFill>
            <a:srgbClr val="222A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Управляющая кнопка: &quot;Назад&quot; или &quot;Предыдущий&quot; 18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39FA65F5-059A-B33D-E932-80276FDB8F52}"/>
              </a:ext>
            </a:extLst>
          </p:cNvPr>
          <p:cNvSpPr/>
          <p:nvPr/>
        </p:nvSpPr>
        <p:spPr>
          <a:xfrm>
            <a:off x="10559727" y="6004684"/>
            <a:ext cx="798113" cy="747331"/>
          </a:xfrm>
          <a:prstGeom prst="actionButtonBackPrevious">
            <a:avLst/>
          </a:prstGeom>
          <a:solidFill>
            <a:srgbClr val="222A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Управляющая кнопка: &quot;На главную&quot; 19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6562B1D5-F7EA-3CFA-1565-661DD1E0A2D5}"/>
              </a:ext>
            </a:extLst>
          </p:cNvPr>
          <p:cNvSpPr/>
          <p:nvPr/>
        </p:nvSpPr>
        <p:spPr>
          <a:xfrm>
            <a:off x="9771829" y="6011412"/>
            <a:ext cx="798110" cy="741150"/>
          </a:xfrm>
          <a:prstGeom prst="actionButtonHome">
            <a:avLst/>
          </a:prstGeom>
          <a:solidFill>
            <a:srgbClr val="222A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Управляющая кнопка: возврат 20">
            <a:hlinkClick r:id="" action="ppaction://hlinkshowjump?jump=lastslideviewed" highlightClick="1"/>
            <a:extLst>
              <a:ext uri="{FF2B5EF4-FFF2-40B4-BE49-F238E27FC236}">
                <a16:creationId xmlns:a16="http://schemas.microsoft.com/office/drawing/2014/main" id="{1B44398C-52A2-DD6B-E52B-7CFB442C74DF}"/>
              </a:ext>
            </a:extLst>
          </p:cNvPr>
          <p:cNvSpPr/>
          <p:nvPr/>
        </p:nvSpPr>
        <p:spPr>
          <a:xfrm>
            <a:off x="8983806" y="6004684"/>
            <a:ext cx="798114" cy="741150"/>
          </a:xfrm>
          <a:prstGeom prst="actionButtonReturn">
            <a:avLst/>
          </a:prstGeom>
          <a:solidFill>
            <a:schemeClr val="tx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3311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B5597"/>
          </a:solidFill>
          <a:ln>
            <a:solidFill>
              <a:srgbClr val="5520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8BA392D1-44BE-46C8-C485-805B763FC275}"/>
              </a:ext>
            </a:extLst>
          </p:cNvPr>
          <p:cNvSpPr/>
          <p:nvPr/>
        </p:nvSpPr>
        <p:spPr>
          <a:xfrm>
            <a:off x="423511" y="1164658"/>
            <a:ext cx="11377061" cy="5001336"/>
          </a:xfrm>
          <a:prstGeom prst="rect">
            <a:avLst/>
          </a:prstGeom>
          <a:solidFill>
            <a:srgbClr val="1E1E1E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F5D9A3C-0C36-15ED-D652-9FE2590D188C}"/>
              </a:ext>
            </a:extLst>
          </p:cNvPr>
          <p:cNvSpPr/>
          <p:nvPr/>
        </p:nvSpPr>
        <p:spPr>
          <a:xfrm>
            <a:off x="-15240" y="165"/>
            <a:ext cx="12222480" cy="670373"/>
          </a:xfrm>
          <a:prstGeom prst="rect">
            <a:avLst/>
          </a:prstGeom>
          <a:solidFill>
            <a:srgbClr val="222A35"/>
          </a:solidFill>
          <a:ln>
            <a:solidFill>
              <a:srgbClr val="222A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rgbClr val="222A35"/>
                </a:solidFill>
              </a:ln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0CF3F4-56BD-88F4-6684-2E0BFDDC192B}"/>
              </a:ext>
            </a:extLst>
          </p:cNvPr>
          <p:cNvSpPr txBox="1"/>
          <p:nvPr/>
        </p:nvSpPr>
        <p:spPr>
          <a:xfrm>
            <a:off x="0" y="18326"/>
            <a:ext cx="1222248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ru-RU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Метод </a:t>
            </a:r>
            <a:r>
              <a:rPr lang="en-US" sz="3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push_back</a:t>
            </a: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endParaRPr lang="ru-RU" sz="3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66A3AAD0-8395-5573-0E1B-4EC7FB62C994}"/>
              </a:ext>
            </a:extLst>
          </p:cNvPr>
          <p:cNvCxnSpPr>
            <a:cxnSpLocks/>
          </p:cNvCxnSpPr>
          <p:nvPr/>
        </p:nvCxnSpPr>
        <p:spPr>
          <a:xfrm flipV="1">
            <a:off x="-44116" y="692006"/>
            <a:ext cx="12310712" cy="18326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8F25CE21-ECBF-4116-1B0F-87295B7EB5EF}"/>
              </a:ext>
            </a:extLst>
          </p:cNvPr>
          <p:cNvCxnSpPr>
            <a:cxnSpLocks/>
          </p:cNvCxnSpPr>
          <p:nvPr/>
        </p:nvCxnSpPr>
        <p:spPr>
          <a:xfrm flipV="1">
            <a:off x="6903679" y="1164658"/>
            <a:ext cx="0" cy="5001336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0ACAA52-F054-7DF5-D338-190841371D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443"/>
          <a:stretch/>
        </p:blipFill>
        <p:spPr>
          <a:xfrm>
            <a:off x="604387" y="1298033"/>
            <a:ext cx="5491614" cy="47345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099FD7B-09BA-15A9-4662-9481FF554C9B}"/>
              </a:ext>
            </a:extLst>
          </p:cNvPr>
          <p:cNvSpPr txBox="1"/>
          <p:nvPr/>
        </p:nvSpPr>
        <p:spPr>
          <a:xfrm>
            <a:off x="7100633" y="1343714"/>
            <a:ext cx="4502986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push_back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():</a:t>
            </a:r>
          </a:p>
          <a:p>
            <a:pPr>
              <a:spcAft>
                <a:spcPts val="600"/>
              </a:spcAft>
            </a:pP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Метод для добавления элемента в конец списка. Если список пустой присваивает 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head </a:t>
            </a: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новый элемент, </a:t>
            </a:r>
          </a:p>
          <a:p>
            <a:pPr>
              <a:spcAft>
                <a:spcPts val="600"/>
              </a:spcAft>
            </a:pP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ином случае доходит до последнего элемента циклом и добавляет элемент.</a:t>
            </a:r>
          </a:p>
        </p:txBody>
      </p:sp>
      <p:sp>
        <p:nvSpPr>
          <p:cNvPr id="9" name="Управляющая кнопка: &quot;Вперед&quot; или &quot;Следующий&quot; 8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B3312072-F7DE-48B6-6645-7E549A62DBD1}"/>
              </a:ext>
            </a:extLst>
          </p:cNvPr>
          <p:cNvSpPr/>
          <p:nvPr/>
        </p:nvSpPr>
        <p:spPr>
          <a:xfrm>
            <a:off x="11317179" y="6011412"/>
            <a:ext cx="798110" cy="741150"/>
          </a:xfrm>
          <a:prstGeom prst="actionButtonForwardNext">
            <a:avLst/>
          </a:prstGeom>
          <a:solidFill>
            <a:srgbClr val="222A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Управляющая кнопка: &quot;Назад&quot; или &quot;Предыдущий&quot; 12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F35ECCB8-B1B0-EC64-11F3-1E4D3B1ABE6A}"/>
              </a:ext>
            </a:extLst>
          </p:cNvPr>
          <p:cNvSpPr/>
          <p:nvPr/>
        </p:nvSpPr>
        <p:spPr>
          <a:xfrm>
            <a:off x="10559727" y="6004684"/>
            <a:ext cx="798113" cy="747331"/>
          </a:xfrm>
          <a:prstGeom prst="actionButtonBackPrevious">
            <a:avLst/>
          </a:prstGeom>
          <a:solidFill>
            <a:srgbClr val="222A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Управляющая кнопка: &quot;На главную&quot; 13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3CE1D76C-A8BB-A9DD-2B7E-33A16DF889B2}"/>
              </a:ext>
            </a:extLst>
          </p:cNvPr>
          <p:cNvSpPr/>
          <p:nvPr/>
        </p:nvSpPr>
        <p:spPr>
          <a:xfrm>
            <a:off x="9771829" y="6011412"/>
            <a:ext cx="798110" cy="741150"/>
          </a:xfrm>
          <a:prstGeom prst="actionButtonHome">
            <a:avLst/>
          </a:prstGeom>
          <a:solidFill>
            <a:srgbClr val="222A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Управляющая кнопка: возврат 14">
            <a:hlinkClick r:id="" action="ppaction://hlinkshowjump?jump=lastslideviewed" highlightClick="1"/>
            <a:extLst>
              <a:ext uri="{FF2B5EF4-FFF2-40B4-BE49-F238E27FC236}">
                <a16:creationId xmlns:a16="http://schemas.microsoft.com/office/drawing/2014/main" id="{CC5BE906-4E77-3225-8FAE-621D25C502FA}"/>
              </a:ext>
            </a:extLst>
          </p:cNvPr>
          <p:cNvSpPr/>
          <p:nvPr/>
        </p:nvSpPr>
        <p:spPr>
          <a:xfrm>
            <a:off x="8983806" y="6004684"/>
            <a:ext cx="798114" cy="741150"/>
          </a:xfrm>
          <a:prstGeom prst="actionButtonReturn">
            <a:avLst/>
          </a:prstGeom>
          <a:solidFill>
            <a:schemeClr val="tx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94914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B5597"/>
          </a:solidFill>
          <a:ln>
            <a:solidFill>
              <a:srgbClr val="5520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8BA392D1-44BE-46C8-C485-805B763FC275}"/>
              </a:ext>
            </a:extLst>
          </p:cNvPr>
          <p:cNvSpPr/>
          <p:nvPr/>
        </p:nvSpPr>
        <p:spPr>
          <a:xfrm>
            <a:off x="423511" y="1164658"/>
            <a:ext cx="11377061" cy="5001336"/>
          </a:xfrm>
          <a:prstGeom prst="rect">
            <a:avLst/>
          </a:prstGeom>
          <a:solidFill>
            <a:srgbClr val="1E1E1E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F5D9A3C-0C36-15ED-D652-9FE2590D188C}"/>
              </a:ext>
            </a:extLst>
          </p:cNvPr>
          <p:cNvSpPr/>
          <p:nvPr/>
        </p:nvSpPr>
        <p:spPr>
          <a:xfrm>
            <a:off x="-15240" y="165"/>
            <a:ext cx="12222480" cy="670373"/>
          </a:xfrm>
          <a:prstGeom prst="rect">
            <a:avLst/>
          </a:prstGeom>
          <a:solidFill>
            <a:srgbClr val="222A35"/>
          </a:solidFill>
          <a:ln>
            <a:solidFill>
              <a:srgbClr val="222A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rgbClr val="222A35"/>
                </a:solidFill>
              </a:ln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0CF3F4-56BD-88F4-6684-2E0BFDDC192B}"/>
              </a:ext>
            </a:extLst>
          </p:cNvPr>
          <p:cNvSpPr txBox="1"/>
          <p:nvPr/>
        </p:nvSpPr>
        <p:spPr>
          <a:xfrm>
            <a:off x="0" y="18326"/>
            <a:ext cx="1222248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ru-RU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Метод </a:t>
            </a: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insert()</a:t>
            </a:r>
            <a:endParaRPr lang="ru-RU" sz="3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66A3AAD0-8395-5573-0E1B-4EC7FB62C994}"/>
              </a:ext>
            </a:extLst>
          </p:cNvPr>
          <p:cNvCxnSpPr>
            <a:cxnSpLocks/>
          </p:cNvCxnSpPr>
          <p:nvPr/>
        </p:nvCxnSpPr>
        <p:spPr>
          <a:xfrm flipV="1">
            <a:off x="-44116" y="692006"/>
            <a:ext cx="12310712" cy="18326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8F25CE21-ECBF-4116-1B0F-87295B7EB5EF}"/>
              </a:ext>
            </a:extLst>
          </p:cNvPr>
          <p:cNvCxnSpPr>
            <a:cxnSpLocks/>
          </p:cNvCxnSpPr>
          <p:nvPr/>
        </p:nvCxnSpPr>
        <p:spPr>
          <a:xfrm flipV="1">
            <a:off x="6981318" y="1164658"/>
            <a:ext cx="0" cy="5001336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0DEA5C8-2A5A-8F7B-8BDF-51C56D32F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737" y="1329022"/>
            <a:ext cx="5610225" cy="46958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5D1ADAF-9EB5-59D2-9B6E-3B8485412717}"/>
              </a:ext>
            </a:extLst>
          </p:cNvPr>
          <p:cNvSpPr txBox="1"/>
          <p:nvPr/>
        </p:nvSpPr>
        <p:spPr>
          <a:xfrm>
            <a:off x="7139452" y="1264669"/>
            <a:ext cx="4502986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push_back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():</a:t>
            </a:r>
          </a:p>
          <a:p>
            <a:pPr>
              <a:spcAft>
                <a:spcPts val="600"/>
              </a:spcAft>
            </a:pP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Метод для добавления элемента по индексу. Если индекс = 0 вызывает метод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push_front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</a:p>
          <a:p>
            <a:pPr>
              <a:spcAft>
                <a:spcPts val="600"/>
              </a:spcAft>
            </a:pP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ином случае доходит до предыдущего элемента циклом, разрывает связь между ним и следующим элементом и добавляет новый и ему присваивает элемент на последующий от интересуемого.</a:t>
            </a:r>
          </a:p>
        </p:txBody>
      </p:sp>
      <p:sp>
        <p:nvSpPr>
          <p:cNvPr id="9" name="Управляющая кнопка: &quot;Вперед&quot; или &quot;Следующий&quot; 8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81114095-E88C-CD33-EA7F-12F966C1EBD5}"/>
              </a:ext>
            </a:extLst>
          </p:cNvPr>
          <p:cNvSpPr/>
          <p:nvPr/>
        </p:nvSpPr>
        <p:spPr>
          <a:xfrm>
            <a:off x="11317179" y="6011412"/>
            <a:ext cx="798110" cy="741150"/>
          </a:xfrm>
          <a:prstGeom prst="actionButtonForwardNext">
            <a:avLst/>
          </a:prstGeom>
          <a:solidFill>
            <a:srgbClr val="222A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Управляющая кнопка: &quot;Назад&quot; или &quot;Предыдущий&quot; 12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654B6E70-7EA6-0D55-A28C-FB83FCC8299C}"/>
              </a:ext>
            </a:extLst>
          </p:cNvPr>
          <p:cNvSpPr/>
          <p:nvPr/>
        </p:nvSpPr>
        <p:spPr>
          <a:xfrm>
            <a:off x="10559727" y="6004684"/>
            <a:ext cx="798113" cy="747331"/>
          </a:xfrm>
          <a:prstGeom prst="actionButtonBackPrevious">
            <a:avLst/>
          </a:prstGeom>
          <a:solidFill>
            <a:srgbClr val="222A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Управляющая кнопка: &quot;На главную&quot; 13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178D950B-B831-6755-9D6E-EF6339CD3C0F}"/>
              </a:ext>
            </a:extLst>
          </p:cNvPr>
          <p:cNvSpPr/>
          <p:nvPr/>
        </p:nvSpPr>
        <p:spPr>
          <a:xfrm>
            <a:off x="9771829" y="6011412"/>
            <a:ext cx="798110" cy="741150"/>
          </a:xfrm>
          <a:prstGeom prst="actionButtonHome">
            <a:avLst/>
          </a:prstGeom>
          <a:solidFill>
            <a:srgbClr val="222A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Управляющая кнопка: возврат 14">
            <a:hlinkClick r:id="" action="ppaction://hlinkshowjump?jump=lastslideviewed" highlightClick="1"/>
            <a:extLst>
              <a:ext uri="{FF2B5EF4-FFF2-40B4-BE49-F238E27FC236}">
                <a16:creationId xmlns:a16="http://schemas.microsoft.com/office/drawing/2014/main" id="{3C087616-C58D-2C59-9128-F78DD2BAF33B}"/>
              </a:ext>
            </a:extLst>
          </p:cNvPr>
          <p:cNvSpPr/>
          <p:nvPr/>
        </p:nvSpPr>
        <p:spPr>
          <a:xfrm>
            <a:off x="8983806" y="6004684"/>
            <a:ext cx="798114" cy="741150"/>
          </a:xfrm>
          <a:prstGeom prst="actionButtonReturn">
            <a:avLst/>
          </a:prstGeom>
          <a:solidFill>
            <a:schemeClr val="tx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3178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B5597"/>
          </a:solidFill>
          <a:ln>
            <a:solidFill>
              <a:srgbClr val="5520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8BA392D1-44BE-46C8-C485-805B763FC275}"/>
              </a:ext>
            </a:extLst>
          </p:cNvPr>
          <p:cNvSpPr/>
          <p:nvPr/>
        </p:nvSpPr>
        <p:spPr>
          <a:xfrm>
            <a:off x="423511" y="1164658"/>
            <a:ext cx="11377061" cy="5001336"/>
          </a:xfrm>
          <a:prstGeom prst="rect">
            <a:avLst/>
          </a:prstGeom>
          <a:solidFill>
            <a:srgbClr val="1E1E1E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F5D9A3C-0C36-15ED-D652-9FE2590D188C}"/>
              </a:ext>
            </a:extLst>
          </p:cNvPr>
          <p:cNvSpPr/>
          <p:nvPr/>
        </p:nvSpPr>
        <p:spPr>
          <a:xfrm>
            <a:off x="-15240" y="165"/>
            <a:ext cx="12222480" cy="670373"/>
          </a:xfrm>
          <a:prstGeom prst="rect">
            <a:avLst/>
          </a:prstGeom>
          <a:solidFill>
            <a:srgbClr val="222A35"/>
          </a:solidFill>
          <a:ln>
            <a:solidFill>
              <a:srgbClr val="222A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rgbClr val="222A35"/>
                </a:solidFill>
              </a:ln>
            </a:endParaRP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66A3AAD0-8395-5573-0E1B-4EC7FB62C994}"/>
              </a:ext>
            </a:extLst>
          </p:cNvPr>
          <p:cNvCxnSpPr>
            <a:cxnSpLocks/>
          </p:cNvCxnSpPr>
          <p:nvPr/>
        </p:nvCxnSpPr>
        <p:spPr>
          <a:xfrm flipV="1">
            <a:off x="-44116" y="692006"/>
            <a:ext cx="12310712" cy="18326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8F25CE21-ECBF-4116-1B0F-87295B7EB5EF}"/>
              </a:ext>
            </a:extLst>
          </p:cNvPr>
          <p:cNvCxnSpPr>
            <a:cxnSpLocks/>
          </p:cNvCxnSpPr>
          <p:nvPr/>
        </p:nvCxnSpPr>
        <p:spPr>
          <a:xfrm flipV="1">
            <a:off x="6817417" y="1164658"/>
            <a:ext cx="0" cy="5001336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A930B05-40AB-9A07-B962-E3D23E43429D}"/>
              </a:ext>
            </a:extLst>
          </p:cNvPr>
          <p:cNvSpPr txBox="1"/>
          <p:nvPr/>
        </p:nvSpPr>
        <p:spPr>
          <a:xfrm>
            <a:off x="0" y="18326"/>
            <a:ext cx="1222248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ru-RU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Перегрузка оператора </a:t>
            </a: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[]</a:t>
            </a:r>
            <a:endParaRPr lang="ru-RU" sz="3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943E173-7FE1-49EC-3133-9D3A50644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562" y="1534830"/>
            <a:ext cx="4577212" cy="40664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EEF4174-41F2-4378-9D5A-B554D551683B}"/>
              </a:ext>
            </a:extLst>
          </p:cNvPr>
          <p:cNvSpPr txBox="1"/>
          <p:nvPr/>
        </p:nvSpPr>
        <p:spPr>
          <a:xfrm>
            <a:off x="7097621" y="1289805"/>
            <a:ext cx="4565292" cy="293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 создании класс не имеет оператора 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[]</a:t>
            </a: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то есть мы не можем обратиться по индексу к элементу, однако по можем перегрузить эту  операцию и добавить такую возможность.</a:t>
            </a:r>
          </a:p>
          <a:p>
            <a:pPr>
              <a:spcAft>
                <a:spcPts val="600"/>
              </a:spcAft>
            </a:pP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 этого нам необходимо пройтись циклом до необходимого нам элемента если список не пустой.</a:t>
            </a:r>
          </a:p>
        </p:txBody>
      </p:sp>
      <p:sp>
        <p:nvSpPr>
          <p:cNvPr id="11" name="Управляющая кнопка: &quot;Вперед&quot; или &quot;Следующий&quot; 10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A4F7E04-64CB-3B29-DA95-1E2317FE923B}"/>
              </a:ext>
            </a:extLst>
          </p:cNvPr>
          <p:cNvSpPr/>
          <p:nvPr/>
        </p:nvSpPr>
        <p:spPr>
          <a:xfrm>
            <a:off x="11317179" y="6011412"/>
            <a:ext cx="798110" cy="741150"/>
          </a:xfrm>
          <a:prstGeom prst="actionButtonForwardNext">
            <a:avLst/>
          </a:prstGeom>
          <a:solidFill>
            <a:srgbClr val="222A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Управляющая кнопка: &quot;Назад&quot; или &quot;Предыдущий&quot; 12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875F0D53-87CD-5888-690C-461987D2E3AC}"/>
              </a:ext>
            </a:extLst>
          </p:cNvPr>
          <p:cNvSpPr/>
          <p:nvPr/>
        </p:nvSpPr>
        <p:spPr>
          <a:xfrm>
            <a:off x="10559727" y="6004684"/>
            <a:ext cx="798113" cy="747331"/>
          </a:xfrm>
          <a:prstGeom prst="actionButtonBackPrevious">
            <a:avLst/>
          </a:prstGeom>
          <a:solidFill>
            <a:srgbClr val="222A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Управляющая кнопка: &quot;На главную&quot; 13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7289880A-730C-2861-1962-9FAF21435910}"/>
              </a:ext>
            </a:extLst>
          </p:cNvPr>
          <p:cNvSpPr/>
          <p:nvPr/>
        </p:nvSpPr>
        <p:spPr>
          <a:xfrm>
            <a:off x="9771829" y="6011412"/>
            <a:ext cx="798110" cy="741150"/>
          </a:xfrm>
          <a:prstGeom prst="actionButtonHome">
            <a:avLst/>
          </a:prstGeom>
          <a:solidFill>
            <a:srgbClr val="222A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Управляющая кнопка: возврат 14">
            <a:hlinkClick r:id="" action="ppaction://hlinkshowjump?jump=lastslideviewed" highlightClick="1"/>
            <a:extLst>
              <a:ext uri="{FF2B5EF4-FFF2-40B4-BE49-F238E27FC236}">
                <a16:creationId xmlns:a16="http://schemas.microsoft.com/office/drawing/2014/main" id="{835A1618-23E0-B876-4A56-427BDC402215}"/>
              </a:ext>
            </a:extLst>
          </p:cNvPr>
          <p:cNvSpPr/>
          <p:nvPr/>
        </p:nvSpPr>
        <p:spPr>
          <a:xfrm>
            <a:off x="8983806" y="6004684"/>
            <a:ext cx="798114" cy="741150"/>
          </a:xfrm>
          <a:prstGeom prst="actionButtonReturn">
            <a:avLst/>
          </a:prstGeom>
          <a:solidFill>
            <a:schemeClr val="tx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25776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B5597"/>
          </a:solidFill>
          <a:ln>
            <a:solidFill>
              <a:srgbClr val="5520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731695" y="2545008"/>
            <a:ext cx="8728610" cy="921396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Тестирование</a:t>
            </a:r>
          </a:p>
        </p:txBody>
      </p:sp>
      <p:sp>
        <p:nvSpPr>
          <p:cNvPr id="5" name="Управляющая кнопка: &quot;Вперед&quot; или &quot;Следующий&quot; 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92CFC9D0-DF62-10C1-D453-4062D21BF0A6}"/>
              </a:ext>
            </a:extLst>
          </p:cNvPr>
          <p:cNvSpPr/>
          <p:nvPr/>
        </p:nvSpPr>
        <p:spPr>
          <a:xfrm>
            <a:off x="11317179" y="6011412"/>
            <a:ext cx="798110" cy="741150"/>
          </a:xfrm>
          <a:prstGeom prst="actionButtonForwardNext">
            <a:avLst/>
          </a:prstGeom>
          <a:solidFill>
            <a:srgbClr val="222A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Управляющая кнопка: &quot;Назад&quot; или &quot;Предыдущий&quot; 5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3E907295-A605-57C7-CD84-B45A3550B11D}"/>
              </a:ext>
            </a:extLst>
          </p:cNvPr>
          <p:cNvSpPr/>
          <p:nvPr/>
        </p:nvSpPr>
        <p:spPr>
          <a:xfrm>
            <a:off x="10559727" y="6004684"/>
            <a:ext cx="798113" cy="747331"/>
          </a:xfrm>
          <a:prstGeom prst="actionButtonBackPrevious">
            <a:avLst/>
          </a:prstGeom>
          <a:solidFill>
            <a:srgbClr val="222A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Управляющая кнопка: &quot;На главную&quot; 6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FCAA2CDD-2DFA-1C2E-632E-65F2CF30EC73}"/>
              </a:ext>
            </a:extLst>
          </p:cNvPr>
          <p:cNvSpPr/>
          <p:nvPr/>
        </p:nvSpPr>
        <p:spPr>
          <a:xfrm>
            <a:off x="9771829" y="6011412"/>
            <a:ext cx="798110" cy="741150"/>
          </a:xfrm>
          <a:prstGeom prst="actionButtonHome">
            <a:avLst/>
          </a:prstGeom>
          <a:solidFill>
            <a:srgbClr val="222A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Управляющая кнопка: возврат 7">
            <a:hlinkClick r:id="" action="ppaction://hlinkshowjump?jump=lastslideviewed" highlightClick="1"/>
            <a:extLst>
              <a:ext uri="{FF2B5EF4-FFF2-40B4-BE49-F238E27FC236}">
                <a16:creationId xmlns:a16="http://schemas.microsoft.com/office/drawing/2014/main" id="{11172BFC-2E57-D14C-FCB3-851B3E403694}"/>
              </a:ext>
            </a:extLst>
          </p:cNvPr>
          <p:cNvSpPr/>
          <p:nvPr/>
        </p:nvSpPr>
        <p:spPr>
          <a:xfrm>
            <a:off x="8983806" y="6004684"/>
            <a:ext cx="798114" cy="741150"/>
          </a:xfrm>
          <a:prstGeom prst="actionButtonReturn">
            <a:avLst/>
          </a:prstGeom>
          <a:solidFill>
            <a:schemeClr val="tx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93218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6396AC0-AF9A-EE1A-1647-3F4DC1B16A6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B5597"/>
          </a:solidFill>
          <a:ln>
            <a:solidFill>
              <a:srgbClr val="5520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46994FF-4B20-1F41-BBED-AECC11BA8B99}"/>
              </a:ext>
            </a:extLst>
          </p:cNvPr>
          <p:cNvSpPr/>
          <p:nvPr/>
        </p:nvSpPr>
        <p:spPr>
          <a:xfrm>
            <a:off x="-15240" y="165"/>
            <a:ext cx="12222480" cy="670373"/>
          </a:xfrm>
          <a:prstGeom prst="rect">
            <a:avLst/>
          </a:prstGeom>
          <a:solidFill>
            <a:srgbClr val="222A35"/>
          </a:solidFill>
          <a:ln>
            <a:solidFill>
              <a:srgbClr val="222A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rgbClr val="222A35"/>
                </a:solidFill>
              </a:ln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B43E53-5888-EDFD-0096-B719B91F9204}"/>
              </a:ext>
            </a:extLst>
          </p:cNvPr>
          <p:cNvSpPr txBox="1"/>
          <p:nvPr/>
        </p:nvSpPr>
        <p:spPr>
          <a:xfrm>
            <a:off x="0" y="18326"/>
            <a:ext cx="1222248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ru-RU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Тестирование</a:t>
            </a:r>
          </a:p>
        </p:txBody>
      </p: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61212CE7-D728-BE3D-AB49-BE2E3D42146B}"/>
              </a:ext>
            </a:extLst>
          </p:cNvPr>
          <p:cNvCxnSpPr>
            <a:cxnSpLocks/>
          </p:cNvCxnSpPr>
          <p:nvPr/>
        </p:nvCxnSpPr>
        <p:spPr>
          <a:xfrm flipV="1">
            <a:off x="-44116" y="692006"/>
            <a:ext cx="12310712" cy="18326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27CE419-978C-2CB5-0476-FC00AAA0F68A}"/>
              </a:ext>
            </a:extLst>
          </p:cNvPr>
          <p:cNvSpPr/>
          <p:nvPr/>
        </p:nvSpPr>
        <p:spPr>
          <a:xfrm>
            <a:off x="0" y="738918"/>
            <a:ext cx="12192000" cy="12795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Что представляет из себя структура данных односвязный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ru-RU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Управляющая кнопка: справка 15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D67D7A38-9891-C38D-D189-7647C812E82F}"/>
              </a:ext>
            </a:extLst>
          </p:cNvPr>
          <p:cNvSpPr/>
          <p:nvPr/>
        </p:nvSpPr>
        <p:spPr>
          <a:xfrm>
            <a:off x="11030953" y="5769806"/>
            <a:ext cx="798897" cy="763271"/>
          </a:xfrm>
          <a:prstGeom prst="actionButtonHelp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3D30F80-EB23-CB37-CD47-53FDA9E6E686}"/>
              </a:ext>
            </a:extLst>
          </p:cNvPr>
          <p:cNvSpPr/>
          <p:nvPr/>
        </p:nvSpPr>
        <p:spPr>
          <a:xfrm>
            <a:off x="1335648" y="2218373"/>
            <a:ext cx="9914021" cy="9719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sz="2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Структура данных, состоящая из узлов, каждый из которых содержит значение и ссылку на следующий узел</a:t>
            </a:r>
            <a:endParaRPr lang="en-US" sz="2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78249462-ED21-C134-75E4-9404E5A675BC}"/>
              </a:ext>
            </a:extLst>
          </p:cNvPr>
          <p:cNvSpPr/>
          <p:nvPr/>
        </p:nvSpPr>
        <p:spPr>
          <a:xfrm>
            <a:off x="1335648" y="3342572"/>
            <a:ext cx="9914021" cy="9885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sz="2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Структура при которой данные в памяти хранятся подряд и итерация по ним происходит с помощью прибавления к ячейки памяти байт</a:t>
            </a:r>
            <a:endParaRPr lang="en-US" sz="2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74281BA-5268-2556-969D-8FE33A417360}"/>
              </a:ext>
            </a:extLst>
          </p:cNvPr>
          <p:cNvSpPr/>
          <p:nvPr/>
        </p:nvSpPr>
        <p:spPr>
          <a:xfrm>
            <a:off x="1333225" y="4417762"/>
            <a:ext cx="9914021" cy="9885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sz="22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Упорядоченный набор элементов, в которой добавление новых элементов и удаление существующих производится с одного конца</a:t>
            </a:r>
            <a:endParaRPr lang="en-US" sz="2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63D1AD6A-2543-D960-B613-524D0AFDE175}"/>
              </a:ext>
            </a:extLst>
          </p:cNvPr>
          <p:cNvSpPr/>
          <p:nvPr/>
        </p:nvSpPr>
        <p:spPr>
          <a:xfrm>
            <a:off x="1340844" y="5551892"/>
            <a:ext cx="9898781" cy="9885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sz="22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Список элементов, в которой добавление новых элементов и удаление существующих производится с обоих концов</a:t>
            </a:r>
            <a:endParaRPr lang="en-US" sz="2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Управляющая кнопка: &quot;Вперед&quot; или &quot;Следующий&quot; 25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FF9408CD-AD6D-88E9-AE90-CFAFA5E99F24}"/>
              </a:ext>
            </a:extLst>
          </p:cNvPr>
          <p:cNvSpPr/>
          <p:nvPr/>
        </p:nvSpPr>
        <p:spPr>
          <a:xfrm>
            <a:off x="11030953" y="5766001"/>
            <a:ext cx="798897" cy="763271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68A86C46-8E2A-039E-0F4B-FE12FAE3C609}"/>
              </a:ext>
            </a:extLst>
          </p:cNvPr>
          <p:cNvSpPr/>
          <p:nvPr/>
        </p:nvSpPr>
        <p:spPr>
          <a:xfrm>
            <a:off x="558461" y="2554966"/>
            <a:ext cx="429875" cy="437005"/>
          </a:xfrm>
          <a:prstGeom prst="ellipse">
            <a:avLst/>
          </a:prstGeom>
          <a:solidFill>
            <a:srgbClr val="222A35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D67C708D-44C5-14B5-C930-C02D888A319D}"/>
              </a:ext>
            </a:extLst>
          </p:cNvPr>
          <p:cNvSpPr/>
          <p:nvPr/>
        </p:nvSpPr>
        <p:spPr>
          <a:xfrm>
            <a:off x="558462" y="3623975"/>
            <a:ext cx="429875" cy="437005"/>
          </a:xfrm>
          <a:prstGeom prst="ellipse">
            <a:avLst/>
          </a:prstGeom>
          <a:solidFill>
            <a:srgbClr val="222A35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DDA52FD1-BE5D-FFEF-24F2-AC65F6554F1B}"/>
              </a:ext>
            </a:extLst>
          </p:cNvPr>
          <p:cNvCxnSpPr>
            <a:cxnSpLocks/>
          </p:cNvCxnSpPr>
          <p:nvPr/>
        </p:nvCxnSpPr>
        <p:spPr>
          <a:xfrm flipV="1">
            <a:off x="-59356" y="2018455"/>
            <a:ext cx="12325952" cy="37749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Овал 19">
            <a:extLst>
              <a:ext uri="{FF2B5EF4-FFF2-40B4-BE49-F238E27FC236}">
                <a16:creationId xmlns:a16="http://schemas.microsoft.com/office/drawing/2014/main" id="{04FA6114-E992-B344-3A1F-A7867AF51141}"/>
              </a:ext>
            </a:extLst>
          </p:cNvPr>
          <p:cNvSpPr/>
          <p:nvPr/>
        </p:nvSpPr>
        <p:spPr>
          <a:xfrm>
            <a:off x="558462" y="4690713"/>
            <a:ext cx="429875" cy="437005"/>
          </a:xfrm>
          <a:prstGeom prst="ellipse">
            <a:avLst/>
          </a:prstGeom>
          <a:solidFill>
            <a:srgbClr val="222A35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5F4EDE1D-B83F-E2A6-348C-AA8E06A9F61B}"/>
              </a:ext>
            </a:extLst>
          </p:cNvPr>
          <p:cNvSpPr/>
          <p:nvPr/>
        </p:nvSpPr>
        <p:spPr>
          <a:xfrm>
            <a:off x="558462" y="5757451"/>
            <a:ext cx="429875" cy="437005"/>
          </a:xfrm>
          <a:prstGeom prst="ellipse">
            <a:avLst/>
          </a:prstGeom>
          <a:solidFill>
            <a:srgbClr val="222A35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887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0AD47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38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49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6" grpId="2" animBg="1"/>
      <p:bldP spid="26" grpId="0" animBg="1"/>
      <p:bldP spid="3" grpId="0" animBg="1"/>
      <p:bldP spid="20" grpId="0" animBg="1"/>
      <p:bldP spid="2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4C9642C-5053-EEF9-3372-B9ACD7E4F84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B5597"/>
          </a:solidFill>
          <a:ln>
            <a:solidFill>
              <a:srgbClr val="5520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46994FF-4B20-1F41-BBED-AECC11BA8B99}"/>
              </a:ext>
            </a:extLst>
          </p:cNvPr>
          <p:cNvSpPr/>
          <p:nvPr/>
        </p:nvSpPr>
        <p:spPr>
          <a:xfrm>
            <a:off x="-15240" y="165"/>
            <a:ext cx="12222480" cy="670373"/>
          </a:xfrm>
          <a:prstGeom prst="rect">
            <a:avLst/>
          </a:prstGeom>
          <a:solidFill>
            <a:srgbClr val="222A35"/>
          </a:solidFill>
          <a:ln>
            <a:solidFill>
              <a:srgbClr val="222A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rgbClr val="222A35"/>
                </a:solidFill>
              </a:ln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B43E53-5888-EDFD-0096-B719B91F9204}"/>
              </a:ext>
            </a:extLst>
          </p:cNvPr>
          <p:cNvSpPr txBox="1"/>
          <p:nvPr/>
        </p:nvSpPr>
        <p:spPr>
          <a:xfrm>
            <a:off x="0" y="18326"/>
            <a:ext cx="1222248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ru-RU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Тестирование</a:t>
            </a:r>
          </a:p>
        </p:txBody>
      </p: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61212CE7-D728-BE3D-AB49-BE2E3D42146B}"/>
              </a:ext>
            </a:extLst>
          </p:cNvPr>
          <p:cNvCxnSpPr>
            <a:cxnSpLocks/>
          </p:cNvCxnSpPr>
          <p:nvPr/>
        </p:nvCxnSpPr>
        <p:spPr>
          <a:xfrm flipV="1">
            <a:off x="-44116" y="692006"/>
            <a:ext cx="12310712" cy="18326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Управляющая кнопка: справка 15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D67D7A38-9891-C38D-D189-7647C812E82F}"/>
              </a:ext>
            </a:extLst>
          </p:cNvPr>
          <p:cNvSpPr/>
          <p:nvPr/>
        </p:nvSpPr>
        <p:spPr>
          <a:xfrm>
            <a:off x="11030953" y="5769806"/>
            <a:ext cx="798897" cy="763271"/>
          </a:xfrm>
          <a:prstGeom prst="actionButtonHelp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Управляющая кнопка: &quot;Вперед&quot; или &quot;Следующий&quot; 25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FF9408CD-AD6D-88E9-AE90-CFAFA5E99F24}"/>
              </a:ext>
            </a:extLst>
          </p:cNvPr>
          <p:cNvSpPr/>
          <p:nvPr/>
        </p:nvSpPr>
        <p:spPr>
          <a:xfrm>
            <a:off x="11025127" y="5770658"/>
            <a:ext cx="798897" cy="763271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68A86C46-8E2A-039E-0F4B-FE12FAE3C609}"/>
              </a:ext>
            </a:extLst>
          </p:cNvPr>
          <p:cNvSpPr/>
          <p:nvPr/>
        </p:nvSpPr>
        <p:spPr>
          <a:xfrm>
            <a:off x="558462" y="3623975"/>
            <a:ext cx="429875" cy="437005"/>
          </a:xfrm>
          <a:prstGeom prst="ellipse">
            <a:avLst/>
          </a:prstGeom>
          <a:solidFill>
            <a:srgbClr val="222A35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D67C708D-44C5-14B5-C930-C02D888A319D}"/>
              </a:ext>
            </a:extLst>
          </p:cNvPr>
          <p:cNvSpPr/>
          <p:nvPr/>
        </p:nvSpPr>
        <p:spPr>
          <a:xfrm>
            <a:off x="558462" y="2547502"/>
            <a:ext cx="429875" cy="437005"/>
          </a:xfrm>
          <a:prstGeom prst="ellipse">
            <a:avLst/>
          </a:prstGeom>
          <a:solidFill>
            <a:srgbClr val="222A35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DDA52FD1-BE5D-FFEF-24F2-AC65F6554F1B}"/>
              </a:ext>
            </a:extLst>
          </p:cNvPr>
          <p:cNvCxnSpPr>
            <a:cxnSpLocks/>
          </p:cNvCxnSpPr>
          <p:nvPr/>
        </p:nvCxnSpPr>
        <p:spPr>
          <a:xfrm flipV="1">
            <a:off x="-103472" y="1981152"/>
            <a:ext cx="12325952" cy="37749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Овал 19">
            <a:extLst>
              <a:ext uri="{FF2B5EF4-FFF2-40B4-BE49-F238E27FC236}">
                <a16:creationId xmlns:a16="http://schemas.microsoft.com/office/drawing/2014/main" id="{04FA6114-E992-B344-3A1F-A7867AF51141}"/>
              </a:ext>
            </a:extLst>
          </p:cNvPr>
          <p:cNvSpPr/>
          <p:nvPr/>
        </p:nvSpPr>
        <p:spPr>
          <a:xfrm>
            <a:off x="558462" y="4690713"/>
            <a:ext cx="429875" cy="437005"/>
          </a:xfrm>
          <a:prstGeom prst="ellipse">
            <a:avLst/>
          </a:prstGeom>
          <a:solidFill>
            <a:srgbClr val="222A35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5F4EDE1D-B83F-E2A6-348C-AA8E06A9F61B}"/>
              </a:ext>
            </a:extLst>
          </p:cNvPr>
          <p:cNvSpPr/>
          <p:nvPr/>
        </p:nvSpPr>
        <p:spPr>
          <a:xfrm>
            <a:off x="558462" y="5757451"/>
            <a:ext cx="429875" cy="437005"/>
          </a:xfrm>
          <a:prstGeom prst="ellipse">
            <a:avLst/>
          </a:prstGeom>
          <a:solidFill>
            <a:srgbClr val="222A35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76E3A5E-F179-9BE3-EE92-3DE46E16551B}"/>
              </a:ext>
            </a:extLst>
          </p:cNvPr>
          <p:cNvSpPr/>
          <p:nvPr/>
        </p:nvSpPr>
        <p:spPr>
          <a:xfrm>
            <a:off x="1335649" y="2218373"/>
            <a:ext cx="7515744" cy="9719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sz="2200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Использование памяти</a:t>
            </a:r>
            <a:endParaRPr lang="en-US" sz="2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8CB0255-00F7-37EA-88CC-13BCEF4F7201}"/>
              </a:ext>
            </a:extLst>
          </p:cNvPr>
          <p:cNvSpPr/>
          <p:nvPr/>
        </p:nvSpPr>
        <p:spPr>
          <a:xfrm>
            <a:off x="1335648" y="3342572"/>
            <a:ext cx="7515745" cy="9885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sz="2200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Операции вставки и удаления</a:t>
            </a:r>
            <a:endParaRPr lang="en-US" sz="2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7296DFD-A4C7-7403-E255-AE0764D0B6D2}"/>
              </a:ext>
            </a:extLst>
          </p:cNvPr>
          <p:cNvSpPr/>
          <p:nvPr/>
        </p:nvSpPr>
        <p:spPr>
          <a:xfrm>
            <a:off x="1333225" y="4417762"/>
            <a:ext cx="7515745" cy="9885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sz="2200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Обход</a:t>
            </a:r>
            <a:endParaRPr lang="en-US" sz="2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66A66B3-7773-2887-3CE2-0621D103712A}"/>
              </a:ext>
            </a:extLst>
          </p:cNvPr>
          <p:cNvSpPr/>
          <p:nvPr/>
        </p:nvSpPr>
        <p:spPr>
          <a:xfrm>
            <a:off x="1333224" y="5487275"/>
            <a:ext cx="7515746" cy="9885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sz="2200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Произвольный доступ</a:t>
            </a:r>
            <a:endParaRPr lang="en-US" sz="2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20C7F95D-8A91-D949-D123-20A6CE370117}"/>
              </a:ext>
            </a:extLst>
          </p:cNvPr>
          <p:cNvSpPr/>
          <p:nvPr/>
        </p:nvSpPr>
        <p:spPr>
          <a:xfrm>
            <a:off x="0" y="724044"/>
            <a:ext cx="12192000" cy="12795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В чём плюс списков</a:t>
            </a:r>
          </a:p>
        </p:txBody>
      </p:sp>
    </p:spTree>
    <p:extLst>
      <p:ext uri="{BB962C8B-B14F-4D97-AF65-F5344CB8AC3E}">
        <p14:creationId xmlns:p14="http://schemas.microsoft.com/office/powerpoint/2010/main" val="1052372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0AD47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38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49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6" grpId="2" animBg="1"/>
      <p:bldP spid="26" grpId="0" animBg="1"/>
      <p:bldP spid="3" grpId="0" animBg="1"/>
      <p:bldP spid="20" grpId="0" animBg="1"/>
      <p:bldP spid="2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4C9642C-5053-EEF9-3372-B9ACD7E4F84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B5597"/>
          </a:solidFill>
          <a:ln>
            <a:solidFill>
              <a:srgbClr val="5520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46994FF-4B20-1F41-BBED-AECC11BA8B99}"/>
              </a:ext>
            </a:extLst>
          </p:cNvPr>
          <p:cNvSpPr/>
          <p:nvPr/>
        </p:nvSpPr>
        <p:spPr>
          <a:xfrm>
            <a:off x="-15240" y="165"/>
            <a:ext cx="12222480" cy="670373"/>
          </a:xfrm>
          <a:prstGeom prst="rect">
            <a:avLst/>
          </a:prstGeom>
          <a:solidFill>
            <a:srgbClr val="222A35"/>
          </a:solidFill>
          <a:ln>
            <a:solidFill>
              <a:srgbClr val="222A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rgbClr val="222A35"/>
                </a:solidFill>
              </a:ln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B43E53-5888-EDFD-0096-B719B91F9204}"/>
              </a:ext>
            </a:extLst>
          </p:cNvPr>
          <p:cNvSpPr txBox="1"/>
          <p:nvPr/>
        </p:nvSpPr>
        <p:spPr>
          <a:xfrm>
            <a:off x="0" y="18326"/>
            <a:ext cx="1222248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ru-RU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Тестирование</a:t>
            </a:r>
          </a:p>
        </p:txBody>
      </p: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61212CE7-D728-BE3D-AB49-BE2E3D42146B}"/>
              </a:ext>
            </a:extLst>
          </p:cNvPr>
          <p:cNvCxnSpPr>
            <a:cxnSpLocks/>
          </p:cNvCxnSpPr>
          <p:nvPr/>
        </p:nvCxnSpPr>
        <p:spPr>
          <a:xfrm flipV="1">
            <a:off x="-44116" y="692006"/>
            <a:ext cx="12310712" cy="18326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Управляющая кнопка: справка 15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D67D7A38-9891-C38D-D189-7647C812E82F}"/>
              </a:ext>
            </a:extLst>
          </p:cNvPr>
          <p:cNvSpPr/>
          <p:nvPr/>
        </p:nvSpPr>
        <p:spPr>
          <a:xfrm>
            <a:off x="11030953" y="5769806"/>
            <a:ext cx="798897" cy="763271"/>
          </a:xfrm>
          <a:prstGeom prst="actionButtonHelp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Управляющая кнопка: &quot;Вперед&quot; или &quot;Следующий&quot; 25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FF9408CD-AD6D-88E9-AE90-CFAFA5E99F24}"/>
              </a:ext>
            </a:extLst>
          </p:cNvPr>
          <p:cNvSpPr/>
          <p:nvPr/>
        </p:nvSpPr>
        <p:spPr>
          <a:xfrm>
            <a:off x="11025127" y="5770658"/>
            <a:ext cx="798897" cy="763271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68A86C46-8E2A-039E-0F4B-FE12FAE3C609}"/>
              </a:ext>
            </a:extLst>
          </p:cNvPr>
          <p:cNvSpPr/>
          <p:nvPr/>
        </p:nvSpPr>
        <p:spPr>
          <a:xfrm>
            <a:off x="558460" y="4692871"/>
            <a:ext cx="429875" cy="437005"/>
          </a:xfrm>
          <a:prstGeom prst="ellipse">
            <a:avLst/>
          </a:prstGeom>
          <a:solidFill>
            <a:srgbClr val="222A35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D67C708D-44C5-14B5-C930-C02D888A319D}"/>
              </a:ext>
            </a:extLst>
          </p:cNvPr>
          <p:cNvSpPr/>
          <p:nvPr/>
        </p:nvSpPr>
        <p:spPr>
          <a:xfrm>
            <a:off x="558460" y="2563711"/>
            <a:ext cx="429875" cy="437005"/>
          </a:xfrm>
          <a:prstGeom prst="ellipse">
            <a:avLst/>
          </a:prstGeom>
          <a:solidFill>
            <a:srgbClr val="222A35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DDA52FD1-BE5D-FFEF-24F2-AC65F6554F1B}"/>
              </a:ext>
            </a:extLst>
          </p:cNvPr>
          <p:cNvCxnSpPr>
            <a:cxnSpLocks/>
          </p:cNvCxnSpPr>
          <p:nvPr/>
        </p:nvCxnSpPr>
        <p:spPr>
          <a:xfrm flipV="1">
            <a:off x="-103472" y="1981152"/>
            <a:ext cx="12325952" cy="37749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Овал 19">
            <a:extLst>
              <a:ext uri="{FF2B5EF4-FFF2-40B4-BE49-F238E27FC236}">
                <a16:creationId xmlns:a16="http://schemas.microsoft.com/office/drawing/2014/main" id="{04FA6114-E992-B344-3A1F-A7867AF51141}"/>
              </a:ext>
            </a:extLst>
          </p:cNvPr>
          <p:cNvSpPr/>
          <p:nvPr/>
        </p:nvSpPr>
        <p:spPr>
          <a:xfrm>
            <a:off x="558461" y="3628291"/>
            <a:ext cx="429875" cy="437005"/>
          </a:xfrm>
          <a:prstGeom prst="ellipse">
            <a:avLst/>
          </a:prstGeom>
          <a:solidFill>
            <a:srgbClr val="222A35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5F4EDE1D-B83F-E2A6-348C-AA8E06A9F61B}"/>
              </a:ext>
            </a:extLst>
          </p:cNvPr>
          <p:cNvSpPr/>
          <p:nvPr/>
        </p:nvSpPr>
        <p:spPr>
          <a:xfrm>
            <a:off x="558462" y="5757451"/>
            <a:ext cx="429875" cy="437005"/>
          </a:xfrm>
          <a:prstGeom prst="ellipse">
            <a:avLst/>
          </a:prstGeom>
          <a:solidFill>
            <a:srgbClr val="222A35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20C7F95D-8A91-D949-D123-20A6CE370117}"/>
              </a:ext>
            </a:extLst>
          </p:cNvPr>
          <p:cNvSpPr/>
          <p:nvPr/>
        </p:nvSpPr>
        <p:spPr>
          <a:xfrm>
            <a:off x="0" y="724044"/>
            <a:ext cx="12192000" cy="12795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В чём минус списков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8425819-9406-544A-5334-6627F5540824}"/>
              </a:ext>
            </a:extLst>
          </p:cNvPr>
          <p:cNvSpPr/>
          <p:nvPr/>
        </p:nvSpPr>
        <p:spPr>
          <a:xfrm>
            <a:off x="1331424" y="2288248"/>
            <a:ext cx="9914021" cy="9719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sz="2200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Операции вставки и удаления</a:t>
            </a:r>
            <a:endParaRPr lang="en-US" sz="2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76402B8-3C45-79E3-4081-00AC8806716F}"/>
              </a:ext>
            </a:extLst>
          </p:cNvPr>
          <p:cNvSpPr/>
          <p:nvPr/>
        </p:nvSpPr>
        <p:spPr>
          <a:xfrm>
            <a:off x="1331423" y="4433380"/>
            <a:ext cx="9914021" cy="9885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sz="2200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Использование памяти</a:t>
            </a:r>
            <a:endParaRPr lang="en-US" sz="2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6045F92-42D0-4E91-D3EF-9C814AC20CFF}"/>
              </a:ext>
            </a:extLst>
          </p:cNvPr>
          <p:cNvSpPr/>
          <p:nvPr/>
        </p:nvSpPr>
        <p:spPr>
          <a:xfrm>
            <a:off x="1333225" y="3352503"/>
            <a:ext cx="9914021" cy="9885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sz="2200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Эффективность для больших данных</a:t>
            </a:r>
            <a:endParaRPr lang="en-US" sz="2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B9847AA0-773B-3250-D7AF-8BA52B681962}"/>
              </a:ext>
            </a:extLst>
          </p:cNvPr>
          <p:cNvSpPr/>
          <p:nvPr/>
        </p:nvSpPr>
        <p:spPr>
          <a:xfrm>
            <a:off x="1348465" y="5498566"/>
            <a:ext cx="9898781" cy="9885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sz="2200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Масштабируемость</a:t>
            </a:r>
            <a:endParaRPr lang="en-US" sz="2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2118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0AD47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38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49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6" grpId="2" animBg="1"/>
      <p:bldP spid="26" grpId="0" animBg="1"/>
      <p:bldP spid="3" grpId="0" animBg="1"/>
      <p:bldP spid="20" grpId="0" animBg="1"/>
      <p:bldP spid="2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4C9642C-5053-EEF9-3372-B9ACD7E4F84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B5597"/>
          </a:solidFill>
          <a:ln>
            <a:solidFill>
              <a:srgbClr val="5520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46994FF-4B20-1F41-BBED-AECC11BA8B99}"/>
              </a:ext>
            </a:extLst>
          </p:cNvPr>
          <p:cNvSpPr/>
          <p:nvPr/>
        </p:nvSpPr>
        <p:spPr>
          <a:xfrm>
            <a:off x="-15240" y="165"/>
            <a:ext cx="12222480" cy="670373"/>
          </a:xfrm>
          <a:prstGeom prst="rect">
            <a:avLst/>
          </a:prstGeom>
          <a:solidFill>
            <a:srgbClr val="222A35"/>
          </a:solidFill>
          <a:ln>
            <a:solidFill>
              <a:srgbClr val="222A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rgbClr val="222A35"/>
                </a:solidFill>
              </a:ln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B43E53-5888-EDFD-0096-B719B91F9204}"/>
              </a:ext>
            </a:extLst>
          </p:cNvPr>
          <p:cNvSpPr txBox="1"/>
          <p:nvPr/>
        </p:nvSpPr>
        <p:spPr>
          <a:xfrm>
            <a:off x="0" y="18326"/>
            <a:ext cx="1222248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ru-RU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Тестирование</a:t>
            </a:r>
          </a:p>
        </p:txBody>
      </p: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61212CE7-D728-BE3D-AB49-BE2E3D42146B}"/>
              </a:ext>
            </a:extLst>
          </p:cNvPr>
          <p:cNvCxnSpPr>
            <a:cxnSpLocks/>
          </p:cNvCxnSpPr>
          <p:nvPr/>
        </p:nvCxnSpPr>
        <p:spPr>
          <a:xfrm flipV="1">
            <a:off x="-44116" y="692006"/>
            <a:ext cx="12310712" cy="18326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Управляющая кнопка: справка 15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D67D7A38-9891-C38D-D189-7647C812E82F}"/>
              </a:ext>
            </a:extLst>
          </p:cNvPr>
          <p:cNvSpPr/>
          <p:nvPr/>
        </p:nvSpPr>
        <p:spPr>
          <a:xfrm>
            <a:off x="11030953" y="5769806"/>
            <a:ext cx="798897" cy="763271"/>
          </a:xfrm>
          <a:prstGeom prst="actionButtonHelp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Управляющая кнопка: &quot;Вперед&quot; или &quot;Следующий&quot; 25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FF9408CD-AD6D-88E9-AE90-CFAFA5E99F24}"/>
              </a:ext>
            </a:extLst>
          </p:cNvPr>
          <p:cNvSpPr/>
          <p:nvPr/>
        </p:nvSpPr>
        <p:spPr>
          <a:xfrm>
            <a:off x="11030953" y="5784358"/>
            <a:ext cx="798897" cy="763271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68A86C46-8E2A-039E-0F4B-FE12FAE3C609}"/>
              </a:ext>
            </a:extLst>
          </p:cNvPr>
          <p:cNvSpPr/>
          <p:nvPr/>
        </p:nvSpPr>
        <p:spPr>
          <a:xfrm>
            <a:off x="558459" y="3602874"/>
            <a:ext cx="429875" cy="437005"/>
          </a:xfrm>
          <a:prstGeom prst="ellipse">
            <a:avLst/>
          </a:prstGeom>
          <a:solidFill>
            <a:srgbClr val="222A35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D67C708D-44C5-14B5-C930-C02D888A319D}"/>
              </a:ext>
            </a:extLst>
          </p:cNvPr>
          <p:cNvSpPr/>
          <p:nvPr/>
        </p:nvSpPr>
        <p:spPr>
          <a:xfrm>
            <a:off x="558460" y="2563711"/>
            <a:ext cx="429875" cy="437005"/>
          </a:xfrm>
          <a:prstGeom prst="ellipse">
            <a:avLst/>
          </a:prstGeom>
          <a:solidFill>
            <a:srgbClr val="222A35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DDA52FD1-BE5D-FFEF-24F2-AC65F6554F1B}"/>
              </a:ext>
            </a:extLst>
          </p:cNvPr>
          <p:cNvCxnSpPr>
            <a:cxnSpLocks/>
          </p:cNvCxnSpPr>
          <p:nvPr/>
        </p:nvCxnSpPr>
        <p:spPr>
          <a:xfrm flipV="1">
            <a:off x="-103472" y="1981152"/>
            <a:ext cx="12325952" cy="37749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Овал 19">
            <a:extLst>
              <a:ext uri="{FF2B5EF4-FFF2-40B4-BE49-F238E27FC236}">
                <a16:creationId xmlns:a16="http://schemas.microsoft.com/office/drawing/2014/main" id="{04FA6114-E992-B344-3A1F-A7867AF51141}"/>
              </a:ext>
            </a:extLst>
          </p:cNvPr>
          <p:cNvSpPr/>
          <p:nvPr/>
        </p:nvSpPr>
        <p:spPr>
          <a:xfrm>
            <a:off x="568242" y="4718288"/>
            <a:ext cx="429875" cy="437005"/>
          </a:xfrm>
          <a:prstGeom prst="ellipse">
            <a:avLst/>
          </a:prstGeom>
          <a:solidFill>
            <a:srgbClr val="222A35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5F4EDE1D-B83F-E2A6-348C-AA8E06A9F61B}"/>
              </a:ext>
            </a:extLst>
          </p:cNvPr>
          <p:cNvSpPr/>
          <p:nvPr/>
        </p:nvSpPr>
        <p:spPr>
          <a:xfrm>
            <a:off x="558462" y="5757451"/>
            <a:ext cx="429875" cy="437005"/>
          </a:xfrm>
          <a:prstGeom prst="ellipse">
            <a:avLst/>
          </a:prstGeom>
          <a:solidFill>
            <a:srgbClr val="222A35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20C7F95D-8A91-D949-D123-20A6CE370117}"/>
              </a:ext>
            </a:extLst>
          </p:cNvPr>
          <p:cNvSpPr/>
          <p:nvPr/>
        </p:nvSpPr>
        <p:spPr>
          <a:xfrm>
            <a:off x="0" y="724044"/>
            <a:ext cx="12192000" cy="123750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Какой метод используется для добавления </a:t>
            </a:r>
          </a:p>
          <a:p>
            <a:pPr algn="ctr"/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элемента в конец списка 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8425819-9406-544A-5334-6627F5540824}"/>
              </a:ext>
            </a:extLst>
          </p:cNvPr>
          <p:cNvSpPr/>
          <p:nvPr/>
        </p:nvSpPr>
        <p:spPr>
          <a:xfrm>
            <a:off x="1331425" y="2288248"/>
            <a:ext cx="2179872" cy="9719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2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pop</a:t>
            </a:r>
            <a:r>
              <a:rPr lang="ru-RU" sz="2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_</a:t>
            </a:r>
            <a:r>
              <a:rPr lang="en-US" sz="2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front()</a:t>
            </a:r>
            <a:endParaRPr lang="en-US" sz="2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76402B8-3C45-79E3-4081-00AC8806716F}"/>
              </a:ext>
            </a:extLst>
          </p:cNvPr>
          <p:cNvSpPr/>
          <p:nvPr/>
        </p:nvSpPr>
        <p:spPr>
          <a:xfrm>
            <a:off x="1331424" y="4433380"/>
            <a:ext cx="6934646" cy="9885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2200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removeAt()</a:t>
            </a:r>
            <a:endParaRPr lang="en-US" sz="2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6045F92-42D0-4E91-D3EF-9C814AC20CFF}"/>
              </a:ext>
            </a:extLst>
          </p:cNvPr>
          <p:cNvSpPr/>
          <p:nvPr/>
        </p:nvSpPr>
        <p:spPr>
          <a:xfrm>
            <a:off x="1333225" y="3352503"/>
            <a:ext cx="9914021" cy="9885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2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B9847AA0-773B-3250-D7AF-8BA52B681962}"/>
              </a:ext>
            </a:extLst>
          </p:cNvPr>
          <p:cNvSpPr/>
          <p:nvPr/>
        </p:nvSpPr>
        <p:spPr>
          <a:xfrm>
            <a:off x="1348465" y="5498566"/>
            <a:ext cx="6397915" cy="9885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2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200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nsert()</a:t>
            </a:r>
            <a:endParaRPr lang="en-US" sz="2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B4AC450-A3C0-C13E-B213-6FF720720C9B}"/>
              </a:ext>
            </a:extLst>
          </p:cNvPr>
          <p:cNvSpPr/>
          <p:nvPr/>
        </p:nvSpPr>
        <p:spPr>
          <a:xfrm>
            <a:off x="1331423" y="3257431"/>
            <a:ext cx="2179872" cy="9719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22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push_back</a:t>
            </a:r>
            <a:r>
              <a:rPr lang="en-US" sz="2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endParaRPr lang="en-US" sz="2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8399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0AD47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4" presetClass="exit" presetSubtype="1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0" dur="1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16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38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49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6" grpId="2" animBg="1"/>
      <p:bldP spid="26" grpId="0" animBg="1"/>
      <p:bldP spid="3" grpId="0" animBg="1"/>
      <p:bldP spid="20" grpId="0" animBg="1"/>
      <p:bldP spid="2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4C9642C-5053-EEF9-3372-B9ACD7E4F84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B5597"/>
          </a:solidFill>
          <a:ln>
            <a:solidFill>
              <a:srgbClr val="5520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46994FF-4B20-1F41-BBED-AECC11BA8B99}"/>
              </a:ext>
            </a:extLst>
          </p:cNvPr>
          <p:cNvSpPr/>
          <p:nvPr/>
        </p:nvSpPr>
        <p:spPr>
          <a:xfrm>
            <a:off x="-15240" y="165"/>
            <a:ext cx="12222480" cy="670373"/>
          </a:xfrm>
          <a:prstGeom prst="rect">
            <a:avLst/>
          </a:prstGeom>
          <a:solidFill>
            <a:srgbClr val="222A35"/>
          </a:solidFill>
          <a:ln>
            <a:solidFill>
              <a:srgbClr val="222A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rgbClr val="222A35"/>
                </a:solidFill>
              </a:ln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B43E53-5888-EDFD-0096-B719B91F9204}"/>
              </a:ext>
            </a:extLst>
          </p:cNvPr>
          <p:cNvSpPr txBox="1"/>
          <p:nvPr/>
        </p:nvSpPr>
        <p:spPr>
          <a:xfrm>
            <a:off x="0" y="18326"/>
            <a:ext cx="1222248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ru-RU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Тестирование</a:t>
            </a:r>
          </a:p>
        </p:txBody>
      </p: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61212CE7-D728-BE3D-AB49-BE2E3D42146B}"/>
              </a:ext>
            </a:extLst>
          </p:cNvPr>
          <p:cNvCxnSpPr>
            <a:cxnSpLocks/>
          </p:cNvCxnSpPr>
          <p:nvPr/>
        </p:nvCxnSpPr>
        <p:spPr>
          <a:xfrm flipV="1">
            <a:off x="-44116" y="692006"/>
            <a:ext cx="12310712" cy="18326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Управляющая кнопка: справка 15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D67D7A38-9891-C38D-D189-7647C812E82F}"/>
              </a:ext>
            </a:extLst>
          </p:cNvPr>
          <p:cNvSpPr/>
          <p:nvPr/>
        </p:nvSpPr>
        <p:spPr>
          <a:xfrm>
            <a:off x="11030953" y="5769806"/>
            <a:ext cx="798897" cy="763271"/>
          </a:xfrm>
          <a:prstGeom prst="actionButtonHelp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Управляющая кнопка: &quot;Вперед&quot; или &quot;Следующий&quot; 25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FF9408CD-AD6D-88E9-AE90-CFAFA5E99F24}"/>
              </a:ext>
            </a:extLst>
          </p:cNvPr>
          <p:cNvSpPr/>
          <p:nvPr/>
        </p:nvSpPr>
        <p:spPr>
          <a:xfrm>
            <a:off x="11030953" y="5769806"/>
            <a:ext cx="798897" cy="763271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68A86C46-8E2A-039E-0F4B-FE12FAE3C609}"/>
              </a:ext>
            </a:extLst>
          </p:cNvPr>
          <p:cNvSpPr/>
          <p:nvPr/>
        </p:nvSpPr>
        <p:spPr>
          <a:xfrm>
            <a:off x="558459" y="5840445"/>
            <a:ext cx="429875" cy="437005"/>
          </a:xfrm>
          <a:prstGeom prst="ellipse">
            <a:avLst/>
          </a:prstGeom>
          <a:solidFill>
            <a:srgbClr val="222A35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D67C708D-44C5-14B5-C930-C02D888A319D}"/>
              </a:ext>
            </a:extLst>
          </p:cNvPr>
          <p:cNvSpPr/>
          <p:nvPr/>
        </p:nvSpPr>
        <p:spPr>
          <a:xfrm>
            <a:off x="558459" y="2589771"/>
            <a:ext cx="429875" cy="437005"/>
          </a:xfrm>
          <a:prstGeom prst="ellipse">
            <a:avLst/>
          </a:prstGeom>
          <a:solidFill>
            <a:srgbClr val="222A35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DDA52FD1-BE5D-FFEF-24F2-AC65F6554F1B}"/>
              </a:ext>
            </a:extLst>
          </p:cNvPr>
          <p:cNvCxnSpPr>
            <a:cxnSpLocks/>
          </p:cNvCxnSpPr>
          <p:nvPr/>
        </p:nvCxnSpPr>
        <p:spPr>
          <a:xfrm flipV="1">
            <a:off x="-103472" y="1981152"/>
            <a:ext cx="12325952" cy="37749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Овал 19">
            <a:extLst>
              <a:ext uri="{FF2B5EF4-FFF2-40B4-BE49-F238E27FC236}">
                <a16:creationId xmlns:a16="http://schemas.microsoft.com/office/drawing/2014/main" id="{04FA6114-E992-B344-3A1F-A7867AF51141}"/>
              </a:ext>
            </a:extLst>
          </p:cNvPr>
          <p:cNvSpPr/>
          <p:nvPr/>
        </p:nvSpPr>
        <p:spPr>
          <a:xfrm>
            <a:off x="558461" y="3628291"/>
            <a:ext cx="429875" cy="437005"/>
          </a:xfrm>
          <a:prstGeom prst="ellipse">
            <a:avLst/>
          </a:prstGeom>
          <a:solidFill>
            <a:srgbClr val="222A35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5F4EDE1D-B83F-E2A6-348C-AA8E06A9F61B}"/>
              </a:ext>
            </a:extLst>
          </p:cNvPr>
          <p:cNvSpPr/>
          <p:nvPr/>
        </p:nvSpPr>
        <p:spPr>
          <a:xfrm>
            <a:off x="558460" y="4734368"/>
            <a:ext cx="429875" cy="437005"/>
          </a:xfrm>
          <a:prstGeom prst="ellipse">
            <a:avLst/>
          </a:prstGeom>
          <a:solidFill>
            <a:srgbClr val="222A35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20C7F95D-8A91-D949-D123-20A6CE370117}"/>
              </a:ext>
            </a:extLst>
          </p:cNvPr>
          <p:cNvSpPr/>
          <p:nvPr/>
        </p:nvSpPr>
        <p:spPr>
          <a:xfrm>
            <a:off x="0" y="724044"/>
            <a:ext cx="12192000" cy="12795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Для чего используется перегрузка оператора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8425819-9406-544A-5334-6627F5540824}"/>
              </a:ext>
            </a:extLst>
          </p:cNvPr>
          <p:cNvSpPr/>
          <p:nvPr/>
        </p:nvSpPr>
        <p:spPr>
          <a:xfrm>
            <a:off x="1331424" y="2288248"/>
            <a:ext cx="7162063" cy="9719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 добавления элемента по индексу</a:t>
            </a:r>
            <a:endParaRPr lang="en-US" sz="2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76402B8-3C45-79E3-4081-00AC8806716F}"/>
              </a:ext>
            </a:extLst>
          </p:cNvPr>
          <p:cNvSpPr/>
          <p:nvPr/>
        </p:nvSpPr>
        <p:spPr>
          <a:xfrm>
            <a:off x="1331423" y="4433380"/>
            <a:ext cx="9914021" cy="9885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 добавления элементов в начало списка</a:t>
            </a:r>
            <a:endParaRPr lang="en-US" sz="2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6045F92-42D0-4E91-D3EF-9C814AC20CFF}"/>
              </a:ext>
            </a:extLst>
          </p:cNvPr>
          <p:cNvSpPr/>
          <p:nvPr/>
        </p:nvSpPr>
        <p:spPr>
          <a:xfrm>
            <a:off x="1333225" y="3352503"/>
            <a:ext cx="9914021" cy="9885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 очистки память</a:t>
            </a:r>
            <a:endParaRPr lang="en-US" sz="2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B9847AA0-773B-3250-D7AF-8BA52B681962}"/>
              </a:ext>
            </a:extLst>
          </p:cNvPr>
          <p:cNvSpPr/>
          <p:nvPr/>
        </p:nvSpPr>
        <p:spPr>
          <a:xfrm>
            <a:off x="1256827" y="5421964"/>
            <a:ext cx="5935864" cy="12286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ru-R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 возможности обращения к элементу по индексу</a:t>
            </a:r>
          </a:p>
        </p:txBody>
      </p:sp>
    </p:spTree>
    <p:extLst>
      <p:ext uri="{BB962C8B-B14F-4D97-AF65-F5344CB8AC3E}">
        <p14:creationId xmlns:p14="http://schemas.microsoft.com/office/powerpoint/2010/main" val="3247415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0AD47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38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49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6" grpId="2" animBg="1"/>
      <p:bldP spid="26" grpId="0" animBg="1"/>
      <p:bldP spid="3" grpId="0" animBg="1"/>
      <p:bldP spid="20" grpId="0" animBg="1"/>
      <p:bldP spid="2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B5597"/>
          </a:solidFill>
          <a:ln>
            <a:solidFill>
              <a:srgbClr val="5520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731695" y="2545008"/>
            <a:ext cx="8728610" cy="921396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Спасибо за внимание</a:t>
            </a:r>
          </a:p>
        </p:txBody>
      </p:sp>
      <p:sp>
        <p:nvSpPr>
          <p:cNvPr id="7" name="Управляющая кнопка: &quot;На главную&quot; 6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FCAA2CDD-2DFA-1C2E-632E-65F2CF30EC73}"/>
              </a:ext>
            </a:extLst>
          </p:cNvPr>
          <p:cNvSpPr/>
          <p:nvPr/>
        </p:nvSpPr>
        <p:spPr>
          <a:xfrm>
            <a:off x="11042170" y="5907084"/>
            <a:ext cx="798110" cy="741150"/>
          </a:xfrm>
          <a:prstGeom prst="actionButtonHome">
            <a:avLst/>
          </a:prstGeom>
          <a:solidFill>
            <a:srgbClr val="222A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Управляющая кнопка: &quot;Получить сведения&quot; 9">
            <a:hlinkClick r:id="" action="ppaction://hlinkshowjump?jump=endshow" highlightClick="1"/>
            <a:extLst>
              <a:ext uri="{FF2B5EF4-FFF2-40B4-BE49-F238E27FC236}">
                <a16:creationId xmlns:a16="http://schemas.microsoft.com/office/drawing/2014/main" id="{097A27AE-0D48-37A2-3D25-2F320E320E39}"/>
              </a:ext>
            </a:extLst>
          </p:cNvPr>
          <p:cNvSpPr/>
          <p:nvPr/>
        </p:nvSpPr>
        <p:spPr>
          <a:xfrm>
            <a:off x="10244060" y="5907084"/>
            <a:ext cx="798110" cy="741150"/>
          </a:xfrm>
          <a:prstGeom prst="actionButtonInformation">
            <a:avLst/>
          </a:prstGeom>
          <a:solidFill>
            <a:srgbClr val="222A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569989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537</TotalTime>
  <Words>918</Words>
  <Application>Microsoft Office PowerPoint</Application>
  <PresentationFormat>Широкоэкранный</PresentationFormat>
  <Paragraphs>131</Paragraphs>
  <Slides>21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6" baseType="lpstr">
      <vt:lpstr>Aptos</vt:lpstr>
      <vt:lpstr>Arial</vt:lpstr>
      <vt:lpstr>Calibri</vt:lpstr>
      <vt:lpstr>Calibri Light</vt:lpstr>
      <vt:lpstr>Тема Office</vt:lpstr>
      <vt:lpstr>Односвязный список на C++</vt:lpstr>
      <vt:lpstr>Презентация PowerPoint</vt:lpstr>
      <vt:lpstr>Список как структура данных</vt:lpstr>
      <vt:lpstr>Презентация PowerPoint</vt:lpstr>
      <vt:lpstr>Презентация PowerPoint</vt:lpstr>
      <vt:lpstr>Создание односвязного списка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Тестирование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Односвязный список на C++</dc:title>
  <dc:creator>user523</dc:creator>
  <cp:lastModifiedBy>Eduard Tigranyan</cp:lastModifiedBy>
  <cp:revision>91</cp:revision>
  <dcterms:created xsi:type="dcterms:W3CDTF">2024-12-03T08:11:49Z</dcterms:created>
  <dcterms:modified xsi:type="dcterms:W3CDTF">2024-12-17T09:43:37Z</dcterms:modified>
</cp:coreProperties>
</file>