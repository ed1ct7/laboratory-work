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25" r:id="rId1"/>
  </p:sldMasterIdLst>
  <p:notesMasterIdLst>
    <p:notesMasterId r:id="rId33"/>
  </p:notesMasterIdLst>
  <p:sldIdLst>
    <p:sldId id="256" r:id="rId2"/>
    <p:sldId id="280" r:id="rId3"/>
    <p:sldId id="257" r:id="rId4"/>
    <p:sldId id="258" r:id="rId5"/>
    <p:sldId id="259" r:id="rId6"/>
    <p:sldId id="265" r:id="rId7"/>
    <p:sldId id="260" r:id="rId8"/>
    <p:sldId id="261" r:id="rId9"/>
    <p:sldId id="266" r:id="rId10"/>
    <p:sldId id="299" r:id="rId11"/>
    <p:sldId id="312" r:id="rId12"/>
    <p:sldId id="267" r:id="rId13"/>
    <p:sldId id="268" r:id="rId14"/>
    <p:sldId id="300" r:id="rId15"/>
    <p:sldId id="302" r:id="rId16"/>
    <p:sldId id="303" r:id="rId17"/>
    <p:sldId id="304" r:id="rId18"/>
    <p:sldId id="301" r:id="rId19"/>
    <p:sldId id="264" r:id="rId20"/>
    <p:sldId id="269" r:id="rId21"/>
    <p:sldId id="270" r:id="rId22"/>
    <p:sldId id="307" r:id="rId23"/>
    <p:sldId id="306" r:id="rId24"/>
    <p:sldId id="305" r:id="rId25"/>
    <p:sldId id="308" r:id="rId26"/>
    <p:sldId id="310" r:id="rId27"/>
    <p:sldId id="309" r:id="rId28"/>
    <p:sldId id="311" r:id="rId29"/>
    <p:sldId id="271" r:id="rId30"/>
    <p:sldId id="272" r:id="rId31"/>
    <p:sldId id="273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007033"/>
    <a:srgbClr val="A80054"/>
    <a:srgbClr val="009A46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Средний стиль 2 —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25" autoAdjust="0"/>
    <p:restoredTop sz="94343" autoAdjust="0"/>
  </p:normalViewPr>
  <p:slideViewPr>
    <p:cSldViewPr snapToGrid="0">
      <p:cViewPr varScale="1">
        <p:scale>
          <a:sx n="74" d="100"/>
          <a:sy n="74" d="100"/>
        </p:scale>
        <p:origin x="1555" y="77"/>
      </p:cViewPr>
      <p:guideLst/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3" d="100"/>
          <a:sy n="53" d="100"/>
        </p:scale>
        <p:origin x="231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44F99C-B7E7-4C57-97CB-4517D8697126}" type="datetimeFigureOut">
              <a:rPr lang="ru-RU" smtClean="0"/>
              <a:t>21.11.2023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2F67E0-FDC2-45F7-AC37-44CF855D20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99588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F67E0-FDC2-45F7-AC37-44CF855D2045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79986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F67E0-FDC2-45F7-AC37-44CF855D2045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23906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F67E0-FDC2-45F7-AC37-44CF855D2045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13297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F67E0-FDC2-45F7-AC37-44CF855D2045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77165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F67E0-FDC2-45F7-AC37-44CF855D2045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17983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F67E0-FDC2-45F7-AC37-44CF855D2045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56183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F67E0-FDC2-45F7-AC37-44CF855D2045}" type="slidenum">
              <a:rPr lang="ru-RU" smtClean="0"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96376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11/21/2023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250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11/21/2023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0935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11/21/2023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7610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11/21/2023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9333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11/21/2023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7690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11/21/2023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44585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11/21/2023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5726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11/21/2023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526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11/21/2023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8496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11/21/2023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1524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11/21/2023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695430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11/21/2023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9647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11/21/2023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12524017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11/21/2023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46217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11/21/2023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25214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11/21/2023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69573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11/21/2023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5524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  <p:sldLayoutId id="2147483739" r:id="rId14"/>
    <p:sldLayoutId id="2147483740" r:id="rId15"/>
    <p:sldLayoutId id="2147483741" r:id="rId1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ru.cppreference.com/w/cpp/container/multiset" TargetMode="External"/><Relationship Id="rId3" Type="http://schemas.openxmlformats.org/officeDocument/2006/relationships/hyperlink" Target="https://ru.cppreference.com/w/cpp/container/vector" TargetMode="External"/><Relationship Id="rId7" Type="http://schemas.openxmlformats.org/officeDocument/2006/relationships/hyperlink" Target="https://ru.cppreference.com/w/cpp/container/map" TargetMode="External"/><Relationship Id="rId2" Type="http://schemas.openxmlformats.org/officeDocument/2006/relationships/hyperlink" Target="https://ru.cppreference.com/w/cpp/container/array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ru.cppreference.com/w/cpp/container/set" TargetMode="External"/><Relationship Id="rId5" Type="http://schemas.openxmlformats.org/officeDocument/2006/relationships/hyperlink" Target="https://ru.cppreference.com/w/cpp/container/list" TargetMode="External"/><Relationship Id="rId4" Type="http://schemas.openxmlformats.org/officeDocument/2006/relationships/hyperlink" Target="https://ru.cppreference.com/w/cpp/container/forward_list" TargetMode="External"/><Relationship Id="rId9" Type="http://schemas.openxmlformats.org/officeDocument/2006/relationships/hyperlink" Target="https://ru.cppreference.com/w/cpp/container/multimap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60897" y="1698172"/>
            <a:ext cx="6517482" cy="1367181"/>
          </a:xfrm>
        </p:spPr>
        <p:txBody>
          <a:bodyPr>
            <a:normAutofit/>
          </a:bodyPr>
          <a:lstStyle/>
          <a:p>
            <a:r>
              <a:rPr lang="ru-RU" sz="4050" b="1" dirty="0">
                <a:solidFill>
                  <a:schemeClr val="accent1">
                    <a:lumMod val="50000"/>
                  </a:schemeClr>
                </a:solidFill>
              </a:rPr>
              <a:t>КЛАСС-КОНТЕЙНЕР</a:t>
            </a:r>
            <a:br>
              <a:rPr lang="ru-RU" sz="4050" b="1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ru-RU" sz="4050" b="1" dirty="0">
                <a:solidFill>
                  <a:schemeClr val="accent1">
                    <a:lumMod val="50000"/>
                  </a:schemeClr>
                </a:solidFill>
              </a:rPr>
              <a:t>ВЕКТОР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010774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Заголовочный файл:</a:t>
            </a:r>
            <a:br>
              <a:rPr lang="ru-RU" dirty="0"/>
            </a:br>
            <a:endParaRPr lang="ru-RU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71574807"/>
              </p:ext>
            </p:extLst>
          </p:nvPr>
        </p:nvGraphicFramePr>
        <p:xfrm>
          <a:off x="2805356" y="2040524"/>
          <a:ext cx="3886200" cy="195136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4272294183"/>
                    </a:ext>
                  </a:extLst>
                </a:gridCol>
              </a:tblGrid>
              <a:tr h="804276">
                <a:tc>
                  <a:txBody>
                    <a:bodyPr/>
                    <a:lstStyle/>
                    <a:p>
                      <a:pPr algn="ctr" fontAlgn="b"/>
                      <a:r>
                        <a:rPr lang="ru-RU" sz="2800" dirty="0">
                          <a:effectLst/>
                        </a:rPr>
                        <a:t>Название</a:t>
                      </a:r>
                    </a:p>
                  </a:txBody>
                  <a:tcPr marL="73411" marR="73411" marT="73411" marB="73411" anchor="b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091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1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0886627"/>
                  </a:ext>
                </a:extLst>
              </a:tr>
              <a:tr h="411102">
                <a:tc>
                  <a:txBody>
                    <a:bodyPr/>
                    <a:lstStyle/>
                    <a:p>
                      <a:pPr algn="ctr" fontAlgn="t"/>
                      <a:r>
                        <a:rPr lang="en-US" sz="2800" dirty="0">
                          <a:effectLst/>
                        </a:rPr>
                        <a:t>”</a:t>
                      </a:r>
                      <a:r>
                        <a:rPr lang="en-US" sz="28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vector</a:t>
                      </a:r>
                      <a:r>
                        <a:rPr lang="en-US" sz="2800" dirty="0">
                          <a:effectLst/>
                        </a:rPr>
                        <a:t>”</a:t>
                      </a:r>
                    </a:p>
                  </a:txBody>
                  <a:tcPr marL="73411" marR="73411" marT="73411" marB="73411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9485359"/>
                  </a:ext>
                </a:extLst>
              </a:tr>
              <a:tr h="411102">
                <a:tc>
                  <a:txBody>
                    <a:bodyPr/>
                    <a:lstStyle/>
                    <a:p>
                      <a:pPr algn="ctr" fontAlgn="t"/>
                      <a:r>
                        <a:rPr lang="en-US" sz="2800" dirty="0">
                          <a:effectLst/>
                        </a:rPr>
                        <a:t>“</a:t>
                      </a:r>
                      <a:r>
                        <a:rPr lang="en-US" sz="28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algorithm</a:t>
                      </a:r>
                      <a:r>
                        <a:rPr lang="en-US" sz="2800" dirty="0">
                          <a:effectLst/>
                        </a:rPr>
                        <a:t>”</a:t>
                      </a:r>
                    </a:p>
                  </a:txBody>
                  <a:tcPr marL="73411" marR="73411" marT="73411" marB="73411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9488473"/>
                  </a:ext>
                </a:extLst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79331" rIns="91440" bIns="8887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Helvetica Neue"/>
              </a:rPr>
              <a:t>Заголовочный файл: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62988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70857" y="348343"/>
            <a:ext cx="8273143" cy="573292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100" cap="none" dirty="0"/>
          </a:p>
          <a:p>
            <a:pPr marL="0" indent="0">
              <a:buNone/>
            </a:pPr>
            <a:r>
              <a:rPr lang="ru-RU" sz="2400" cap="none" dirty="0"/>
              <a:t>	В стандарт С++ входит библиотека</a:t>
            </a:r>
            <a:r>
              <a:rPr lang="en-US" sz="2400" cap="none" dirty="0"/>
              <a:t> </a:t>
            </a:r>
            <a:r>
              <a:rPr lang="ru-RU" sz="2400" cap="none" dirty="0"/>
              <a:t>стандартных шаблонов </a:t>
            </a:r>
            <a:r>
              <a:rPr lang="en-US" sz="2400" b="1" cap="none" dirty="0"/>
              <a:t>STL</a:t>
            </a:r>
            <a:r>
              <a:rPr lang="en-US" sz="2400" cap="none" dirty="0"/>
              <a:t> (</a:t>
            </a:r>
            <a:r>
              <a:rPr lang="en-US" sz="2400" i="1" cap="none" dirty="0"/>
              <a:t>Standard Template Library</a:t>
            </a:r>
            <a:r>
              <a:rPr lang="en-US" sz="2400" cap="none" dirty="0"/>
              <a:t>) - </a:t>
            </a:r>
            <a:r>
              <a:rPr lang="ru-RU" sz="2400" cap="none" dirty="0"/>
              <a:t> инструмент для хранения и обработки данных.</a:t>
            </a:r>
          </a:p>
          <a:p>
            <a:pPr marL="0" indent="0">
              <a:buNone/>
            </a:pPr>
            <a:r>
              <a:rPr lang="ru-RU" sz="2400" cap="none" dirty="0"/>
              <a:t>Основными элементами библиотеки являются:</a:t>
            </a:r>
          </a:p>
          <a:p>
            <a:pPr marL="457200" indent="-457200">
              <a:buFont typeface="+mj-lt"/>
              <a:buAutoNum type="arabicParenR"/>
            </a:pPr>
            <a:r>
              <a:rPr lang="ru-RU" sz="2400" b="1" dirty="0">
                <a:solidFill>
                  <a:srgbClr val="C00000"/>
                </a:solidFill>
              </a:rPr>
              <a:t>Контейнер</a:t>
            </a:r>
            <a:r>
              <a:rPr lang="ru-RU" sz="2400" b="1" dirty="0"/>
              <a:t> </a:t>
            </a:r>
            <a:r>
              <a:rPr lang="ru-RU" sz="2400" b="1" dirty="0">
                <a:solidFill>
                  <a:srgbClr val="C00000"/>
                </a:solidFill>
              </a:rPr>
              <a:t>–</a:t>
            </a:r>
            <a:r>
              <a:rPr lang="ru-RU" sz="2400" b="1" dirty="0"/>
              <a:t> </a:t>
            </a:r>
            <a:r>
              <a:rPr lang="ru-RU" sz="2400" dirty="0"/>
              <a:t>объект для хранения других объектов одного типа. </a:t>
            </a:r>
          </a:p>
          <a:p>
            <a:pPr marL="457200" indent="-457200">
              <a:buFont typeface="+mj-lt"/>
              <a:buAutoNum type="arabicParenR"/>
            </a:pPr>
            <a:r>
              <a:rPr lang="ru-RU" sz="2400" b="1" cap="none" dirty="0" err="1">
                <a:solidFill>
                  <a:srgbClr val="C00000"/>
                </a:solidFill>
              </a:rPr>
              <a:t>Итератар</a:t>
            </a:r>
            <a:r>
              <a:rPr lang="ru-RU" sz="2400" b="1" cap="none" dirty="0">
                <a:solidFill>
                  <a:srgbClr val="C00000"/>
                </a:solidFill>
              </a:rPr>
              <a:t> -  </a:t>
            </a:r>
            <a:r>
              <a:rPr lang="ru-RU" sz="2400" dirty="0"/>
              <a:t>тип, позволяющий обращаться к хранимым в контейнере элементам ( как индекс или указатель)</a:t>
            </a:r>
          </a:p>
          <a:p>
            <a:pPr marL="457200" indent="-457200">
              <a:buFont typeface="+mj-lt"/>
              <a:buAutoNum type="arabicParenR"/>
            </a:pPr>
            <a:r>
              <a:rPr lang="ru-RU" sz="2400" b="1" dirty="0">
                <a:solidFill>
                  <a:srgbClr val="C00000"/>
                </a:solidFill>
              </a:rPr>
              <a:t>Алгоритмы</a:t>
            </a:r>
            <a:r>
              <a:rPr lang="ru-RU" sz="2400" dirty="0"/>
              <a:t> – выполняют операции над элементами контейнеров</a:t>
            </a:r>
            <a:endParaRPr lang="ru-RU" sz="2400" cap="none" dirty="0"/>
          </a:p>
          <a:p>
            <a:pPr>
              <a:buFont typeface="Wingdings" panose="05000000000000000000" pitchFamily="2" charset="2"/>
              <a:buChar char="Ø"/>
            </a:pPr>
            <a:endParaRPr lang="ru-RU" sz="2400" cap="none" dirty="0"/>
          </a:p>
        </p:txBody>
      </p:sp>
    </p:spTree>
    <p:extLst>
      <p:ext uri="{BB962C8B-B14F-4D97-AF65-F5344CB8AC3E}">
        <p14:creationId xmlns:p14="http://schemas.microsoft.com/office/powerpoint/2010/main" val="8736178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317767" y="622382"/>
            <a:ext cx="7695604" cy="517250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2400" dirty="0"/>
              <a:t>В библиотеке  </a:t>
            </a:r>
            <a:r>
              <a:rPr lang="en-US" sz="2400" b="1" dirty="0"/>
              <a:t>STL</a:t>
            </a:r>
            <a:r>
              <a:rPr lang="en-US" sz="2400" dirty="0"/>
              <a:t> </a:t>
            </a:r>
            <a:r>
              <a:rPr lang="ru-RU" sz="2400" dirty="0"/>
              <a:t>определены </a:t>
            </a:r>
            <a:r>
              <a:rPr lang="ru-RU" sz="2400" b="1" dirty="0">
                <a:solidFill>
                  <a:srgbClr val="C00000"/>
                </a:solidFill>
              </a:rPr>
              <a:t>3</a:t>
            </a:r>
            <a:r>
              <a:rPr lang="ru-RU" sz="2400" dirty="0"/>
              <a:t> вида контейнеров: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sz="2400" b="1" dirty="0">
                <a:solidFill>
                  <a:srgbClr val="C00000"/>
                </a:solidFill>
              </a:rPr>
              <a:t>последовательные</a:t>
            </a:r>
            <a:r>
              <a:rPr lang="ru-RU" sz="2400" b="1" dirty="0">
                <a:solidFill>
                  <a:srgbClr val="0000CC"/>
                </a:solidFill>
              </a:rPr>
              <a:t> </a:t>
            </a:r>
            <a:r>
              <a:rPr lang="ru-RU" sz="2400" b="1" dirty="0">
                <a:solidFill>
                  <a:srgbClr val="C00000"/>
                </a:solidFill>
              </a:rPr>
              <a:t>–</a:t>
            </a:r>
            <a:r>
              <a:rPr lang="ru-RU" sz="2400" b="1" dirty="0">
                <a:solidFill>
                  <a:srgbClr val="0000CC"/>
                </a:solidFill>
              </a:rPr>
              <a:t> </a:t>
            </a:r>
            <a:r>
              <a:rPr lang="ru-RU" sz="2400" dirty="0"/>
              <a:t>реализуют структуры данных с возможностью последовательного доступа к ним.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sz="2400" b="1" dirty="0">
                <a:solidFill>
                  <a:srgbClr val="C00000"/>
                </a:solidFill>
              </a:rPr>
              <a:t>Ассоциативные – </a:t>
            </a:r>
            <a:r>
              <a:rPr lang="ru-RU" sz="2400" dirty="0"/>
              <a:t>реализуют упорядоченные структуры данных с возможностью быстрого поиска (со сложностью O(</a:t>
            </a:r>
            <a:r>
              <a:rPr lang="ru-RU" sz="2400" dirty="0" err="1"/>
              <a:t>log</a:t>
            </a:r>
            <a:r>
              <a:rPr lang="ru-RU" sz="2400" dirty="0"/>
              <a:t> n)).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sz="2400" b="1" dirty="0">
                <a:solidFill>
                  <a:srgbClr val="C00000"/>
                </a:solidFill>
              </a:rPr>
              <a:t>Неупорядоченные ассоциативные </a:t>
            </a:r>
            <a:r>
              <a:rPr lang="ru-RU" sz="2400" b="1" dirty="0"/>
              <a:t>-</a:t>
            </a:r>
            <a:r>
              <a:rPr lang="ru-RU" sz="2400" dirty="0"/>
              <a:t>реализуют неупорядоченные (хешированные) структуры данных с возможностью быстрого поиска (со средней сложностью O(1), в худшем случае O(n)). </a:t>
            </a:r>
          </a:p>
        </p:txBody>
      </p:sp>
    </p:spTree>
    <p:extLst>
      <p:ext uri="{BB962C8B-B14F-4D97-AF65-F5344CB8AC3E}">
        <p14:creationId xmlns:p14="http://schemas.microsoft.com/office/powerpoint/2010/main" val="23930303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28872" y="143627"/>
            <a:ext cx="8172067" cy="632974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ru-RU" sz="2800" cap="none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400" cap="none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728872" y="348343"/>
            <a:ext cx="8313527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Пример: Последовательные контейнеры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Пример: ассоциативные контейнеры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 </a:t>
            </a: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2474567"/>
              </p:ext>
            </p:extLst>
          </p:nvPr>
        </p:nvGraphicFramePr>
        <p:xfrm>
          <a:off x="728872" y="682172"/>
          <a:ext cx="8313528" cy="22613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7816">
                  <a:extLst>
                    <a:ext uri="{9D8B030D-6E8A-4147-A177-3AD203B41FA5}">
                      <a16:colId xmlns:a16="http://schemas.microsoft.com/office/drawing/2014/main" val="3485759471"/>
                    </a:ext>
                  </a:extLst>
                </a:gridCol>
                <a:gridCol w="5805712">
                  <a:extLst>
                    <a:ext uri="{9D8B030D-6E8A-4147-A177-3AD203B41FA5}">
                      <a16:colId xmlns:a16="http://schemas.microsoft.com/office/drawing/2014/main" val="1306216804"/>
                    </a:ext>
                  </a:extLst>
                </a:gridCol>
              </a:tblGrid>
              <a:tr h="432526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Обозначение типа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Название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066082"/>
                  </a:ext>
                </a:extLst>
              </a:tr>
              <a:tr h="568960">
                <a:tc>
                  <a:txBody>
                    <a:bodyPr/>
                    <a:lstStyle/>
                    <a:p>
                      <a:r>
                        <a:rPr lang="ru-RU" sz="2000" u="sng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  <a:hlinkClick r:id="rId2" tooltip="cpp/container/array"/>
                        </a:rPr>
                        <a:t>array</a:t>
                      </a:r>
                      <a:endParaRPr lang="ru-RU" sz="2000" u="sng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статический непрерывный массив (шаблон класса)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95620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  <a:hlinkClick r:id="rId3" tooltip="cpp/container/vector"/>
                        </a:rPr>
                        <a:t>vector</a:t>
                      </a:r>
                      <a:endParaRPr lang="en-US" sz="20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динамический непрерывный массив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13696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000" u="none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  <a:hlinkClick r:id="rId4" tooltip="cpp/container/forward list"/>
                        </a:rPr>
                        <a:t>forward_list</a:t>
                      </a:r>
                      <a:endParaRPr lang="ru-RU" sz="2000" u="none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односвязный список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07176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  <a:hlinkClick r:id="rId5" tooltip="cpp/container/list"/>
                        </a:rPr>
                        <a:t>list</a:t>
                      </a:r>
                      <a:endParaRPr lang="en-US" sz="20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двусвязный список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66869"/>
                  </a:ext>
                </a:extLst>
              </a:tr>
            </a:tbl>
          </a:graphicData>
        </a:graphic>
      </p:graphicFrame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8900813"/>
              </p:ext>
            </p:extLst>
          </p:nvPr>
        </p:nvGraphicFramePr>
        <p:xfrm>
          <a:off x="728869" y="3945558"/>
          <a:ext cx="8415130" cy="268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5874">
                  <a:extLst>
                    <a:ext uri="{9D8B030D-6E8A-4147-A177-3AD203B41FA5}">
                      <a16:colId xmlns:a16="http://schemas.microsoft.com/office/drawing/2014/main" val="4148366958"/>
                    </a:ext>
                  </a:extLst>
                </a:gridCol>
                <a:gridCol w="5849256">
                  <a:extLst>
                    <a:ext uri="{9D8B030D-6E8A-4147-A177-3AD203B41FA5}">
                      <a16:colId xmlns:a16="http://schemas.microsoft.com/office/drawing/2014/main" val="29821153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800" b="1" i="0" u="none" strike="noStrike" kern="120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Обозначение типа</a:t>
                      </a:r>
                      <a:endParaRPr lang="ru-RU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8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Название</a:t>
                      </a:r>
                      <a:endParaRPr lang="ru-RU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95406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  <a:hlinkClick r:id="rId6" tooltip="cpp/container/set"/>
                        </a:rPr>
                        <a:t>set</a:t>
                      </a:r>
                      <a:endParaRPr lang="en-US" sz="20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Коллекция уникальных ключей, отсортированная по ключам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01515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  <a:hlinkClick r:id="rId7" tooltip="cpp/container/map"/>
                        </a:rPr>
                        <a:t>map</a:t>
                      </a:r>
                      <a:endParaRPr lang="en-US" sz="20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Коллекция пар ключ-значение, отсортированная по ключам, ключи являются уникальными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35906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  <a:hlinkClick r:id="rId8" tooltip="cpp/container/multiset"/>
                        </a:rPr>
                        <a:t>multiset</a:t>
                      </a:r>
                      <a:endParaRPr lang="en-US" sz="20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Коллекция ключей, отсортированная по ключам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77834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  <a:hlinkClick r:id="rId9" tooltip="cpp/container/multimap"/>
                        </a:rPr>
                        <a:t>multimap</a:t>
                      </a:r>
                      <a:endParaRPr lang="en-US" sz="20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Коллекция пар ключ-значение, отсортированная по ключам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65007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86748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07578" y="532263"/>
            <a:ext cx="8731045" cy="5895833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		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		</a:t>
            </a:r>
            <a:r>
              <a:rPr lang="ru-RU" sz="2400" i="1" u="sng" dirty="0">
                <a:latin typeface="Arial" panose="020B0604020202020204" pitchFamily="34" charset="0"/>
                <a:cs typeface="Arial" panose="020B0604020202020204" pitchFamily="34" charset="0"/>
              </a:rPr>
              <a:t>Сходство с массивом</a:t>
            </a:r>
            <a:r>
              <a:rPr lang="ru-RU" sz="2400" u="sng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содержит данные одного типа</a:t>
            </a:r>
          </a:p>
          <a:p>
            <a:pPr marL="0" indent="0">
              <a:spcBef>
                <a:spcPts val="600"/>
              </a:spcBef>
              <a:buNone/>
            </a:pPr>
            <a:endParaRPr lang="ru-RU" sz="2400" cap="non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ru-RU" sz="2400" i="1" u="sng" dirty="0">
                <a:latin typeface="Arial" panose="020B0604020202020204" pitchFamily="34" charset="0"/>
                <a:cs typeface="Arial" panose="020B0604020202020204" pitchFamily="34" charset="0"/>
              </a:rPr>
              <a:t>отличия</a:t>
            </a:r>
            <a:r>
              <a:rPr lang="ru-RU" sz="2400" u="sng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arenR"/>
            </a:pPr>
            <a:r>
              <a:rPr lang="ru-RU" sz="2400" cap="none" dirty="0">
                <a:latin typeface="Arial" panose="020B0604020202020204" pitchFamily="34" charset="0"/>
                <a:cs typeface="Arial" panose="020B0604020202020204" pitchFamily="34" charset="0"/>
              </a:rPr>
              <a:t>Длина вектора динамически изменяется ( у массива –фиксированная);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arenR"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В описании;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arenR"/>
            </a:pPr>
            <a:r>
              <a:rPr lang="ru-RU" sz="2400" cap="none" dirty="0">
                <a:latin typeface="Arial" panose="020B0604020202020204" pitchFamily="34" charset="0"/>
                <a:cs typeface="Arial" panose="020B0604020202020204" pitchFamily="34" charset="0"/>
              </a:rPr>
              <a:t>В работе;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341209" y="133902"/>
            <a:ext cx="716416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Класс последовательного контейнера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vector</a:t>
            </a:r>
            <a:endParaRPr lang="ru-RU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35529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13899" y="313898"/>
            <a:ext cx="8697366" cy="633762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	Синтаксис объявления объекта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endParaRPr lang="ru-RU" sz="24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600" i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Пример: </a:t>
            </a:r>
            <a:r>
              <a:rPr lang="en-US" sz="1600" i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vector &lt;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iVec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ru-RU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где 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vector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имя шаблона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24000" indent="-1074738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имя класса( аналогичные классы существуют и для других типов).;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24000" indent="-1074738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описании типа объекта являются обязательными;</a:t>
            </a:r>
          </a:p>
          <a:p>
            <a:pPr marL="0" indent="449263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iVec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–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объект класса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vector &lt;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&gt;.</a:t>
            </a:r>
            <a:endParaRPr lang="ru-RU" cap="non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ru-RU" cap="non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Элементы вектора нумеруются с </a:t>
            </a:r>
            <a:r>
              <a:rPr lang="ru-RU" sz="2400" b="1" cap="none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ru-RU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Обращение</a:t>
            </a:r>
            <a:r>
              <a:rPr lang="ru-RU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iVec</a:t>
            </a:r>
            <a:r>
              <a:rPr lang="en-US" sz="24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4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используется для изменения значения уже существующего элемента, или например для вывода.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681695" y="876091"/>
            <a:ext cx="7373257" cy="85634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vector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b="1" dirty="0">
                <a:solidFill>
                  <a:srgbClr val="C00000"/>
                </a:solidFill>
              </a:rPr>
              <a:t>&lt;</a:t>
            </a:r>
            <a:r>
              <a:rPr lang="ru-RU" sz="2400" b="1" dirty="0">
                <a:solidFill>
                  <a:srgbClr val="C00000"/>
                </a:solidFill>
              </a:rPr>
              <a:t> </a:t>
            </a:r>
            <a:r>
              <a:rPr lang="ru-RU" sz="2400" b="1" dirty="0" err="1">
                <a:solidFill>
                  <a:srgbClr val="0000CC"/>
                </a:solidFill>
              </a:rPr>
              <a:t>тип_элементов</a:t>
            </a:r>
            <a:r>
              <a:rPr lang="ru-RU" sz="2400" b="1" dirty="0">
                <a:solidFill>
                  <a:srgbClr val="0000CC"/>
                </a:solidFill>
              </a:rPr>
              <a:t> </a:t>
            </a:r>
            <a:r>
              <a:rPr lang="en-US" sz="2400" b="1" dirty="0">
                <a:solidFill>
                  <a:srgbClr val="C00000"/>
                </a:solidFill>
              </a:rPr>
              <a:t>&gt;</a:t>
            </a:r>
            <a:r>
              <a:rPr lang="ru-RU" sz="2400" b="1" dirty="0">
                <a:solidFill>
                  <a:srgbClr val="C00000"/>
                </a:solidFill>
              </a:rPr>
              <a:t> </a:t>
            </a:r>
            <a:r>
              <a:rPr lang="ru-RU" sz="2400" dirty="0">
                <a:solidFill>
                  <a:schemeClr val="tx1"/>
                </a:solidFill>
              </a:rPr>
              <a:t> </a:t>
            </a:r>
            <a:r>
              <a:rPr lang="ru-RU" sz="2400" b="1" dirty="0" err="1">
                <a:solidFill>
                  <a:srgbClr val="0000CC"/>
                </a:solidFill>
              </a:rPr>
              <a:t>имя_объекта</a:t>
            </a:r>
            <a:r>
              <a:rPr lang="ru-RU" sz="2400" b="1" dirty="0">
                <a:solidFill>
                  <a:schemeClr val="tx1"/>
                </a:solidFill>
              </a:rPr>
              <a:t> </a:t>
            </a:r>
            <a:r>
              <a:rPr lang="ru-RU" sz="2400" b="1" dirty="0">
                <a:solidFill>
                  <a:srgbClr val="C00000"/>
                </a:solidFill>
              </a:rPr>
              <a:t>;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endParaRPr lang="ru-RU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22064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80571" y="117987"/>
            <a:ext cx="8563428" cy="912527"/>
          </a:xfrm>
        </p:spPr>
        <p:txBody>
          <a:bodyPr>
            <a:noAutofit/>
          </a:bodyPr>
          <a:lstStyle/>
          <a:p>
            <a:pPr marL="1160463" indent="-1160463">
              <a:tabLst>
                <a:tab pos="987425" algn="l"/>
              </a:tabLst>
            </a:pPr>
            <a:r>
              <a:rPr lang="ru-RU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Для инициализации вектора можно использовать</a:t>
            </a:r>
            <a:r>
              <a:rPr lang="ru-RU" sz="2800" dirty="0">
                <a:solidFill>
                  <a:srgbClr val="C00000"/>
                </a:solidFill>
              </a:rPr>
              <a:t>       </a:t>
            </a:r>
            <a:r>
              <a:rPr lang="ru-RU" sz="2400" b="1" dirty="0">
                <a:solidFill>
                  <a:srgbClr val="C00000"/>
                </a:solidFill>
              </a:rPr>
              <a:t>конструкторы: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80571" y="1248228"/>
            <a:ext cx="8563428" cy="4779108"/>
          </a:xfrm>
        </p:spPr>
        <p:txBody>
          <a:bodyPr>
            <a:normAutofit lnSpcReduction="10000"/>
          </a:bodyPr>
          <a:lstStyle/>
          <a:p>
            <a:pPr marL="261938" indent="-261938"/>
            <a:r>
              <a:rPr lang="ru-RU" dirty="0">
                <a:solidFill>
                  <a:srgbClr val="0070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// пустой вектор 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v1</a:t>
            </a:r>
            <a:r>
              <a:rPr lang="ru-RU" dirty="0">
                <a:solidFill>
                  <a:srgbClr val="007033"/>
                </a:solidFill>
              </a:rPr>
              <a:t> </a:t>
            </a:r>
            <a:r>
              <a:rPr lang="ru-RU" dirty="0">
                <a:solidFill>
                  <a:srgbClr val="0070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который будет содержать объекты типа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</a:p>
          <a:p>
            <a:pPr marL="0" indent="536575">
              <a:buNone/>
            </a:pPr>
            <a:r>
              <a:rPr lang="en-US" sz="2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vector &lt;t&gt; v1;   </a:t>
            </a:r>
          </a:p>
          <a:p>
            <a:r>
              <a:rPr lang="en-US" dirty="0">
                <a:solidFill>
                  <a:srgbClr val="0070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// </a:t>
            </a:r>
            <a:r>
              <a:rPr lang="ru-RU" dirty="0">
                <a:solidFill>
                  <a:srgbClr val="0070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вектор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v1 </a:t>
            </a:r>
            <a:r>
              <a:rPr lang="ru-RU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dirty="0">
                <a:solidFill>
                  <a:srgbClr val="0070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копия вектора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v2</a:t>
            </a:r>
          </a:p>
          <a:p>
            <a:pPr marL="0" indent="536575">
              <a:buNone/>
            </a:pPr>
            <a:r>
              <a:rPr lang="en-US" sz="2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vector &lt;t&gt; v1</a:t>
            </a:r>
            <a:r>
              <a:rPr lang="ru-RU" sz="2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v2);   </a:t>
            </a:r>
          </a:p>
          <a:p>
            <a:r>
              <a:rPr lang="en-US" dirty="0">
                <a:solidFill>
                  <a:srgbClr val="0070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// </a:t>
            </a:r>
            <a:r>
              <a:rPr lang="ru-RU" dirty="0">
                <a:solidFill>
                  <a:srgbClr val="0070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вектор 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v1</a:t>
            </a:r>
            <a:r>
              <a:rPr lang="ru-RU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dirty="0">
                <a:solidFill>
                  <a:srgbClr val="0070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содержит</a:t>
            </a:r>
            <a:r>
              <a:rPr lang="ru-RU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 </a:t>
            </a:r>
            <a:r>
              <a:rPr lang="ru-RU" dirty="0">
                <a:solidFill>
                  <a:srgbClr val="0070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элементов типа 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dirty="0">
                <a:solidFill>
                  <a:srgbClr val="0070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со значением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ru-RU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dirty="0">
                <a:solidFill>
                  <a:srgbClr val="0070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</a:p>
          <a:p>
            <a:pPr marL="0" indent="536575">
              <a:buNone/>
            </a:pPr>
            <a:r>
              <a:rPr lang="en-US" sz="2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vector &lt;t&gt; v1</a:t>
            </a:r>
            <a:r>
              <a:rPr lang="ru-RU" sz="2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n,i</a:t>
            </a:r>
            <a:r>
              <a:rPr lang="en-US" sz="2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  </a:t>
            </a:r>
            <a:endParaRPr lang="ru-RU" sz="2400" dirty="0">
              <a:solidFill>
                <a:srgbClr val="00703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rgbClr val="0070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// </a:t>
            </a:r>
            <a:r>
              <a:rPr lang="ru-RU" dirty="0">
                <a:solidFill>
                  <a:srgbClr val="0070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вектор 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v1</a:t>
            </a:r>
            <a:r>
              <a:rPr lang="ru-RU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dirty="0">
                <a:solidFill>
                  <a:srgbClr val="0070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содержит</a:t>
            </a:r>
            <a:r>
              <a:rPr lang="ru-RU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 </a:t>
            </a:r>
            <a:r>
              <a:rPr lang="ru-RU" dirty="0">
                <a:solidFill>
                  <a:srgbClr val="0070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элементов типа 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ru-RU" dirty="0">
                <a:solidFill>
                  <a:srgbClr val="0070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>
                <a:solidFill>
                  <a:srgbClr val="0070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>
                <a:solidFill>
                  <a:srgbClr val="0070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значение которым</a:t>
            </a:r>
          </a:p>
          <a:p>
            <a:pPr marL="0" indent="363538">
              <a:buNone/>
            </a:pPr>
            <a:r>
              <a:rPr lang="ru-RU" dirty="0">
                <a:solidFill>
                  <a:srgbClr val="0070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// присваивается в зависимости от типа </a:t>
            </a:r>
          </a:p>
          <a:p>
            <a:pPr marL="0" indent="536575">
              <a:buNone/>
            </a:pPr>
            <a:r>
              <a:rPr lang="en-US" sz="2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vector &lt;t&gt; v1</a:t>
            </a:r>
            <a:r>
              <a:rPr lang="ru-RU" sz="2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n);   </a:t>
            </a:r>
            <a:endParaRPr lang="ru-RU" sz="2400" dirty="0">
              <a:solidFill>
                <a:srgbClr val="00703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363538">
              <a:buNone/>
            </a:pPr>
            <a:endParaRPr lang="en-US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363538">
              <a:buNone/>
            </a:pPr>
            <a:r>
              <a:rPr lang="ru-RU" sz="20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Например: 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vector &lt;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v1</a:t>
            </a:r>
            <a:r>
              <a:rPr lang="ru-RU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n); </a:t>
            </a:r>
            <a:r>
              <a:rPr lang="en-US" sz="1600" dirty="0">
                <a:solidFill>
                  <a:srgbClr val="0070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// </a:t>
            </a:r>
            <a:r>
              <a:rPr lang="ru-RU" sz="1600" dirty="0">
                <a:solidFill>
                  <a:srgbClr val="0070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элементы примут значение </a:t>
            </a:r>
            <a:r>
              <a:rPr lang="en-US" sz="1600" dirty="0">
                <a:solidFill>
                  <a:srgbClr val="0070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</a:t>
            </a:r>
            <a:endParaRPr lang="ru-RU" sz="1600" dirty="0">
              <a:solidFill>
                <a:srgbClr val="00703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15244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06401" y="199409"/>
            <a:ext cx="8577942" cy="6448134"/>
          </a:xfrm>
        </p:spPr>
        <p:txBody>
          <a:bodyPr>
            <a:normAutofit/>
          </a:bodyPr>
          <a:lstStyle/>
          <a:p>
            <a:pPr marL="1262063" indent="-1262063">
              <a:spcBef>
                <a:spcPts val="600"/>
              </a:spcBef>
              <a:buNone/>
            </a:pPr>
            <a:r>
              <a:rPr lang="ru-RU" sz="2400" cap="none" dirty="0">
                <a:latin typeface="Arial" panose="020B0604020202020204" pitchFamily="34" charset="0"/>
                <a:cs typeface="Arial" panose="020B0604020202020204" pitchFamily="34" charset="0"/>
              </a:rPr>
              <a:t>Элементы добавляются в вектор с помощью </a:t>
            </a:r>
          </a:p>
          <a:p>
            <a:pPr marL="1262063" indent="-1262063">
              <a:spcBef>
                <a:spcPts val="600"/>
              </a:spcBef>
              <a:buNone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ru-RU" sz="2400" cap="none" dirty="0">
                <a:latin typeface="Arial" panose="020B0604020202020204" pitchFamily="34" charset="0"/>
                <a:cs typeface="Arial" panose="020B0604020202020204" pitchFamily="34" charset="0"/>
              </a:rPr>
              <a:t>члена-функции</a:t>
            </a:r>
            <a:r>
              <a:rPr lang="ru-RU" sz="2400" b="1" cap="none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b="1" cap="none" dirty="0" err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push_back</a:t>
            </a:r>
            <a:r>
              <a:rPr lang="ru-RU" sz="2400" b="1" cap="none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ru-RU" i="1" cap="non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Например:</a:t>
            </a:r>
          </a:p>
          <a:p>
            <a:pPr marL="0" indent="449263">
              <a:spcBef>
                <a:spcPts val="600"/>
              </a:spcBef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vector &lt;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iVec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449263">
              <a:spcBef>
                <a:spcPts val="600"/>
              </a:spcBef>
              <a:buNone/>
            </a:pPr>
            <a:r>
              <a:rPr lang="en-US" dirty="0">
                <a:solidFill>
                  <a:srgbClr val="0070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// </a:t>
            </a:r>
            <a:r>
              <a:rPr lang="ru-RU" dirty="0">
                <a:solidFill>
                  <a:srgbClr val="0070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ввод в вектор значений 12,3,4,5</a:t>
            </a:r>
            <a:endParaRPr lang="en-US" dirty="0">
              <a:solidFill>
                <a:srgbClr val="00703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449263">
              <a:spcBef>
                <a:spcPts val="600"/>
              </a:spcBef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</a:t>
            </a:r>
            <a:r>
              <a:rPr lang="en-US" sz="2400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or ( unsigned </a:t>
            </a:r>
            <a:r>
              <a:rPr lang="en-US" sz="2400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400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=1; </a:t>
            </a:r>
            <a:r>
              <a:rPr lang="en-US" sz="2400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400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&lt;=5; </a:t>
            </a:r>
            <a:r>
              <a:rPr lang="en-US" sz="2400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400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</a:p>
          <a:p>
            <a:pPr marL="0" indent="449263">
              <a:spcBef>
                <a:spcPts val="600"/>
              </a:spcBef>
              <a:buNone/>
            </a:pP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iVec.push_back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449263">
              <a:spcBef>
                <a:spcPts val="600"/>
              </a:spcBef>
              <a:buNone/>
            </a:pPr>
            <a:r>
              <a:rPr lang="en-US" dirty="0">
                <a:solidFill>
                  <a:srgbClr val="0070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//</a:t>
            </a:r>
            <a:r>
              <a:rPr lang="ru-RU" dirty="0">
                <a:solidFill>
                  <a:srgbClr val="0070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вывод элементов вектора</a:t>
            </a:r>
          </a:p>
          <a:p>
            <a:pPr marL="0" indent="449263">
              <a:spcBef>
                <a:spcPts val="600"/>
              </a:spcBef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( unsigned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=1;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&lt;=</a:t>
            </a:r>
            <a:r>
              <a:rPr 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5;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i++)</a:t>
            </a:r>
          </a:p>
          <a:p>
            <a:pPr marL="0" indent="449263">
              <a:spcBef>
                <a:spcPts val="600"/>
              </a:spcBef>
              <a:buNone/>
            </a:pP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iVec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]&lt;&lt;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600"/>
              </a:spcBef>
              <a:buNone/>
            </a:pPr>
            <a:endParaRPr lang="ru-RU" dirty="0">
              <a:solidFill>
                <a:srgbClr val="00703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59553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48229" y="130629"/>
            <a:ext cx="7286171" cy="537028"/>
          </a:xfrm>
        </p:spPr>
        <p:txBody>
          <a:bodyPr>
            <a:normAutofit fontScale="90000"/>
          </a:bodyPr>
          <a:lstStyle/>
          <a:p>
            <a:r>
              <a:rPr lang="ru-RU" dirty="0"/>
              <a:t>Характеристики вектора: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88571" y="1059542"/>
            <a:ext cx="7605486" cy="5243565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arenR"/>
            </a:pPr>
            <a:r>
              <a:rPr lang="ru-RU" sz="2400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Размер -  </a:t>
            </a:r>
            <a:r>
              <a:rPr lang="ru-RU" sz="2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оличество элементов вектора. </a:t>
            </a:r>
            <a:r>
              <a:rPr lang="ru-RU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Размер определяет количество элементов в заполненной части вектора</a:t>
            </a:r>
            <a:r>
              <a:rPr lang="ru-RU" sz="2400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ru-RU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Для определения размера используется </a:t>
            </a:r>
            <a:r>
              <a:rPr lang="ru-RU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функция_член</a:t>
            </a:r>
            <a:r>
              <a:rPr lang="ru-RU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size()</a:t>
            </a:r>
            <a:r>
              <a:rPr lang="ru-RU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возвращающая значение типа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unsigned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ru-RU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. </a:t>
            </a:r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indent="-457200">
              <a:buFont typeface="+mj-lt"/>
              <a:buAutoNum type="arabicParenR"/>
            </a:pPr>
            <a:r>
              <a:rPr lang="ru-RU" sz="2400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Ёмкость</a:t>
            </a:r>
            <a:r>
              <a:rPr lang="ru-RU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-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количество элементов, для которых на этот момент выделена память. Ёмкость обычно больше размера. Когда ёмкость исчерпана, она автоматически увеличивается. Для определения ёмкости используется </a:t>
            </a:r>
            <a:r>
              <a:rPr lang="ru-RU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функция_член</a:t>
            </a:r>
            <a:r>
              <a:rPr lang="ru-RU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capacity()</a:t>
            </a:r>
            <a:endParaRPr lang="ru-RU" sz="2400" b="1" dirty="0">
              <a:solidFill>
                <a:srgbClr val="0000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65523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DDD035E-BCF9-4DA1-B878-4FB376B0EB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9108" y="314794"/>
            <a:ext cx="7784892" cy="5641399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#include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"vector"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#include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&lt;iostream&gt;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std;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main()</a:t>
            </a:r>
            <a: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</a:rPr>
              <a:t>  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>
                <a:solidFill>
                  <a:srgbClr val="2B91AF"/>
                </a:solidFill>
                <a:latin typeface="Consolas" panose="020B0609020204030204" pitchFamily="49" charset="0"/>
              </a:rPr>
              <a:t>vector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&lt;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iVec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"Vector empty"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"size:"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iVec.size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()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"capacity:"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iVec.capacity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()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unsigned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= 1;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&lt;= 5;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iVec.push_back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"Vector is(1, 2, 3, 4, 5)"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"size:"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iVec.size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()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"capacity:"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iVec.capacity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()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unsigned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= 6;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&lt;= 10;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iVec.push_back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"Vector is(1, 2, 3, 4, 5, 6, 7, 8, 9, 10)"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"size:"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iVec.size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()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"capacity:"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iVec.capacity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()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0;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8537212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41445" y="532263"/>
            <a:ext cx="8270543" cy="59231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cap="none" dirty="0">
                <a:latin typeface="Arial" panose="020B0604020202020204" pitchFamily="34" charset="0"/>
                <a:cs typeface="Arial" panose="020B0604020202020204" pitchFamily="34" charset="0"/>
              </a:rPr>
              <a:t>		</a:t>
            </a:r>
            <a:r>
              <a:rPr lang="ru-RU" u="sng" cap="none" dirty="0">
                <a:latin typeface="Arial" panose="020B0604020202020204" pitchFamily="34" charset="0"/>
                <a:cs typeface="Arial" panose="020B0604020202020204" pitchFamily="34" charset="0"/>
              </a:rPr>
              <a:t>Результат:</a:t>
            </a:r>
          </a:p>
          <a:p>
            <a:pPr marL="0" indent="711200">
              <a:buNone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pPr marL="0" indent="0">
              <a:buNone/>
            </a:pPr>
            <a:endParaRPr lang="ru-RU" dirty="0">
              <a:solidFill>
                <a:srgbClr val="0000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ru-RU" cap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8AB267F-63F0-4F79-857E-B045ACAF93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28" t="3711" r="72295" b="71213"/>
          <a:stretch/>
        </p:blipFill>
        <p:spPr>
          <a:xfrm>
            <a:off x="839449" y="1364105"/>
            <a:ext cx="8121669" cy="4512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4777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85670" y="342648"/>
            <a:ext cx="8358330" cy="5924449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ru-RU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ru-RU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ru-RU" sz="2400" b="1" cap="none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Операции над векторами:</a:t>
            </a:r>
            <a:endParaRPr lang="en-US" sz="2400" b="1" cap="none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ts val="600"/>
              </a:spcBef>
              <a:buNone/>
            </a:pPr>
            <a:endParaRPr lang="ru-RU" sz="2400" b="1" cap="none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spcBef>
                <a:spcPts val="600"/>
              </a:spcBef>
              <a:buFont typeface="+mj-lt"/>
              <a:buAutoNum type="arabicParenR"/>
            </a:pPr>
            <a:r>
              <a:rPr lang="ru-RU" sz="2400" b="1" cap="non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Сравнение</a:t>
            </a:r>
            <a:r>
              <a:rPr lang="ru-RU" sz="2400" b="1" cap="none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cap="none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&gt;, &lt;, &gt;=,  &lt;=,  ==, !=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ru-RU"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Например</a:t>
            </a:r>
            <a:r>
              <a:rPr lang="ru-RU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endParaRPr 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</a:t>
            </a:r>
            <a:r>
              <a:rPr lang="ru-RU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iVec1==iVec2 </a:t>
            </a:r>
          </a:p>
          <a:p>
            <a:pPr marL="0" indent="0">
              <a:spcBef>
                <a:spcPts val="600"/>
              </a:spcBef>
              <a:buNone/>
            </a:pPr>
            <a:endParaRPr lang="ru-RU" sz="24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возвращает значение </a:t>
            </a:r>
            <a:r>
              <a:rPr lang="en-US" sz="2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если операнды-вектора равны,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т.е.имеют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одинаковое количество одинаковых элементов, которые идут в одинаковом порядке, и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в противном случае)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400" b="1" cap="none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600"/>
              </a:spcBef>
              <a:buNone/>
            </a:pPr>
            <a:endParaRPr lang="ru-RU" u="sng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600"/>
              </a:spcBef>
              <a:buNone/>
            </a:pPr>
            <a:endParaRPr lang="ru-RU" u="sng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28144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40229" y="116114"/>
            <a:ext cx="7794171" cy="551543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Функции</a:t>
            </a: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88292951"/>
              </p:ext>
            </p:extLst>
          </p:nvPr>
        </p:nvGraphicFramePr>
        <p:xfrm>
          <a:off x="209862" y="667657"/>
          <a:ext cx="8876081" cy="4578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38717">
                  <a:extLst>
                    <a:ext uri="{9D8B030D-6E8A-4147-A177-3AD203B41FA5}">
                      <a16:colId xmlns:a16="http://schemas.microsoft.com/office/drawing/2014/main" val="2301164940"/>
                    </a:ext>
                  </a:extLst>
                </a:gridCol>
                <a:gridCol w="4237364">
                  <a:extLst>
                    <a:ext uri="{9D8B030D-6E8A-4147-A177-3AD203B41FA5}">
                      <a16:colId xmlns:a16="http://schemas.microsoft.com/office/drawing/2014/main" val="2155364670"/>
                    </a:ext>
                  </a:extLst>
                </a:gridCol>
              </a:tblGrid>
              <a:tr h="466706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Функция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Пояснение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0389237"/>
                  </a:ext>
                </a:extLst>
              </a:tr>
              <a:tr h="840070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0000CC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empty()</a:t>
                      </a:r>
                      <a:endParaRPr lang="ru-RU" sz="2400" b="1" dirty="0">
                        <a:solidFill>
                          <a:srgbClr val="0000CC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Проверяет, является ли вектор пустым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8774972"/>
                  </a:ext>
                </a:extLst>
              </a:tr>
              <a:tr h="1213434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0000CC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insert(</a:t>
                      </a:r>
                      <a:r>
                        <a:rPr lang="en-US" sz="2400" b="1" dirty="0" err="1">
                          <a:solidFill>
                            <a:srgbClr val="0000CC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iter</a:t>
                      </a:r>
                      <a:r>
                        <a:rPr lang="en-US" sz="2400" b="1" dirty="0">
                          <a:solidFill>
                            <a:srgbClr val="0000CC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value)</a:t>
                      </a:r>
                      <a:endParaRPr lang="ru-RU" sz="2400" b="1" dirty="0">
                        <a:solidFill>
                          <a:srgbClr val="0000CC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Вставляет</a:t>
                      </a:r>
                      <a:r>
                        <a:rPr lang="ru-RU" sz="24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элемент со значением </a:t>
                      </a:r>
                      <a:r>
                        <a:rPr lang="en-US" sz="2400" kern="1200" dirty="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value</a:t>
                      </a:r>
                      <a:r>
                        <a:rPr lang="ru-RU" sz="2400" kern="120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sz="24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в позицию </a:t>
                      </a:r>
                      <a:r>
                        <a:rPr lang="en-US" sz="2400" kern="1200" dirty="0" err="1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iter</a:t>
                      </a:r>
                      <a:endParaRPr lang="ru-RU" sz="2400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9414192"/>
                  </a:ext>
                </a:extLst>
              </a:tr>
              <a:tr h="840070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0000CC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erase(</a:t>
                      </a:r>
                      <a:r>
                        <a:rPr lang="en-US" sz="2400" b="1" dirty="0" err="1">
                          <a:solidFill>
                            <a:srgbClr val="0000CC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iter</a:t>
                      </a:r>
                      <a:r>
                        <a:rPr lang="en-US" sz="2400" b="1" baseline="0" dirty="0">
                          <a:solidFill>
                            <a:srgbClr val="0000CC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  <a:endParaRPr lang="ru-RU" sz="2400" b="1" dirty="0">
                        <a:solidFill>
                          <a:srgbClr val="0000CC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Удаляет элемент из </a:t>
                      </a:r>
                      <a:r>
                        <a:rPr lang="ru-RU" sz="24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позиции</a:t>
                      </a:r>
                      <a:r>
                        <a:rPr lang="ru-RU" sz="2400" kern="1200" dirty="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2400" kern="1200" dirty="0" err="1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iter</a:t>
                      </a:r>
                      <a:endParaRPr lang="ru-RU" sz="2400" kern="1200" dirty="0">
                        <a:solidFill>
                          <a:srgbClr val="FF0000"/>
                        </a:solidFill>
                        <a:effectLst/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6682823"/>
                  </a:ext>
                </a:extLst>
              </a:tr>
              <a:tr h="84007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kern="1200" dirty="0">
                          <a:solidFill>
                            <a:srgbClr val="0000CC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erase(</a:t>
                      </a:r>
                      <a:r>
                        <a:rPr lang="en-US" sz="2400" b="1" kern="1200" dirty="0" err="1">
                          <a:solidFill>
                            <a:srgbClr val="0000CC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iter</a:t>
                      </a:r>
                      <a:r>
                        <a:rPr lang="en-US" sz="2400" b="1" kern="1200" dirty="0">
                          <a:solidFill>
                            <a:srgbClr val="0000CC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1, </a:t>
                      </a:r>
                      <a:r>
                        <a:rPr lang="en-US" sz="2400" b="1" kern="1200" dirty="0" err="1">
                          <a:solidFill>
                            <a:srgbClr val="0000CC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iter</a:t>
                      </a:r>
                      <a:r>
                        <a:rPr lang="en-US" sz="2400" b="1" kern="1200" dirty="0">
                          <a:solidFill>
                            <a:srgbClr val="0000CC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2</a:t>
                      </a:r>
                      <a:r>
                        <a:rPr lang="en-US" sz="2400" b="1" kern="1200" baseline="0" dirty="0">
                          <a:solidFill>
                            <a:srgbClr val="0000CC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)</a:t>
                      </a:r>
                      <a:endParaRPr lang="ru-RU" sz="2400" b="1" dirty="0">
                        <a:solidFill>
                          <a:srgbClr val="0000CC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endParaRPr lang="ru-RU" sz="2400" b="1" dirty="0">
                        <a:solidFill>
                          <a:srgbClr val="0000CC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Удаляет элементы</a:t>
                      </a:r>
                      <a:r>
                        <a:rPr lang="ru-RU" sz="24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из диапазона </a:t>
                      </a:r>
                      <a:r>
                        <a:rPr lang="en-US" sz="2400" kern="1200" dirty="0" err="1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iter</a:t>
                      </a:r>
                      <a:r>
                        <a:rPr lang="ru-RU" sz="2400" kern="1200" dirty="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1 –</a:t>
                      </a:r>
                      <a:r>
                        <a:rPr lang="en-US" sz="2400" kern="1200" dirty="0" err="1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iter</a:t>
                      </a:r>
                      <a:r>
                        <a:rPr lang="ru-RU" sz="2400" kern="1200" dirty="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940935"/>
                  </a:ext>
                </a:extLst>
              </a:tr>
              <a:tr h="378550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69834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72384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45201" y="130626"/>
            <a:ext cx="6589199" cy="638632"/>
          </a:xfrm>
        </p:spPr>
        <p:txBody>
          <a:bodyPr>
            <a:normAutofit/>
          </a:bodyPr>
          <a:lstStyle/>
          <a:p>
            <a:pPr algn="ctr"/>
            <a:r>
              <a:rPr lang="ru-RU" sz="2800" b="1" dirty="0">
                <a:solidFill>
                  <a:srgbClr val="C00000"/>
                </a:solidFill>
              </a:rPr>
              <a:t>ИТЕРАТОРЫ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86971" y="667657"/>
            <a:ext cx="7982858" cy="6190343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ru-RU" sz="20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Итератор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( </a:t>
            </a:r>
            <a:r>
              <a:rPr lang="ru-RU" sz="2000" i="1" dirty="0" err="1">
                <a:latin typeface="Arial" panose="020B0604020202020204" pitchFamily="34" charset="0"/>
                <a:cs typeface="Arial" panose="020B0604020202020204" pitchFamily="34" charset="0"/>
              </a:rPr>
              <a:t>iterator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―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перечислитель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) —это </a:t>
            </a:r>
            <a:r>
              <a:rPr lang="ru-RU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объект, предоставляющий доступ к элементам коллекции (массива или контейнера) и навигацию по ним.</a:t>
            </a:r>
          </a:p>
          <a:p>
            <a:pPr marL="0" indent="0">
              <a:buNone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Синтаксис описания итератора:</a:t>
            </a:r>
          </a:p>
          <a:p>
            <a:pPr marL="0" indent="0">
              <a:buNone/>
            </a:pP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ru-RU" sz="2000" i="1" dirty="0">
                <a:latin typeface="Arial" panose="020B0604020202020204" pitchFamily="34" charset="0"/>
                <a:cs typeface="Arial" panose="020B0604020202020204" pitchFamily="34" charset="0"/>
              </a:rPr>
              <a:t>Пример:</a:t>
            </a:r>
          </a:p>
          <a:p>
            <a:pPr marL="0" indent="0"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vector &lt;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&gt;::iterator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iter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Для каждого контейнера определены 2 функции: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begin() – </a:t>
            </a:r>
            <a:r>
              <a:rPr lang="ru-RU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возвращает итератор, указывающий  на первый элемент вектора ( обращение</a:t>
            </a: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iVec.begin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()=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iVec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[0]</a:t>
            </a: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 </a:t>
            </a:r>
            <a:r>
              <a:rPr lang="ru-RU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lang="en-US" sz="20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arenR"/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end() - </a:t>
            </a:r>
            <a:r>
              <a:rPr lang="ru-RU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возвращает итератор, указывающий  на элемент, следующий за последним в векторе;</a:t>
            </a:r>
            <a:endParaRPr lang="ru-RU" sz="20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1103086" y="2111830"/>
            <a:ext cx="7866743" cy="75474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vector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ru-RU" sz="2000" b="1" dirty="0" err="1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тип_элементов</a:t>
            </a:r>
            <a:r>
              <a:rPr lang="en-US" sz="24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&gt;::iterator </a:t>
            </a:r>
            <a:r>
              <a:rPr lang="ru-RU" sz="2000" b="1" dirty="0" err="1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имя_итератора</a:t>
            </a:r>
            <a:r>
              <a:rPr lang="en-US" sz="20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;</a:t>
            </a:r>
            <a:endParaRPr lang="ru-RU" sz="2000" b="1" dirty="0">
              <a:solidFill>
                <a:srgbClr val="0000C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46037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07886" y="116110"/>
            <a:ext cx="7126514" cy="551547"/>
          </a:xfrm>
        </p:spPr>
        <p:txBody>
          <a:bodyPr>
            <a:normAutofit/>
          </a:bodyPr>
          <a:lstStyle/>
          <a:p>
            <a:pPr algn="ctr"/>
            <a:r>
              <a:rPr lang="ru-RU" sz="2800" b="1" dirty="0">
                <a:solidFill>
                  <a:srgbClr val="C00000"/>
                </a:solidFill>
              </a:rPr>
              <a:t>Операции над итераторами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93486" y="667657"/>
            <a:ext cx="8752113" cy="6190343"/>
          </a:xfrm>
        </p:spPr>
        <p:txBody>
          <a:bodyPr/>
          <a:lstStyle/>
          <a:p>
            <a:pPr marL="857250" lvl="2" indent="0">
              <a:buNone/>
            </a:pPr>
            <a:r>
              <a:rPr lang="ru-RU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1) </a:t>
            </a:r>
            <a:r>
              <a:rPr lang="ru-RU" sz="2000" b="1" dirty="0">
                <a:solidFill>
                  <a:srgbClr val="0000CC"/>
                </a:solidFill>
              </a:rPr>
              <a:t>Инкремент, декремент </a:t>
            </a:r>
          </a:p>
          <a:p>
            <a:pPr marL="0" indent="0">
              <a:buNone/>
            </a:pP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iter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++  </a:t>
            </a:r>
            <a:r>
              <a:rPr lang="ru-RU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перемещает итератор на следующий элемент</a:t>
            </a:r>
          </a:p>
          <a:p>
            <a:pPr marL="0" indent="0">
              <a:buNone/>
            </a:pP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iter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--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ru-RU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перемещает итератор на предыдущий элемент</a:t>
            </a:r>
          </a:p>
          <a:p>
            <a:pPr>
              <a:buFont typeface="+mj-lt"/>
              <a:buAutoNum type="arabicParenR"/>
            </a:pP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2) </a:t>
            </a:r>
            <a:r>
              <a:rPr lang="ru-RU" sz="2000" b="1" dirty="0">
                <a:solidFill>
                  <a:srgbClr val="0000CC"/>
                </a:solidFill>
              </a:rPr>
              <a:t>сложение/вычитание с константой </a:t>
            </a:r>
            <a:endParaRPr lang="en-US" sz="2000" b="1" dirty="0">
              <a:solidFill>
                <a:srgbClr val="0000CC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CC"/>
                </a:solidFill>
              </a:rPr>
              <a:t>	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iter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+ n  </a:t>
            </a:r>
            <a:r>
              <a:rPr lang="ru-RU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или</a:t>
            </a:r>
            <a:r>
              <a:rPr lang="ru-RU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iter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–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US" sz="2000" dirty="0">
                <a:solidFill>
                  <a:srgbClr val="0000CC"/>
                </a:solidFill>
              </a:rPr>
              <a:t>  </a:t>
            </a:r>
          </a:p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3</a:t>
            </a:r>
            <a:r>
              <a:rPr lang="en-US" sz="2000" b="1" dirty="0">
                <a:solidFill>
                  <a:srgbClr val="C00000"/>
                </a:solidFill>
              </a:rPr>
              <a:t>) </a:t>
            </a:r>
            <a:r>
              <a:rPr lang="ru-RU" sz="2000" b="1" dirty="0">
                <a:solidFill>
                  <a:srgbClr val="C00000"/>
                </a:solidFill>
              </a:rPr>
              <a:t> </a:t>
            </a:r>
            <a:r>
              <a:rPr lang="ru-RU" sz="2000" b="1" dirty="0">
                <a:solidFill>
                  <a:srgbClr val="0000CC"/>
                </a:solidFill>
              </a:rPr>
              <a:t>сложение/вычитание двух итераторов</a:t>
            </a:r>
          </a:p>
          <a:p>
            <a:pPr marL="0" indent="0"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iter</a:t>
            </a:r>
            <a:r>
              <a:rPr lang="ru-RU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iter</a:t>
            </a:r>
            <a:r>
              <a:rPr lang="ru-RU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ru-RU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или</a:t>
            </a:r>
            <a:r>
              <a:rPr lang="ru-RU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iter</a:t>
            </a:r>
            <a:r>
              <a:rPr lang="ru-RU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–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iter</a:t>
            </a:r>
            <a:r>
              <a:rPr lang="ru-RU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4) </a:t>
            </a:r>
            <a:r>
              <a:rPr lang="en-US" sz="2800" b="1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ru-RU" sz="2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ru-RU" sz="2000" b="1" dirty="0">
                <a:solidFill>
                  <a:srgbClr val="0000CC"/>
                </a:solidFill>
              </a:rPr>
              <a:t>возвращает значение, на которое указывает итератор</a:t>
            </a:r>
          </a:p>
          <a:p>
            <a:pPr marL="0" indent="0">
              <a:buNone/>
            </a:pPr>
            <a:r>
              <a:rPr lang="ru-RU" i="1" dirty="0">
                <a:latin typeface="Arial" panose="020B0604020202020204" pitchFamily="34" charset="0"/>
                <a:cs typeface="Arial" panose="020B0604020202020204" pitchFamily="34" charset="0"/>
              </a:rPr>
              <a:t>Пример:</a:t>
            </a:r>
          </a:p>
          <a:p>
            <a:pPr marL="0" indent="0">
              <a:buNone/>
            </a:pPr>
            <a:r>
              <a:rPr lang="en-US" sz="23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 ( vector &lt;int&gt;::iterator </a:t>
            </a:r>
            <a:r>
              <a:rPr lang="en-US" sz="2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iter</a:t>
            </a:r>
            <a:r>
              <a:rPr lang="en-US" sz="2300" b="1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2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iVec</a:t>
            </a:r>
            <a:r>
              <a:rPr lang="ru-RU" sz="2300" b="1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2300" b="1" dirty="0">
                <a:latin typeface="Courier New" panose="02070309020205020404" pitchFamily="49" charset="0"/>
                <a:cs typeface="Courier New" panose="02070309020205020404" pitchFamily="49" charset="0"/>
              </a:rPr>
              <a:t>begin() ; </a:t>
            </a:r>
          </a:p>
          <a:p>
            <a:pPr marL="0" indent="0">
              <a:buNone/>
            </a:pPr>
            <a:r>
              <a:rPr lang="en-US" sz="23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iter</a:t>
            </a:r>
            <a:r>
              <a:rPr lang="en-US" sz="2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 </a:t>
            </a:r>
            <a:r>
              <a:rPr lang="en-US" sz="2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iVec.end</a:t>
            </a:r>
            <a:r>
              <a:rPr lang="en-US" sz="23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(); </a:t>
            </a:r>
            <a:r>
              <a:rPr lang="en-US" sz="2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iter</a:t>
            </a:r>
            <a:r>
              <a:rPr lang="en-US" sz="23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</a:t>
            </a:r>
            <a:r>
              <a:rPr lang="en-US" sz="23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23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3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&lt;&lt; </a:t>
            </a:r>
            <a:r>
              <a:rPr lang="en-US" sz="23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sz="2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iter</a:t>
            </a:r>
            <a:r>
              <a:rPr lang="en-US" sz="2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&lt;&lt;</a:t>
            </a:r>
            <a:r>
              <a:rPr lang="en-US" sz="2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23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endParaRPr lang="ru-RU" sz="23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50285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942416" y="1063172"/>
            <a:ext cx="6600451" cy="2262781"/>
          </a:xfrm>
        </p:spPr>
        <p:txBody>
          <a:bodyPr/>
          <a:lstStyle/>
          <a:p>
            <a:r>
              <a:rPr lang="ru-RU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Алгоритмы </a:t>
            </a:r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STL</a:t>
            </a:r>
            <a:endParaRPr lang="ru-RU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50711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1262743" y="595086"/>
            <a:ext cx="7271657" cy="5316136"/>
          </a:xfrm>
        </p:spPr>
        <p:txBody>
          <a:bodyPr/>
          <a:lstStyle/>
          <a:p>
            <a:pPr marL="0" indent="0">
              <a:buNone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Подключение 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 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algorithm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В дополнение к набору функций обработки контейнеров библиотека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STL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предоставляет набор алгоритмов, которые не зависят от типа контейнера и выполняют такие действия: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поиск,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замена,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удаление,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сортировка ,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И другие 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84704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02564272"/>
              </p:ext>
            </p:extLst>
          </p:nvPr>
        </p:nvGraphicFramePr>
        <p:xfrm>
          <a:off x="232229" y="135219"/>
          <a:ext cx="8911771" cy="64178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81714">
                  <a:extLst>
                    <a:ext uri="{9D8B030D-6E8A-4147-A177-3AD203B41FA5}">
                      <a16:colId xmlns:a16="http://schemas.microsoft.com/office/drawing/2014/main" val="3122427361"/>
                    </a:ext>
                  </a:extLst>
                </a:gridCol>
                <a:gridCol w="4630057">
                  <a:extLst>
                    <a:ext uri="{9D8B030D-6E8A-4147-A177-3AD203B41FA5}">
                      <a16:colId xmlns:a16="http://schemas.microsoft.com/office/drawing/2014/main" val="4020514463"/>
                    </a:ext>
                  </a:extLst>
                </a:gridCol>
              </a:tblGrid>
              <a:tr h="40969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Функция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76200" marR="76200" marT="76200" marB="7620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Пояснение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76200" marR="76200" marT="76200" marB="76200" anchor="b"/>
                </a:tc>
                <a:extLst>
                  <a:ext uri="{0D108BD9-81ED-4DB2-BD59-A6C34878D82A}">
                    <a16:rowId xmlns:a16="http://schemas.microsoft.com/office/drawing/2014/main" val="3436449022"/>
                  </a:ext>
                </a:extLst>
              </a:tr>
              <a:tr h="356786">
                <a:tc>
                  <a:txBody>
                    <a:bodyPr/>
                    <a:lstStyle/>
                    <a:p>
                      <a:pPr algn="l" rtl="0" eaLnBrk="1" latinLnBrk="0" hangingPunct="1"/>
                      <a:r>
                        <a:rPr lang="en-US" sz="2100" b="1" kern="1200" dirty="0">
                          <a:solidFill>
                            <a:srgbClr val="C00000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find(first</a:t>
                      </a:r>
                      <a:r>
                        <a:rPr lang="en-US" sz="2000" b="1" kern="1200" dirty="0">
                          <a:solidFill>
                            <a:srgbClr val="C00000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,</a:t>
                      </a:r>
                      <a:r>
                        <a:rPr lang="en-US" sz="2000" b="1" kern="1200" baseline="0" dirty="0">
                          <a:solidFill>
                            <a:srgbClr val="C00000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last,</a:t>
                      </a:r>
                      <a:r>
                        <a:rPr lang="ru-RU" sz="2000" b="1" kern="1200" baseline="0" dirty="0">
                          <a:solidFill>
                            <a:srgbClr val="C00000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2000" b="1" kern="1200" baseline="0" dirty="0">
                          <a:solidFill>
                            <a:srgbClr val="C00000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value)</a:t>
                      </a:r>
                      <a:endParaRPr lang="ru-RU" sz="2000" b="1" kern="1200" dirty="0">
                        <a:solidFill>
                          <a:srgbClr val="C00000"/>
                        </a:solidFill>
                        <a:effectLst/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Ищет</a:t>
                      </a:r>
                      <a:r>
                        <a:rPr lang="ru-RU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в заданном диапазоне первый элемент, равный </a:t>
                      </a:r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  <a:r>
                        <a:rPr lang="ru-RU" sz="1800" b="1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ru-RU" sz="1800" b="0" kern="1200" baseline="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Возвращает итератор на найденный элемент.</a:t>
                      </a:r>
                      <a:endParaRPr lang="ru-RU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915472226"/>
                  </a:ext>
                </a:extLst>
              </a:tr>
              <a:tr h="356786"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kern="1200" dirty="0">
                          <a:solidFill>
                            <a:srgbClr val="C00000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count (first,</a:t>
                      </a:r>
                      <a:r>
                        <a:rPr lang="ru-RU" sz="2000" b="1" kern="1200" dirty="0">
                          <a:solidFill>
                            <a:srgbClr val="C00000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2000" b="1" kern="1200" dirty="0">
                          <a:solidFill>
                            <a:srgbClr val="C00000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last,</a:t>
                      </a:r>
                      <a:r>
                        <a:rPr lang="ru-RU" sz="2000" b="1" kern="1200" dirty="0">
                          <a:solidFill>
                            <a:srgbClr val="C00000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2000" b="1" kern="1200" dirty="0">
                          <a:solidFill>
                            <a:srgbClr val="C00000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value</a:t>
                      </a:r>
                      <a:r>
                        <a:rPr lang="en-US" sz="2000" b="1" kern="1200" baseline="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sz="2000" b="0" i="0" u="none" strike="noStrike" dirty="0"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0" marR="0" indent="0" algn="l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Подсчитывает , сколько раз в заданном диапазоне встречается элемент со значением </a:t>
                      </a:r>
                      <a:r>
                        <a:rPr lang="ru-RU" sz="180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  <a:r>
                        <a:rPr lang="ru-RU" sz="1800" b="1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ru-RU" sz="1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528177378"/>
                  </a:ext>
                </a:extLst>
              </a:tr>
              <a:tr h="356786"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kern="1200" dirty="0">
                          <a:solidFill>
                            <a:srgbClr val="C00000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sort(first, last)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0" marR="0" indent="0" algn="l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Сортирует объекты</a:t>
                      </a:r>
                      <a:r>
                        <a:rPr lang="ru-RU" sz="18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в заданном диапазоне</a:t>
                      </a:r>
                      <a:endParaRPr lang="ru-RU" sz="1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4236955132"/>
                  </a:ext>
                </a:extLst>
              </a:tr>
              <a:tr h="356786"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kern="1200" dirty="0" err="1">
                          <a:solidFill>
                            <a:srgbClr val="C00000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replase</a:t>
                      </a:r>
                      <a:r>
                        <a:rPr lang="en-US" sz="2000" b="1" kern="1200" dirty="0">
                          <a:solidFill>
                            <a:srgbClr val="C00000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2000" b="1" kern="1200" dirty="0" err="1">
                          <a:solidFill>
                            <a:srgbClr val="C00000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first,last,old,new</a:t>
                      </a:r>
                      <a:r>
                        <a:rPr lang="en-US" sz="2000" b="1" kern="1200" dirty="0">
                          <a:solidFill>
                            <a:srgbClr val="C00000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)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0" marR="0" indent="0" algn="l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 заданном диапазоне заменяет все объекты равные </a:t>
                      </a:r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old</a:t>
                      </a:r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,</a:t>
                      </a:r>
                      <a:r>
                        <a:rPr lang="ru-RU" sz="18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о</a:t>
                      </a:r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бъектами равными  </a:t>
                      </a:r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new</a:t>
                      </a:r>
                      <a:r>
                        <a:rPr lang="ru-RU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ru-RU" sz="1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3435032087"/>
                  </a:ext>
                </a:extLst>
              </a:tr>
              <a:tr h="356786"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kern="1200" dirty="0">
                          <a:solidFill>
                            <a:srgbClr val="C00000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remove(first, last,</a:t>
                      </a:r>
                      <a:r>
                        <a:rPr lang="ru-RU" sz="2000" b="1" kern="1200" dirty="0">
                          <a:solidFill>
                            <a:srgbClr val="C00000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2000" b="1" kern="1200" dirty="0">
                          <a:solidFill>
                            <a:srgbClr val="C00000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value)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0" marR="0" indent="0" algn="l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Удаляет из заданного диапазона все объекты равные </a:t>
                      </a:r>
                      <a:r>
                        <a:rPr lang="ru-RU" sz="180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1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  <a:r>
                        <a:rPr lang="ru-RU" sz="1800" b="1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="0" kern="1200" baseline="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 элементы, которые надо удалить перемещаются в конец контейнера, и алгоритм возвращает итератор на начало последовательности удаляемых элементов)</a:t>
                      </a:r>
                      <a:endParaRPr lang="ru-RU" sz="1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38499295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39979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Объект 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13452204"/>
              </p:ext>
            </p:extLst>
          </p:nvPr>
        </p:nvGraphicFramePr>
        <p:xfrm>
          <a:off x="217713" y="702356"/>
          <a:ext cx="8642578" cy="38030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30487">
                  <a:extLst>
                    <a:ext uri="{9D8B030D-6E8A-4147-A177-3AD203B41FA5}">
                      <a16:colId xmlns:a16="http://schemas.microsoft.com/office/drawing/2014/main" val="2455060938"/>
                    </a:ext>
                  </a:extLst>
                </a:gridCol>
                <a:gridCol w="4212091">
                  <a:extLst>
                    <a:ext uri="{9D8B030D-6E8A-4147-A177-3AD203B41FA5}">
                      <a16:colId xmlns:a16="http://schemas.microsoft.com/office/drawing/2014/main" val="38180877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400" b="1" i="0" u="none" strike="noStrike" kern="120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Функция</a:t>
                      </a:r>
                      <a:endParaRPr lang="ru-RU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0" marR="76200" marT="76200" marB="76200" anchor="b"/>
                </a:tc>
                <a:tc>
                  <a:txBody>
                    <a:bodyPr/>
                    <a:lstStyle/>
                    <a:p>
                      <a:pPr marL="0" algn="ctr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4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Пояснение</a:t>
                      </a:r>
                      <a:endParaRPr lang="ru-RU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0" marR="76200" marT="76200" marB="76200" anchor="b"/>
                </a:tc>
                <a:extLst>
                  <a:ext uri="{0D108BD9-81ED-4DB2-BD59-A6C34878D82A}">
                    <a16:rowId xmlns:a16="http://schemas.microsoft.com/office/drawing/2014/main" val="1506494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kern="1200" dirty="0" err="1">
                          <a:solidFill>
                            <a:srgbClr val="C00000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min_element</a:t>
                      </a:r>
                      <a:r>
                        <a:rPr lang="en-US" sz="2200" b="1" kern="1200" dirty="0">
                          <a:solidFill>
                            <a:srgbClr val="C00000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2200" b="1" kern="1200" dirty="0" err="1">
                          <a:solidFill>
                            <a:srgbClr val="C00000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first,</a:t>
                      </a:r>
                      <a:r>
                        <a:rPr lang="en-US" sz="2200" b="1" kern="1200" baseline="0" dirty="0" err="1">
                          <a:solidFill>
                            <a:srgbClr val="C00000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last</a:t>
                      </a:r>
                      <a:r>
                        <a:rPr lang="en-US" sz="2200" b="1" kern="1200" baseline="0" dirty="0">
                          <a:solidFill>
                            <a:srgbClr val="C00000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)</a:t>
                      </a:r>
                      <a:endParaRPr lang="ru-RU" sz="2200" dirty="0">
                        <a:solidFill>
                          <a:srgbClr val="C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endParaRPr lang="ru-RU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Возвращает</a:t>
                      </a:r>
                      <a:r>
                        <a:rPr lang="ru-RU" sz="20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итератор, указывающий на наименьший элемент в заданном диапазоне</a:t>
                      </a:r>
                      <a:endParaRPr lang="ru-RU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46983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kern="1200" dirty="0" err="1">
                          <a:solidFill>
                            <a:srgbClr val="C00000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max_element</a:t>
                      </a:r>
                      <a:r>
                        <a:rPr lang="en-US" sz="2200" b="1" kern="1200" dirty="0">
                          <a:solidFill>
                            <a:srgbClr val="C00000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2200" b="1" kern="1200" dirty="0" err="1">
                          <a:solidFill>
                            <a:srgbClr val="C00000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first</a:t>
                      </a:r>
                      <a:r>
                        <a:rPr lang="en-US" sz="2200" b="1" kern="1200" err="1">
                          <a:solidFill>
                            <a:srgbClr val="C00000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,</a:t>
                      </a:r>
                      <a:r>
                        <a:rPr lang="en-US" sz="2200" b="1" kern="1200">
                          <a:solidFill>
                            <a:srgbClr val="C00000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last)</a:t>
                      </a:r>
                      <a:endParaRPr lang="ru-RU" sz="2200" b="1" kern="1200" dirty="0">
                        <a:solidFill>
                          <a:srgbClr val="C00000"/>
                        </a:solidFill>
                        <a:effectLst/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  <a:p>
                      <a:endParaRPr lang="ru-RU" sz="2200" b="1" kern="1200" dirty="0">
                        <a:solidFill>
                          <a:srgbClr val="C00000"/>
                        </a:solidFill>
                        <a:effectLst/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Возвращает итератор, указывающий на наибольший элемент в заданном диапазоне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22411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2200" b="1" kern="1200" dirty="0" err="1">
                          <a:solidFill>
                            <a:srgbClr val="C00000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iter_swap</a:t>
                      </a:r>
                      <a:r>
                        <a:rPr lang="en-US" sz="2200" b="1" kern="1200" dirty="0">
                          <a:solidFill>
                            <a:srgbClr val="C00000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(iter1,iter2)</a:t>
                      </a:r>
                      <a:endParaRPr lang="ru-RU" sz="2200" b="1" kern="1200" dirty="0">
                        <a:solidFill>
                          <a:srgbClr val="C00000"/>
                        </a:solidFill>
                        <a:effectLst/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Меняет местами объект на который указывает </a:t>
                      </a:r>
                      <a:r>
                        <a:rPr lang="en-US" sz="20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iter1</a:t>
                      </a:r>
                      <a:r>
                        <a:rPr lang="ru-RU" sz="2000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с объектом на который указывает </a:t>
                      </a:r>
                      <a:r>
                        <a:rPr lang="en-US" sz="2000" b="1" kern="1200" baseline="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iter</a:t>
                      </a:r>
                      <a:r>
                        <a:rPr lang="ru-RU" sz="2000" b="1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10827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66973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4180" y="112323"/>
            <a:ext cx="8626964" cy="5998191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buNone/>
            </a:pPr>
            <a:endParaRPr lang="ru-RU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600"/>
              </a:spcBef>
              <a:buNone/>
            </a:pPr>
            <a:endParaRPr lang="ru-RU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3"/>
          <a:srcRect l="957" t="14831" r="62382" b="35565"/>
          <a:stretch/>
        </p:blipFill>
        <p:spPr>
          <a:xfrm>
            <a:off x="154180" y="112323"/>
            <a:ext cx="8628744" cy="6563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9225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831" t="42707" r="52003" b="19161"/>
          <a:stretch/>
        </p:blipFill>
        <p:spPr>
          <a:xfrm>
            <a:off x="130629" y="624114"/>
            <a:ext cx="9013371" cy="4278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0866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00172" y="159652"/>
            <a:ext cx="6589199" cy="478976"/>
          </a:xfrm>
        </p:spPr>
        <p:txBody>
          <a:bodyPr>
            <a:normAutofit/>
          </a:bodyPr>
          <a:lstStyle/>
          <a:p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Результат:</a:t>
            </a: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5752" t="10772" r="69962" b="46536"/>
          <a:stretch/>
        </p:blipFill>
        <p:spPr>
          <a:xfrm>
            <a:off x="275772" y="638628"/>
            <a:ext cx="3976914" cy="3930424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3"/>
          <a:srcRect l="2144" t="3521" r="74368" b="55605"/>
          <a:stretch/>
        </p:blipFill>
        <p:spPr>
          <a:xfrm>
            <a:off x="4891313" y="653353"/>
            <a:ext cx="4002315" cy="3915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1989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/>
          <a:srcRect l="11625" t="21181" r="44646" b="48066"/>
          <a:stretch/>
        </p:blipFill>
        <p:spPr>
          <a:xfrm>
            <a:off x="841829" y="1426024"/>
            <a:ext cx="7965440" cy="3149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0774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Объект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 rotWithShape="1">
          <a:blip r:embed="rId2"/>
          <a:srcRect l="6122" t="19263" r="51117" b="25446"/>
          <a:stretch/>
        </p:blipFill>
        <p:spPr>
          <a:xfrm>
            <a:off x="188686" y="145141"/>
            <a:ext cx="8955314" cy="651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0388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203672" y="2394857"/>
            <a:ext cx="6591985" cy="3777622"/>
          </a:xfrm>
        </p:spPr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/>
          <a:srcRect l="10157" t="18297" r="48160" b="33781"/>
          <a:stretch/>
        </p:blipFill>
        <p:spPr>
          <a:xfrm>
            <a:off x="116932" y="562706"/>
            <a:ext cx="8910953" cy="5759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5291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66229" y="115329"/>
            <a:ext cx="2989655" cy="552038"/>
          </a:xfrm>
        </p:spPr>
        <p:txBody>
          <a:bodyPr>
            <a:normAutofit/>
          </a:bodyPr>
          <a:lstStyle/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Результат: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/>
          <a:srcRect l="5937" t="11062" r="66399" b="36557"/>
          <a:stretch/>
        </p:blipFill>
        <p:spPr>
          <a:xfrm>
            <a:off x="275773" y="667367"/>
            <a:ext cx="3831332" cy="4078516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3"/>
          <a:srcRect l="11738" t="21776" r="64764" b="38740"/>
          <a:stretch/>
        </p:blipFill>
        <p:spPr>
          <a:xfrm>
            <a:off x="4455884" y="694298"/>
            <a:ext cx="4223658" cy="3990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2605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35715" y="0"/>
            <a:ext cx="8708285" cy="783771"/>
          </a:xfrm>
        </p:spPr>
        <p:txBody>
          <a:bodyPr>
            <a:normAutofit/>
          </a:bodyPr>
          <a:lstStyle/>
          <a:p>
            <a:pPr algn="ctr"/>
            <a:r>
              <a:rPr lang="ru-RU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Добавление </a:t>
            </a:r>
            <a:r>
              <a:rPr lang="en-US" sz="3200" b="1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_if </a:t>
            </a:r>
            <a:r>
              <a:rPr lang="ru-RU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 названию алгоритма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219201" y="653143"/>
            <a:ext cx="7750628" cy="5892800"/>
          </a:xfrm>
        </p:spPr>
        <p:txBody>
          <a:bodyPr>
            <a:normAutofit lnSpcReduction="10000"/>
          </a:bodyPr>
          <a:lstStyle/>
          <a:p>
            <a:endParaRPr lang="ru-RU" dirty="0"/>
          </a:p>
          <a:p>
            <a:pPr marL="0" indent="0">
              <a:buNone/>
            </a:pPr>
            <a:r>
              <a:rPr lang="ru-RU" dirty="0"/>
              <a:t>	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Некоторые алгоритмы имеют версии с окончанием </a:t>
            </a:r>
            <a:r>
              <a:rPr lang="ru-RU" sz="2000" b="1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</a:t>
            </a:r>
            <a:r>
              <a:rPr lang="en-US" sz="2000" b="1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0" indent="0">
              <a:buNone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Для версий с окончанием </a:t>
            </a:r>
            <a:r>
              <a:rPr lang="en-US" sz="2000" b="1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_if</a:t>
            </a:r>
            <a:r>
              <a:rPr lang="ru-RU" sz="2000" b="1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требуется дополнительный параметр, который называется </a:t>
            </a:r>
            <a:r>
              <a:rPr lang="ru-RU" sz="2000" i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предикатом </a:t>
            </a:r>
            <a:r>
              <a:rPr lang="ru-RU"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(например</a:t>
            </a:r>
            <a:r>
              <a:rPr lang="ru-RU" sz="2000" i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find_if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count_if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replace_if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remove_if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ru-RU" sz="20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sz="2000" b="1" i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Предикат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–это функция, которая возвращает значение </a:t>
            </a:r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true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, если условие выполняется, и </a:t>
            </a:r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false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в противном случае</a:t>
            </a:r>
          </a:p>
          <a:p>
            <a:pPr marL="0" indent="0">
              <a:buNone/>
            </a:pPr>
            <a:endParaRPr lang="en-US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Например:</a:t>
            </a:r>
            <a:r>
              <a:rPr lang="ru-RU" sz="20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найти в контейнере первый положительный элемент</a:t>
            </a:r>
          </a:p>
          <a:p>
            <a:pPr marL="0" indent="1262063">
              <a:spcBef>
                <a:spcPts val="0"/>
              </a:spcBef>
              <a:buNone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bool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Pred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x)</a:t>
            </a:r>
          </a:p>
          <a:p>
            <a:pPr marL="0" indent="1262063">
              <a:spcBef>
                <a:spcPts val="0"/>
              </a:spcBef>
              <a:buNone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</a:p>
          <a:p>
            <a:pPr marL="0" indent="1262063">
              <a:spcBef>
                <a:spcPts val="0"/>
              </a:spcBef>
              <a:buNone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return (x&gt;0)</a:t>
            </a:r>
          </a:p>
          <a:p>
            <a:pPr marL="0" indent="1262063">
              <a:spcBef>
                <a:spcPts val="0"/>
              </a:spcBef>
              <a:buNone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Тогда функция </a:t>
            </a:r>
            <a:r>
              <a:rPr lang="en-US" sz="24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find_if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для задачи будет иметь вид:</a:t>
            </a:r>
          </a:p>
          <a:p>
            <a:pPr marL="0" indent="0">
              <a:spcBef>
                <a:spcPts val="0"/>
              </a:spcBef>
              <a:buNone/>
            </a:pPr>
            <a:endParaRPr lang="ru-RU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vector &lt;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&gt;::iterator it </a:t>
            </a:r>
            <a:r>
              <a:rPr lang="ru-RU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find_if</a:t>
            </a:r>
            <a:r>
              <a:rPr lang="ru-RU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iVec.begin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(),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iVec.end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sz="2000" b="1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000" b="1" dirty="0" err="1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Pred</a:t>
            </a:r>
            <a:r>
              <a:rPr lang="ru-RU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ru-RU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5693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711200" y="116114"/>
            <a:ext cx="8432799" cy="6741886"/>
          </a:xfrm>
        </p:spPr>
        <p:txBody>
          <a:bodyPr/>
          <a:lstStyle/>
          <a:p>
            <a:pPr marL="0" indent="0">
              <a:buNone/>
            </a:pP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2"/>
          <a:srcRect l="7131" t="19443" r="60251" b="21364"/>
          <a:stretch/>
        </p:blipFill>
        <p:spPr>
          <a:xfrm>
            <a:off x="1601650" y="93640"/>
            <a:ext cx="6651898" cy="6786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6326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Объект 2"/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10494" t="22759" r="48174" b="42842"/>
          <a:stretch/>
        </p:blipFill>
        <p:spPr>
          <a:xfrm>
            <a:off x="246743" y="539205"/>
            <a:ext cx="9013371" cy="4217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2055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14150" y="150126"/>
            <a:ext cx="8420668" cy="660551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                            </a:t>
            </a:r>
            <a:endParaRPr lang="ru-RU" cap="none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2"/>
          <a:srcRect l="9841" t="18006" r="63052" b="37351"/>
          <a:stretch/>
        </p:blipFill>
        <p:spPr>
          <a:xfrm>
            <a:off x="1814286" y="319313"/>
            <a:ext cx="5994400" cy="5550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968648"/>
      </p:ext>
    </p:extLst>
  </p:cSld>
  <p:clrMapOvr>
    <a:masterClrMapping/>
  </p:clrMapOvr>
</p:sld>
</file>

<file path=ppt/theme/theme1.xml><?xml version="1.0" encoding="utf-8"?>
<a:theme xmlns:a="http://schemas.openxmlformats.org/drawingml/2006/main" name="Легкий дым">
  <a:themeElements>
    <a:clrScheme name="Легкий дым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Легкий дым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Легкий дым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1347</TotalTime>
  <Words>1462</Words>
  <Application>Microsoft Office PowerPoint</Application>
  <PresentationFormat>Экран (4:3)</PresentationFormat>
  <Paragraphs>222</Paragraphs>
  <Slides>31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31</vt:i4>
      </vt:variant>
    </vt:vector>
  </HeadingPairs>
  <TitlesOfParts>
    <vt:vector size="41" baseType="lpstr">
      <vt:lpstr>Arial</vt:lpstr>
      <vt:lpstr>Calibri</vt:lpstr>
      <vt:lpstr>Century Gothic</vt:lpstr>
      <vt:lpstr>Consolas</vt:lpstr>
      <vt:lpstr>Courier New</vt:lpstr>
      <vt:lpstr>Helvetica Neue</vt:lpstr>
      <vt:lpstr>Times New Roman</vt:lpstr>
      <vt:lpstr>Wingdings</vt:lpstr>
      <vt:lpstr>Wingdings 3</vt:lpstr>
      <vt:lpstr>Легкий дым</vt:lpstr>
      <vt:lpstr>КЛАСС-КОНТЕЙНЕР ВЕКТОР</vt:lpstr>
      <vt:lpstr>Заголовочный файл: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Для инициализации вектора можно использовать       конструкторы:</vt:lpstr>
      <vt:lpstr>Презентация PowerPoint</vt:lpstr>
      <vt:lpstr>Характеристики вектора:</vt:lpstr>
      <vt:lpstr>Презентация PowerPoint</vt:lpstr>
      <vt:lpstr>Презентация PowerPoint</vt:lpstr>
      <vt:lpstr>Презентация PowerPoint</vt:lpstr>
      <vt:lpstr>Функции</vt:lpstr>
      <vt:lpstr>ИТЕРАТОРЫ</vt:lpstr>
      <vt:lpstr>Операции над итераторами</vt:lpstr>
      <vt:lpstr>Алгоритмы STL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Результат:</vt:lpstr>
      <vt:lpstr>Презентация PowerPoint</vt:lpstr>
      <vt:lpstr>Презентация PowerPoint</vt:lpstr>
      <vt:lpstr>Презентация PowerPoint</vt:lpstr>
      <vt:lpstr>Результат:</vt:lpstr>
      <vt:lpstr>Добавление _if к названию алгоритма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Строки в С++</dc:title>
  <dc:creator>Ира</dc:creator>
  <cp:lastModifiedBy>Ира Рохманько</cp:lastModifiedBy>
  <cp:revision>130</cp:revision>
  <dcterms:created xsi:type="dcterms:W3CDTF">2017-03-25T15:22:45Z</dcterms:created>
  <dcterms:modified xsi:type="dcterms:W3CDTF">2023-11-21T13:22:25Z</dcterms:modified>
</cp:coreProperties>
</file>