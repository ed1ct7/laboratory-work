
<file path=[Content_Types].xml><?xml version="1.0" encoding="utf-8"?>
<Types xmlns="http://schemas.openxmlformats.org/package/2006/content-types">
  <Default Extension="bin" ContentType="audio/unknown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8"/>
  </p:notesMasterIdLst>
  <p:sldIdLst>
    <p:sldId id="256" r:id="rId2"/>
    <p:sldId id="264" r:id="rId3"/>
    <p:sldId id="265" r:id="rId4"/>
    <p:sldId id="267" r:id="rId5"/>
    <p:sldId id="275" r:id="rId6"/>
    <p:sldId id="274" r:id="rId7"/>
    <p:sldId id="273" r:id="rId8"/>
    <p:sldId id="276" r:id="rId9"/>
    <p:sldId id="277" r:id="rId10"/>
    <p:sldId id="270" r:id="rId11"/>
    <p:sldId id="278" r:id="rId12"/>
    <p:sldId id="280" r:id="rId13"/>
    <p:sldId id="281" r:id="rId14"/>
    <p:sldId id="266" r:id="rId15"/>
    <p:sldId id="279" r:id="rId16"/>
    <p:sldId id="282" r:id="rId1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90" y="17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4ED1C2-7C51-42BA-ADD2-58DAAC7B1B35}" type="datetimeFigureOut">
              <a:rPr lang="ru-RU" smtClean="0"/>
              <a:pPr/>
              <a:t>24.04.2022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00F460-AA45-4BA2-9230-02932853820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6417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BE848A2-5680-44D3-A129-8DE2945EC384}" type="datetimeFigureOut">
              <a:rPr lang="ru-RU" smtClean="0"/>
              <a:pPr/>
              <a:t>24.04.2022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9973A87-915C-4F61-BD12-0C26EC46FAB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BE848A2-5680-44D3-A129-8DE2945EC384}" type="datetimeFigureOut">
              <a:rPr lang="ru-RU" smtClean="0"/>
              <a:pPr/>
              <a:t>24.04.2022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973A87-915C-4F61-BD12-0C26EC46FAB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BE848A2-5680-44D3-A129-8DE2945EC384}" type="datetimeFigureOut">
              <a:rPr lang="ru-RU" smtClean="0"/>
              <a:pPr/>
              <a:t>24.04.2022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973A87-915C-4F61-BD12-0C26EC46FAB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BE848A2-5680-44D3-A129-8DE2945EC384}" type="datetimeFigureOut">
              <a:rPr lang="ru-RU" smtClean="0"/>
              <a:pPr/>
              <a:t>24.04.2022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973A87-915C-4F61-BD12-0C26EC46FAB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BE848A2-5680-44D3-A129-8DE2945EC384}" type="datetimeFigureOut">
              <a:rPr lang="ru-RU" smtClean="0"/>
              <a:pPr/>
              <a:t>24.04.2022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973A87-915C-4F61-BD12-0C26EC46FAB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BE848A2-5680-44D3-A129-8DE2945EC384}" type="datetimeFigureOut">
              <a:rPr lang="ru-RU" smtClean="0"/>
              <a:pPr/>
              <a:t>24.04.2022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973A87-915C-4F61-BD12-0C26EC46FAB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BE848A2-5680-44D3-A129-8DE2945EC384}" type="datetimeFigureOut">
              <a:rPr lang="ru-RU" smtClean="0"/>
              <a:pPr/>
              <a:t>24.04.2022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973A87-915C-4F61-BD12-0C26EC46FAB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BE848A2-5680-44D3-A129-8DE2945EC384}" type="datetimeFigureOut">
              <a:rPr lang="ru-RU" smtClean="0"/>
              <a:pPr/>
              <a:t>24.04.2022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973A87-915C-4F61-BD12-0C26EC46FAB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BE848A2-5680-44D3-A129-8DE2945EC384}" type="datetimeFigureOut">
              <a:rPr lang="ru-RU" smtClean="0"/>
              <a:pPr/>
              <a:t>24.04.2022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9973A87-915C-4F61-BD12-0C26EC46FAB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BE848A2-5680-44D3-A129-8DE2945EC384}" type="datetimeFigureOut">
              <a:rPr lang="ru-RU" smtClean="0"/>
              <a:pPr/>
              <a:t>24.04.2022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973A87-915C-4F61-BD12-0C26EC46FAB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BE848A2-5680-44D3-A129-8DE2945EC384}" type="datetimeFigureOut">
              <a:rPr lang="ru-RU" smtClean="0"/>
              <a:pPr/>
              <a:t>24.04.2022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9973A87-915C-4F61-BD12-0C26EC46FAB5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FB5AF61-E2D0-4D20-8212-16DE533262EE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2007881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Заголовок, текст и 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Содержимое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DEADEB7-0AA1-4CD9-9926-E4EE72F73224}" type="slidenum">
              <a:rPr lang="ru-RU" altLang="ru-RU"/>
              <a:pPr/>
              <a:t>‹#›</a:t>
            </a:fld>
            <a:endParaRPr lang="ru-RU" altLang="ru-RU"/>
          </a:p>
        </p:txBody>
      </p:sp>
    </p:spTree>
    <p:extLst>
      <p:ext uri="{BB962C8B-B14F-4D97-AF65-F5344CB8AC3E}">
        <p14:creationId xmlns:p14="http://schemas.microsoft.com/office/powerpoint/2010/main" val="1954147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5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BE848A2-5680-44D3-A129-8DE2945EC384}" type="datetimeFigureOut">
              <a:rPr lang="ru-RU" smtClean="0"/>
              <a:pPr/>
              <a:t>24.04.2022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19973A87-915C-4F61-BD12-0C26EC46FAB5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audio" Target="../media/audio1.bin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ctr"/>
            <a:r>
              <a:rPr lang="ru-RU" sz="6000" dirty="0" smtClean="0"/>
              <a:t>Рекомендации по оформлению презентации</a:t>
            </a:r>
            <a:endParaRPr lang="ru-RU" sz="6000" dirty="0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42844" y="500042"/>
            <a:ext cx="87852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3200" b="1" dirty="0" smtClean="0">
                <a:solidFill>
                  <a:schemeClr val="tx2"/>
                </a:solidFill>
                <a:latin typeface="Arial" charset="0"/>
              </a:rPr>
              <a:t>Заголовок презентации</a:t>
            </a:r>
            <a:endParaRPr lang="ru-RU" sz="3200" b="1" dirty="0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14282" y="2143116"/>
            <a:ext cx="485778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400" dirty="0" smtClean="0">
                <a:latin typeface="Arial" charset="0"/>
              </a:rPr>
              <a:t>Презентация должна начитаться </a:t>
            </a:r>
            <a:r>
              <a:rPr lang="ru-RU" sz="3200" dirty="0" smtClean="0">
                <a:solidFill>
                  <a:schemeClr val="tx2"/>
                </a:solidFill>
                <a:latin typeface="Arial" charset="0"/>
              </a:rPr>
              <a:t>слайдом-заголовком</a:t>
            </a:r>
            <a:endParaRPr lang="ru-RU" sz="3200" dirty="0">
              <a:solidFill>
                <a:schemeClr val="tx2"/>
              </a:solidFill>
              <a:latin typeface="Arial" charset="0"/>
            </a:endParaRPr>
          </a:p>
        </p:txBody>
      </p:sp>
      <p:pic>
        <p:nvPicPr>
          <p:cNvPr id="4" name="Рисунок 3" descr="Слайд1.BMP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357686" y="3429000"/>
            <a:ext cx="3929090" cy="29468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fade thruBlk="1"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42844" y="500042"/>
            <a:ext cx="87852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3200" b="1" dirty="0" smtClean="0">
                <a:solidFill>
                  <a:schemeClr val="tx2"/>
                </a:solidFill>
                <a:latin typeface="Arial" charset="0"/>
              </a:rPr>
              <a:t>Стиль оформления</a:t>
            </a:r>
            <a:endParaRPr lang="ru-RU" sz="3200" b="1" dirty="0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14282" y="1857364"/>
            <a:ext cx="5429288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400" dirty="0" smtClean="0">
                <a:latin typeface="Arial" charset="0"/>
              </a:rPr>
              <a:t>Объединяющим элементом презентации может быть – </a:t>
            </a:r>
            <a:r>
              <a:rPr lang="ru-RU" sz="3200" dirty="0" smtClean="0">
                <a:solidFill>
                  <a:schemeClr val="tx2"/>
                </a:solidFill>
                <a:latin typeface="Arial" charset="0"/>
              </a:rPr>
              <a:t>одинаковый фон и единый стиль оформления</a:t>
            </a:r>
            <a:endParaRPr lang="ru-RU" sz="3200" dirty="0">
              <a:solidFill>
                <a:schemeClr val="tx2"/>
              </a:solidFill>
              <a:latin typeface="Arial" charset="0"/>
            </a:endParaRPr>
          </a:p>
        </p:txBody>
      </p:sp>
      <p:pic>
        <p:nvPicPr>
          <p:cNvPr id="5" name="Рисунок 4" descr="Слайд1.BMP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42844" y="4071942"/>
            <a:ext cx="1692000" cy="126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Рисунок 5" descr="Слайд2.BMP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928794" y="4231702"/>
            <a:ext cx="1692000" cy="126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Рисунок 6" descr="Слайд4.BMP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714744" y="4374578"/>
            <a:ext cx="1692000" cy="126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Рисунок 7" descr="Слайд5.BMP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500694" y="4517454"/>
            <a:ext cx="1692000" cy="126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Рисунок 8" descr="Слайд7.BMP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286644" y="4660330"/>
            <a:ext cx="1692000" cy="1269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/>
          <p:cNvSpPr/>
          <p:nvPr/>
        </p:nvSpPr>
        <p:spPr>
          <a:xfrm>
            <a:off x="5143504" y="1928802"/>
            <a:ext cx="3786214" cy="4572032"/>
          </a:xfrm>
          <a:prstGeom prst="roundRect">
            <a:avLst>
              <a:gd name="adj" fmla="val 5917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42844" y="500042"/>
            <a:ext cx="87852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3200" b="1" dirty="0" smtClean="0">
                <a:solidFill>
                  <a:schemeClr val="tx2"/>
                </a:solidFill>
                <a:latin typeface="Arial" charset="0"/>
              </a:rPr>
              <a:t>Размер и тип шрифта</a:t>
            </a:r>
            <a:endParaRPr lang="ru-RU" sz="3200" b="1" dirty="0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214282" y="2285992"/>
            <a:ext cx="4286280" cy="22775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400" dirty="0" smtClean="0">
                <a:latin typeface="Arial" charset="0"/>
              </a:rPr>
              <a:t>Рекомендованная высота</a:t>
            </a:r>
            <a:r>
              <a:rPr lang="ru-RU" sz="3200" dirty="0" smtClean="0">
                <a:solidFill>
                  <a:schemeClr val="accent4">
                    <a:lumMod val="75000"/>
                  </a:schemeClr>
                </a:solidFill>
                <a:latin typeface="Arial" charset="0"/>
              </a:rPr>
              <a:t> </a:t>
            </a:r>
            <a:r>
              <a:rPr lang="ru-RU" sz="3200" dirty="0" smtClean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шрифта</a:t>
            </a:r>
            <a:r>
              <a:rPr lang="ru-RU" sz="3200" dirty="0" smtClean="0">
                <a:solidFill>
                  <a:schemeClr val="accent4">
                    <a:lumMod val="75000"/>
                  </a:schemeClr>
                </a:solidFill>
                <a:latin typeface="Arial" charset="0"/>
              </a:rPr>
              <a:t> </a:t>
            </a:r>
            <a:r>
              <a:rPr lang="ru-RU" sz="2400" dirty="0" smtClean="0">
                <a:latin typeface="Arial" charset="0"/>
              </a:rPr>
              <a:t>-  не менее 18пт, </a:t>
            </a:r>
          </a:p>
          <a:p>
            <a:pPr algn="ctr">
              <a:spcBef>
                <a:spcPct val="50000"/>
              </a:spcBef>
            </a:pPr>
            <a:r>
              <a:rPr lang="ru-RU" sz="2400" dirty="0" smtClean="0">
                <a:latin typeface="Arial" charset="0"/>
              </a:rPr>
              <a:t>а его </a:t>
            </a:r>
            <a:r>
              <a:rPr lang="ru-RU" sz="2400" dirty="0" smtClean="0">
                <a:latin typeface="Tahoma" pitchFamily="34" charset="0"/>
                <a:cs typeface="Tahoma" pitchFamily="34" charset="0"/>
              </a:rPr>
              <a:t>начертание</a:t>
            </a:r>
            <a:r>
              <a:rPr lang="ru-RU" sz="2400" dirty="0" smtClean="0">
                <a:latin typeface="Arial" charset="0"/>
              </a:rPr>
              <a:t> </a:t>
            </a:r>
          </a:p>
          <a:p>
            <a:pPr algn="ctr"/>
            <a:r>
              <a:rPr lang="en-US" sz="2400" dirty="0" smtClean="0">
                <a:latin typeface="Arial" charset="0"/>
              </a:rPr>
              <a:t>Arial</a:t>
            </a:r>
            <a:r>
              <a:rPr lang="ru-RU" sz="2400" dirty="0" smtClean="0">
                <a:latin typeface="Arial" charset="0"/>
              </a:rPr>
              <a:t>е, </a:t>
            </a:r>
            <a:r>
              <a:rPr lang="en-US" sz="2400" dirty="0" smtClean="0">
                <a:latin typeface="Arial" charset="0"/>
              </a:rPr>
              <a:t>Verdana</a:t>
            </a:r>
            <a:r>
              <a:rPr lang="ru-RU" sz="2400" dirty="0" smtClean="0">
                <a:latin typeface="Arial" charset="0"/>
              </a:rPr>
              <a:t>, Т</a:t>
            </a:r>
            <a:r>
              <a:rPr lang="en-US" sz="2400" dirty="0" err="1" smtClean="0">
                <a:latin typeface="Arial" charset="0"/>
              </a:rPr>
              <a:t>ahoma</a:t>
            </a:r>
            <a:endParaRPr lang="ru-RU" sz="2400" dirty="0" smtClean="0">
              <a:latin typeface="Arial" charset="0"/>
            </a:endParaRPr>
          </a:p>
          <a:p>
            <a:pPr algn="ctr"/>
            <a:r>
              <a:rPr lang="ru-RU" i="1" dirty="0" smtClean="0">
                <a:latin typeface="Arial" charset="0"/>
              </a:rPr>
              <a:t>(шрифты без засечек). </a:t>
            </a:r>
            <a:endParaRPr lang="ru-RU" sz="2400" i="1" dirty="0">
              <a:solidFill>
                <a:schemeClr val="accent4">
                  <a:lumMod val="75000"/>
                </a:schemeClr>
              </a:solidFill>
              <a:latin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429256" y="2214554"/>
            <a:ext cx="30003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 smtClean="0"/>
              <a:t>У этого текста высота 12 пт.</a:t>
            </a:r>
            <a:endParaRPr lang="ru-RU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5500694" y="3071810"/>
            <a:ext cx="30003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У этого текста высота16 пт.</a:t>
            </a:r>
            <a:endParaRPr lang="ru-RU" sz="1400" dirty="0"/>
          </a:p>
        </p:txBody>
      </p:sp>
      <p:sp>
        <p:nvSpPr>
          <p:cNvPr id="6" name="TextBox 5"/>
          <p:cNvSpPr txBox="1"/>
          <p:nvPr/>
        </p:nvSpPr>
        <p:spPr>
          <a:xfrm>
            <a:off x="5572132" y="4143380"/>
            <a:ext cx="3000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/>
              <a:t>У этого текста высота</a:t>
            </a:r>
          </a:p>
          <a:p>
            <a:pPr algn="ctr"/>
            <a:r>
              <a:rPr lang="ru-RU" dirty="0" smtClean="0"/>
              <a:t>18 пт.</a:t>
            </a:r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5143504" y="5429264"/>
            <a:ext cx="37861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 smtClean="0"/>
              <a:t>У этого текста высота 24 пт.</a:t>
            </a:r>
            <a:endParaRPr lang="ru-RU" sz="2400" dirty="0"/>
          </a:p>
        </p:txBody>
      </p:sp>
    </p:spTree>
  </p:cSld>
  <p:clrMapOvr>
    <a:masterClrMapping/>
  </p:clrMapOvr>
  <p:transition spd="slow"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4000"/>
                            </p:stCondLst>
                            <p:childTnLst>
                              <p:par>
                                <p:cTn id="13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0"/>
                            </p:stCondLst>
                            <p:childTnLst>
                              <p:par>
                                <p:cTn id="19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000"/>
                            </p:stCondLst>
                            <p:childTnLst>
                              <p:par>
                                <p:cTn id="31" presetID="5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" grpId="0"/>
      <p:bldP spid="4" grpId="0"/>
      <p:bldP spid="5" grpId="0"/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ru-RU" altLang="ru-RU" sz="4000" smtClean="0"/>
              <a:t>Все прописные или смешение прописных и строчных</a:t>
            </a:r>
          </a:p>
        </p:txBody>
      </p:sp>
      <p:sp>
        <p:nvSpPr>
          <p:cNvPr id="11267" name="Rectangle 5"/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1844675"/>
            <a:ext cx="4038600" cy="3849688"/>
          </a:xfrm>
        </p:spPr>
        <p:txBody>
          <a:bodyPr>
            <a:normAutofit lnSpcReduction="10000"/>
          </a:bodyPr>
          <a:lstStyle/>
          <a:p>
            <a:pPr eaLnBrk="1" hangingPunct="1">
              <a:buFontTx/>
              <a:buNone/>
            </a:pPr>
            <a:r>
              <a:rPr lang="ru-RU" altLang="ru-RU" smtClean="0"/>
              <a:t>Смешение Строчных И Прописных В Одном Предложении Делает Шрифт Менее Разборчивым И Менее Читабельным.</a:t>
            </a:r>
          </a:p>
        </p:txBody>
      </p:sp>
      <p:sp>
        <p:nvSpPr>
          <p:cNvPr id="11268" name="Rectangle 6"/>
          <p:cNvSpPr>
            <a:spLocks noGrp="1" noChangeArrowheads="1"/>
          </p:cNvSpPr>
          <p:nvPr>
            <p:ph type="body" sz="half" idx="2"/>
          </p:nvPr>
        </p:nvSpPr>
        <p:spPr>
          <a:xfrm>
            <a:off x="4643438" y="1860550"/>
            <a:ext cx="4038600" cy="499745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mtClean="0"/>
              <a:t>СЛОВА, НАПИСАННЫЕ ТОЛЬКО ПРОПИСНЫМИ, САМЫЕ НЕРАЗБОРЧИВЫЕ, ВНЕ ЗАВИСИМОСТИ ОТ ТОГО, КАКОЙ ШРИФТ ВЫ ВЫБРАЛИ.</a:t>
            </a:r>
          </a:p>
        </p:txBody>
      </p:sp>
      <p:sp>
        <p:nvSpPr>
          <p:cNvPr id="11269" name="Line 7"/>
          <p:cNvSpPr>
            <a:spLocks noChangeShapeType="1"/>
          </p:cNvSpPr>
          <p:nvPr/>
        </p:nvSpPr>
        <p:spPr bwMode="auto">
          <a:xfrm>
            <a:off x="4643438" y="1773238"/>
            <a:ext cx="0" cy="50847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049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Весомость и пропорции</a:t>
            </a:r>
          </a:p>
        </p:txBody>
      </p:sp>
      <p:sp>
        <p:nvSpPr>
          <p:cNvPr id="10243" name="Rectangle 4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altLang="ru-RU" sz="3200" b="1" smtClean="0">
                <a:latin typeface="Arial Black" panose="020B0A04020102020204" pitchFamily="34" charset="0"/>
              </a:rPr>
              <a:t>Слишком тяжелые штрихи менее разборчивы.</a:t>
            </a:r>
          </a:p>
        </p:txBody>
      </p:sp>
      <p:sp>
        <p:nvSpPr>
          <p:cNvPr id="10244" name="Rectangle 5"/>
          <p:cNvSpPr>
            <a:spLocks noGrp="1" noChangeArrowheads="1"/>
          </p:cNvSpPr>
          <p:nvPr>
            <p:ph type="body" sz="half" idx="2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ru-RU" altLang="ru-RU" smtClean="0">
                <a:latin typeface="Century Gothic" panose="020B0502020202020204" pitchFamily="34" charset="0"/>
              </a:rPr>
              <a:t>Сверхсветлый, почти проволочный шрифт создает невнятное пространство между буквами и словами, что делает его менее разборчивым.</a:t>
            </a:r>
          </a:p>
        </p:txBody>
      </p:sp>
      <p:sp>
        <p:nvSpPr>
          <p:cNvPr id="10245" name="Line 6"/>
          <p:cNvSpPr>
            <a:spLocks noChangeShapeType="1"/>
          </p:cNvSpPr>
          <p:nvPr/>
        </p:nvSpPr>
        <p:spPr bwMode="auto">
          <a:xfrm>
            <a:off x="4500563" y="1484313"/>
            <a:ext cx="0" cy="5040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1327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 eaLnBrk="1" hangingPunct="1"/>
            <a:r>
              <a:rPr lang="ru-RU" altLang="ru-RU" dirty="0" smtClean="0"/>
              <a:t>Разборчивость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288" y="2332038"/>
            <a:ext cx="4038600" cy="452596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3200" smtClean="0"/>
              <a:t>Самым разборчивым является рубленый </a:t>
            </a:r>
            <a:br>
              <a:rPr lang="ru-RU" altLang="ru-RU" sz="3200" smtClean="0"/>
            </a:br>
            <a:r>
              <a:rPr lang="ru-RU" altLang="ru-RU" sz="3200" smtClean="0"/>
              <a:t>шрифт </a:t>
            </a:r>
            <a:br>
              <a:rPr lang="ru-RU" altLang="ru-RU" sz="3200" smtClean="0"/>
            </a:br>
            <a:r>
              <a:rPr lang="ru-RU" altLang="ru-RU" sz="3200" smtClean="0"/>
              <a:t>(без засечек).</a:t>
            </a:r>
          </a:p>
        </p:txBody>
      </p:sp>
      <p:sp>
        <p:nvSpPr>
          <p:cNvPr id="9220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4572000" y="2133600"/>
            <a:ext cx="403860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ru-RU" altLang="ru-RU" sz="3600" smtClean="0">
                <a:latin typeface="Times New Roman" panose="02020603050405020304" pitchFamily="18" charset="0"/>
              </a:rPr>
              <a:t>Шрифт с засечками менее разборчив.</a:t>
            </a:r>
          </a:p>
        </p:txBody>
      </p:sp>
      <p:sp>
        <p:nvSpPr>
          <p:cNvPr id="9221" name="Line 5"/>
          <p:cNvSpPr>
            <a:spLocks noChangeShapeType="1"/>
          </p:cNvSpPr>
          <p:nvPr/>
        </p:nvSpPr>
        <p:spPr bwMode="auto">
          <a:xfrm>
            <a:off x="4284663" y="1773238"/>
            <a:ext cx="0" cy="47529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546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Выравнивание абзацев</a:t>
            </a: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body" sz="half" idx="1"/>
          </p:nvPr>
        </p:nvSpPr>
        <p:spPr>
          <a:xfrm>
            <a:off x="4643438" y="4508500"/>
            <a:ext cx="4038600" cy="1728788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182563" indent="0" eaLnBrk="1" hangingPunct="1">
              <a:spcBef>
                <a:spcPct val="0"/>
              </a:spcBef>
              <a:buFontTx/>
              <a:buNone/>
            </a:pPr>
            <a:r>
              <a:rPr lang="ru-RU" altLang="ru-RU" sz="2400" dirty="0" smtClean="0"/>
              <a:t>Текст, выровненный по левому краю, читать очень удобно.</a:t>
            </a:r>
          </a:p>
        </p:txBody>
      </p:sp>
      <p:sp>
        <p:nvSpPr>
          <p:cNvPr id="21509" name="Rectangle 5"/>
          <p:cNvSpPr>
            <a:spLocks noGrp="1" noChangeArrowheads="1"/>
          </p:cNvSpPr>
          <p:nvPr>
            <p:ph type="body" sz="half" idx="2"/>
          </p:nvPr>
        </p:nvSpPr>
        <p:spPr>
          <a:xfrm>
            <a:off x="4643438" y="1484313"/>
            <a:ext cx="4038600" cy="2836862"/>
          </a:xfrm>
          <a:ln>
            <a:solidFill>
              <a:schemeClr val="tx1"/>
            </a:solidFill>
            <a:miter lim="800000"/>
            <a:headEnd/>
            <a:tailEnd/>
          </a:ln>
        </p:spPr>
        <p:txBody>
          <a:bodyPr>
            <a:normAutofit/>
          </a:bodyPr>
          <a:lstStyle/>
          <a:p>
            <a:pPr marL="182563" indent="0" algn="just" eaLnBrk="1" hangingPunct="1">
              <a:buFontTx/>
              <a:buNone/>
            </a:pPr>
            <a:r>
              <a:rPr lang="ru-RU" altLang="ru-RU" sz="2400" dirty="0" smtClean="0"/>
              <a:t>Текст, выровненный по ширине читается труднее, так как расстояние между словами неодинаково.</a:t>
            </a:r>
          </a:p>
        </p:txBody>
      </p:sp>
      <p:sp>
        <p:nvSpPr>
          <p:cNvPr id="21510" name="Rectangle 6"/>
          <p:cNvSpPr>
            <a:spLocks noChangeArrowheads="1"/>
          </p:cNvSpPr>
          <p:nvPr/>
        </p:nvSpPr>
        <p:spPr bwMode="auto">
          <a:xfrm>
            <a:off x="395288" y="1484313"/>
            <a:ext cx="4105275" cy="47529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20000"/>
              </a:spcBef>
            </a:pPr>
            <a:r>
              <a:rPr lang="ru-RU" altLang="ru-RU" sz="2400" dirty="0"/>
              <a:t>Текст, выровненный по правому краю, читать трудно, так как строки начинаются на разном уровне.</a:t>
            </a:r>
          </a:p>
          <a:p>
            <a:pPr algn="ctr" eaLnBrk="1" hangingPunct="1">
              <a:spcBef>
                <a:spcPct val="20000"/>
              </a:spcBef>
            </a:pPr>
            <a:endParaRPr lang="ru-RU" altLang="ru-RU" sz="2800" dirty="0"/>
          </a:p>
          <a:p>
            <a:pPr algn="ctr" eaLnBrk="1" hangingPunct="1">
              <a:spcBef>
                <a:spcPct val="20000"/>
              </a:spcBef>
            </a:pPr>
            <a:r>
              <a:rPr lang="ru-RU" altLang="ru-RU" sz="2400" dirty="0"/>
              <a:t>То же самое можно сказать о тексте, выровненном по центру. </a:t>
            </a:r>
          </a:p>
        </p:txBody>
      </p:sp>
    </p:spTree>
    <p:extLst>
      <p:ext uri="{BB962C8B-B14F-4D97-AF65-F5344CB8AC3E}">
        <p14:creationId xmlns:p14="http://schemas.microsoft.com/office/powerpoint/2010/main" val="1807264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8" grpId="0" build="p" animBg="1"/>
      <p:bldP spid="21509" grpId="0" build="p" animBg="1"/>
      <p:bldP spid="215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Итак…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Обычный шрифт без засечек.</a:t>
            </a:r>
          </a:p>
          <a:p>
            <a:pPr eaLnBrk="1" hangingPunct="1"/>
            <a:r>
              <a:rPr lang="ru-RU" altLang="ru-RU" smtClean="0"/>
              <a:t>Не плотный, не широкий, не наклонный. </a:t>
            </a:r>
          </a:p>
          <a:p>
            <a:pPr eaLnBrk="1" hangingPunct="1"/>
            <a:r>
              <a:rPr lang="ru-RU" altLang="ru-RU" smtClean="0"/>
              <a:t>Прямое начертание (иногда </a:t>
            </a:r>
            <a:r>
              <a:rPr lang="ru-RU" altLang="ru-RU" b="1" smtClean="0"/>
              <a:t>жирное </a:t>
            </a:r>
            <a:r>
              <a:rPr lang="ru-RU" altLang="ru-RU" smtClean="0"/>
              <a:t>или </a:t>
            </a:r>
            <a:r>
              <a:rPr lang="ru-RU" altLang="ru-RU" i="1" smtClean="0"/>
              <a:t>курсивное</a:t>
            </a:r>
            <a:r>
              <a:rPr lang="ru-RU" altLang="ru-RU" smtClean="0"/>
              <a:t>, если нужно).</a:t>
            </a:r>
          </a:p>
          <a:p>
            <a:pPr eaLnBrk="1" hangingPunct="1"/>
            <a:r>
              <a:rPr lang="ru-RU" altLang="ru-RU" smtClean="0"/>
              <a:t>Строчные буквы (плюс прописные там, где нужно).</a:t>
            </a:r>
          </a:p>
          <a:p>
            <a:pPr eaLnBrk="1" hangingPunct="1"/>
            <a:r>
              <a:rPr lang="ru-RU" altLang="ru-RU" smtClean="0"/>
              <a:t>Выравнивание по левому краю.</a:t>
            </a:r>
          </a:p>
        </p:txBody>
      </p:sp>
    </p:spTree>
    <p:extLst>
      <p:ext uri="{BB962C8B-B14F-4D97-AF65-F5344CB8AC3E}">
        <p14:creationId xmlns:p14="http://schemas.microsoft.com/office/powerpoint/2010/main" val="2229041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Autofit/>
          </a:bodyPr>
          <a:lstStyle/>
          <a:p>
            <a:pPr algn="ctr"/>
            <a:r>
              <a:rPr lang="ru-RU" sz="3200" dirty="0">
                <a:effectLst/>
                <a:latin typeface="Arial" pitchFamily="34" charset="0"/>
                <a:cs typeface="Arial" pitchFamily="34" charset="0"/>
              </a:rPr>
              <a:t>Сочетание цветов символов и </a:t>
            </a:r>
            <a:r>
              <a:rPr lang="ru-RU" sz="3200" dirty="0" smtClean="0">
                <a:effectLst/>
                <a:latin typeface="Arial" pitchFamily="34" charset="0"/>
                <a:cs typeface="Arial" pitchFamily="34" charset="0"/>
              </a:rPr>
              <a:t>фона</a:t>
            </a:r>
            <a:endParaRPr lang="ru-RU" sz="3200" dirty="0"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379" y="919353"/>
            <a:ext cx="7934325" cy="3705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904" y="4629150"/>
            <a:ext cx="7924800" cy="2228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2511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/>
          <a:lstStyle/>
          <a:p>
            <a:pPr eaLnBrk="1" hangingPunct="1"/>
            <a:r>
              <a:rPr lang="ru-RU" altLang="ru-RU" smtClean="0"/>
              <a:t>Фон</a:t>
            </a:r>
          </a:p>
        </p:txBody>
      </p:sp>
      <p:sp>
        <p:nvSpPr>
          <p:cNvPr id="58372" name="Rectangle 4" descr="Уголки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4038600" cy="1757363"/>
          </a:xfrm>
          <a:pattFill prst="divot">
            <a:fgClr>
              <a:schemeClr val="tx1"/>
            </a:fgClr>
            <a:bgClr>
              <a:srgbClr val="99CCFF"/>
            </a:bgClr>
          </a:pattFill>
        </p:spPr>
        <p:txBody>
          <a:bodyPr/>
          <a:lstStyle/>
          <a:p>
            <a:pPr eaLnBrk="1" hangingPunct="1"/>
            <a:endParaRPr lang="ru-RU" altLang="ru-RU" smtClean="0"/>
          </a:p>
          <a:p>
            <a:pPr eaLnBrk="1" hangingPunct="1"/>
            <a:r>
              <a:rPr lang="ru-RU" altLang="ru-RU" smtClean="0"/>
              <a:t>Пожалейте глаза!</a:t>
            </a:r>
          </a:p>
        </p:txBody>
      </p:sp>
      <p:sp>
        <p:nvSpPr>
          <p:cNvPr id="58373" name="Rectangle 5" descr="Гранит"/>
          <p:cNvSpPr>
            <a:spLocks noGrp="1" noChangeArrowheads="1"/>
          </p:cNvSpPr>
          <p:nvPr>
            <p:ph type="body" sz="half" idx="2"/>
          </p:nvPr>
        </p:nvSpPr>
        <p:spPr>
          <a:xfrm>
            <a:off x="4648200" y="1600200"/>
            <a:ext cx="4038600" cy="1757363"/>
          </a:xfrm>
          <a:blipFill dpi="0" rotWithShape="1">
            <a:blip r:embed="rId2"/>
            <a:srcRect/>
            <a:tile tx="0" ty="0" sx="100000" sy="100000" flip="none" algn="tl"/>
          </a:blipFill>
        </p:spPr>
        <p:txBody>
          <a:bodyPr/>
          <a:lstStyle/>
          <a:p>
            <a:pPr eaLnBrk="1" hangingPunct="1"/>
            <a:endParaRPr lang="ru-RU" altLang="ru-RU" smtClean="0"/>
          </a:p>
          <a:p>
            <a:pPr eaLnBrk="1" hangingPunct="1"/>
            <a:r>
              <a:rPr lang="ru-RU" altLang="ru-RU" smtClean="0"/>
              <a:t>Избегайте фонового шума!</a:t>
            </a:r>
          </a:p>
        </p:txBody>
      </p:sp>
      <p:sp>
        <p:nvSpPr>
          <p:cNvPr id="58375" name="Text Box 7" descr="0031"/>
          <p:cNvSpPr txBox="1">
            <a:spLocks noChangeArrowheads="1"/>
          </p:cNvSpPr>
          <p:nvPr/>
        </p:nvSpPr>
        <p:spPr bwMode="auto">
          <a:xfrm>
            <a:off x="468313" y="1196975"/>
            <a:ext cx="8207375" cy="5451475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ru-RU" altLang="ru-RU" sz="4400">
              <a:solidFill>
                <a:schemeClr val="bg1"/>
              </a:solidFill>
            </a:endParaRPr>
          </a:p>
          <a:p>
            <a:pPr algn="ctr" eaLnBrk="1" hangingPunct="1">
              <a:spcBef>
                <a:spcPct val="50000"/>
              </a:spcBef>
            </a:pPr>
            <a:endParaRPr lang="ru-RU" altLang="ru-RU" sz="4400">
              <a:solidFill>
                <a:schemeClr val="bg1"/>
              </a:solidFill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ru-RU" altLang="ru-RU" sz="4400">
                <a:solidFill>
                  <a:schemeClr val="bg1"/>
                </a:solidFill>
              </a:rPr>
              <a:t>Осторожно используйте фотографию в качестве фона!</a:t>
            </a:r>
          </a:p>
          <a:p>
            <a:pPr algn="ctr" eaLnBrk="1" hangingPunct="1">
              <a:spcBef>
                <a:spcPct val="50000"/>
              </a:spcBef>
            </a:pPr>
            <a:endParaRPr lang="ru-RU" altLang="ru-RU" sz="4400">
              <a:solidFill>
                <a:schemeClr val="bg1"/>
              </a:solidFill>
            </a:endParaRPr>
          </a:p>
          <a:p>
            <a:pPr algn="ctr" eaLnBrk="1" hangingPunct="1">
              <a:spcBef>
                <a:spcPct val="50000"/>
              </a:spcBef>
            </a:pPr>
            <a:endParaRPr lang="ru-RU" altLang="ru-RU" sz="44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866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37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37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8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8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8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8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58372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8372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837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837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8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8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58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58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xit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5837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5837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37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83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2" grpId="0" build="p" animBg="1"/>
      <p:bldP spid="58372" grpId="1" build="p" animBg="1"/>
      <p:bldP spid="58373" grpId="0" build="p" animBg="1"/>
      <p:bldP spid="58373" grpId="1" build="p" animBg="1"/>
      <p:bldP spid="5837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Фотографии как украшения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ru-RU" altLang="ru-RU" sz="2800" smtClean="0"/>
              <a:t>Не искажайте фотографии при размещении их на слайде. Это выглядит очень смешно!</a:t>
            </a:r>
          </a:p>
        </p:txBody>
      </p:sp>
      <p:pic>
        <p:nvPicPr>
          <p:cNvPr id="33796" name="Picture 10" descr="j0182831"/>
          <p:cNvPicPr>
            <a:picLocks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38700" y="1484313"/>
            <a:ext cx="3657600" cy="4752975"/>
          </a:xfrm>
          <a:noFill/>
        </p:spPr>
      </p:pic>
    </p:spTree>
    <p:extLst>
      <p:ext uri="{BB962C8B-B14F-4D97-AF65-F5344CB8AC3E}">
        <p14:creationId xmlns:p14="http://schemas.microsoft.com/office/powerpoint/2010/main" val="3536978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Иллюстрации как украшения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sz="half" idx="1"/>
          </p:nvPr>
        </p:nvSpPr>
        <p:spPr/>
        <p:txBody>
          <a:bodyPr/>
          <a:lstStyle/>
          <a:p>
            <a:pPr eaLnBrk="1" hangingPunct="1"/>
            <a:r>
              <a:rPr lang="ru-RU" altLang="ru-RU" sz="2800" smtClean="0"/>
              <a:t>Следите, чтобы графические украшения не выглядели </a:t>
            </a:r>
            <a:r>
              <a:rPr lang="ru-RU" altLang="ru-RU" sz="2800" i="1" smtClean="0"/>
              <a:t>заплаткой</a:t>
            </a:r>
            <a:r>
              <a:rPr lang="ru-RU" altLang="ru-RU" sz="2800" smtClean="0"/>
              <a:t> на выбранном фоне.</a:t>
            </a:r>
          </a:p>
        </p:txBody>
      </p:sp>
      <p:pic>
        <p:nvPicPr>
          <p:cNvPr id="34820" name="Picture 10" descr="j0182863"/>
          <p:cNvPicPr>
            <a:picLocks noChangeAspect="1" noChangeArrowheads="1"/>
          </p:cNvPicPr>
          <p:nvPr>
            <p:ph sz="quarter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364163" y="1700213"/>
            <a:ext cx="2871787" cy="4349750"/>
          </a:xfrm>
          <a:noFill/>
        </p:spPr>
      </p:pic>
    </p:spTree>
    <p:extLst>
      <p:ext uri="{BB962C8B-B14F-4D97-AF65-F5344CB8AC3E}">
        <p14:creationId xmlns:p14="http://schemas.microsoft.com/office/powerpoint/2010/main" val="395836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57620" y="3214686"/>
            <a:ext cx="5000635" cy="35121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142844" y="500042"/>
            <a:ext cx="878522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3200" b="1" dirty="0" smtClean="0">
                <a:solidFill>
                  <a:schemeClr val="tx2"/>
                </a:solidFill>
                <a:latin typeface="Arial" charset="0"/>
              </a:rPr>
              <a:t>Анимация</a:t>
            </a:r>
            <a:endParaRPr lang="ru-RU" sz="3200" b="1" dirty="0">
              <a:solidFill>
                <a:schemeClr val="tx2"/>
              </a:solidFill>
              <a:latin typeface="Arial" charset="0"/>
            </a:endParaRP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0" y="1643050"/>
            <a:ext cx="3857620" cy="20621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ru-RU" sz="2400" dirty="0" smtClean="0">
                <a:latin typeface="Arial" charset="0"/>
              </a:rPr>
              <a:t>Различные</a:t>
            </a:r>
            <a:r>
              <a:rPr lang="ru-RU" sz="2400" dirty="0" smtClean="0">
                <a:solidFill>
                  <a:schemeClr val="accent2">
                    <a:lumMod val="75000"/>
                  </a:schemeClr>
                </a:solidFill>
                <a:latin typeface="Arial" charset="0"/>
              </a:rPr>
              <a:t> </a:t>
            </a:r>
            <a:r>
              <a:rPr lang="ru-RU" sz="3200" dirty="0" smtClean="0">
                <a:solidFill>
                  <a:schemeClr val="tx2"/>
                </a:solidFill>
                <a:latin typeface="Arial" charset="0"/>
              </a:rPr>
              <a:t>эффекты</a:t>
            </a:r>
            <a:r>
              <a:rPr lang="ru-RU" sz="2400" dirty="0" smtClean="0">
                <a:solidFill>
                  <a:schemeClr val="tx2"/>
                </a:solidFill>
                <a:latin typeface="Arial" charset="0"/>
              </a:rPr>
              <a:t> </a:t>
            </a:r>
            <a:r>
              <a:rPr lang="ru-RU" sz="2400" dirty="0" smtClean="0">
                <a:latin typeface="Arial" charset="0"/>
              </a:rPr>
              <a:t>следует расценивать только как средства привлечения внимания зрителя к объектам </a:t>
            </a:r>
            <a:endParaRPr lang="ru-RU" sz="3200" dirty="0">
              <a:solidFill>
                <a:schemeClr val="accent4">
                  <a:lumMod val="75000"/>
                </a:schemeClr>
              </a:solidFill>
              <a:latin typeface="Arial" charset="0"/>
            </a:endParaRPr>
          </a:p>
        </p:txBody>
      </p:sp>
      <p:sp>
        <p:nvSpPr>
          <p:cNvPr id="7" name="Горизонтальный свиток 6"/>
          <p:cNvSpPr/>
          <p:nvPr/>
        </p:nvSpPr>
        <p:spPr>
          <a:xfrm>
            <a:off x="4572000" y="3786190"/>
            <a:ext cx="3857652" cy="2000264"/>
          </a:xfrm>
          <a:prstGeom prst="horizontalScroll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000" dirty="0" smtClean="0"/>
              <a:t>На рабочем столе отображаются значки, окна программ и диалогов и панель задач</a:t>
            </a:r>
            <a:endParaRPr lang="ru-RU" sz="2000" dirty="0"/>
          </a:p>
        </p:txBody>
      </p:sp>
    </p:spTree>
  </p:cSld>
  <p:clrMapOvr>
    <a:masterClrMapping/>
  </p:clrMapOvr>
  <p:transition spd="slow">
    <p:fade/>
    <p:sndAc>
      <p:stSnd>
        <p:snd r:embed="rId2" name="arrow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3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Графические украшения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Графические украшения могут мешать восприятию текста слайда.</a:t>
            </a:r>
          </a:p>
          <a:p>
            <a:pPr eaLnBrk="1" hangingPunct="1"/>
            <a:r>
              <a:rPr lang="ru-RU" altLang="ru-RU" smtClean="0"/>
              <a:t>Мы постоянно отвлекаемся. Правда?</a:t>
            </a:r>
          </a:p>
        </p:txBody>
      </p:sp>
      <p:pic>
        <p:nvPicPr>
          <p:cNvPr id="32772" name="Picture 4" descr="j0236445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6100" y="2708275"/>
            <a:ext cx="3849688" cy="384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4977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u-RU" altLang="ru-RU" smtClean="0"/>
              <a:t>Итак…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ru-RU" altLang="ru-RU" sz="2800" smtClean="0"/>
              <a:t>Лучше все слайды презентации делать в едином стиле.</a:t>
            </a:r>
          </a:p>
          <a:p>
            <a:pPr eaLnBrk="1" hangingPunct="1"/>
            <a:r>
              <a:rPr lang="ru-RU" altLang="ru-RU" sz="2800" smtClean="0"/>
              <a:t>Лучше выбрать светлый фон и темный текст.</a:t>
            </a:r>
          </a:p>
          <a:p>
            <a:pPr eaLnBrk="1" hangingPunct="1"/>
            <a:r>
              <a:rPr lang="ru-RU" altLang="ru-RU" sz="2800" smtClean="0"/>
              <a:t>Если в качестве фона используется текстура, то она имеет мелкий рисунок.</a:t>
            </a:r>
          </a:p>
          <a:p>
            <a:pPr eaLnBrk="1" hangingPunct="1"/>
            <a:r>
              <a:rPr lang="ru-RU" altLang="ru-RU" sz="2800" smtClean="0"/>
              <a:t>Осторожно выбираем цвета для оформления.</a:t>
            </a:r>
          </a:p>
          <a:p>
            <a:pPr eaLnBrk="1" hangingPunct="1"/>
            <a:r>
              <a:rPr lang="ru-RU" altLang="ru-RU" sz="2800" smtClean="0"/>
              <a:t>Аккуратно выбираем иллюстрации для слайдов.</a:t>
            </a:r>
          </a:p>
        </p:txBody>
      </p:sp>
    </p:spTree>
    <p:extLst>
      <p:ext uri="{BB962C8B-B14F-4D97-AF65-F5344CB8AC3E}">
        <p14:creationId xmlns:p14="http://schemas.microsoft.com/office/powerpoint/2010/main" val="3875776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мпьютерная презентация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Компьютерная презентация</Template>
  <TotalTime>143</TotalTime>
  <Words>396</Words>
  <Application>Microsoft Office PowerPoint</Application>
  <PresentationFormat>Экран (4:3)</PresentationFormat>
  <Paragraphs>61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7" baseType="lpstr">
      <vt:lpstr>Arial</vt:lpstr>
      <vt:lpstr>Arial Black</vt:lpstr>
      <vt:lpstr>Calibri</vt:lpstr>
      <vt:lpstr>Century Gothic</vt:lpstr>
      <vt:lpstr>Lucida Sans Unicode</vt:lpstr>
      <vt:lpstr>Tahoma</vt:lpstr>
      <vt:lpstr>Times New Roman</vt:lpstr>
      <vt:lpstr>Verdana</vt:lpstr>
      <vt:lpstr>Wingdings 2</vt:lpstr>
      <vt:lpstr>Wingdings 3</vt:lpstr>
      <vt:lpstr>Компьютерная презентация</vt:lpstr>
      <vt:lpstr>Рекомендации по оформлению презентации</vt:lpstr>
      <vt:lpstr>Презентация PowerPoint</vt:lpstr>
      <vt:lpstr>Презентация PowerPoint</vt:lpstr>
      <vt:lpstr>Презентация PowerPoint</vt:lpstr>
      <vt:lpstr>Все прописные или смешение прописных и строчных</vt:lpstr>
      <vt:lpstr>Весомость и пропорции</vt:lpstr>
      <vt:lpstr>Разборчивость</vt:lpstr>
      <vt:lpstr>Выравнивание абзацев</vt:lpstr>
      <vt:lpstr>Итак…</vt:lpstr>
      <vt:lpstr>Сочетание цветов символов и фона</vt:lpstr>
      <vt:lpstr>Фон</vt:lpstr>
      <vt:lpstr>Фотографии как украшения</vt:lpstr>
      <vt:lpstr>Иллюстрации как украшения</vt:lpstr>
      <vt:lpstr>Презентация PowerPoint</vt:lpstr>
      <vt:lpstr>Графические украшения</vt:lpstr>
      <vt:lpstr>Итак…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КОМПЬЮТЕРНАЯ ПРЕЗЕНТАЦИЯ</dc:title>
  <dc:creator>user</dc:creator>
  <cp:lastModifiedBy>Густова</cp:lastModifiedBy>
  <cp:revision>13</cp:revision>
  <dcterms:created xsi:type="dcterms:W3CDTF">2013-01-11T10:24:40Z</dcterms:created>
  <dcterms:modified xsi:type="dcterms:W3CDTF">2022-04-24T09:39:38Z</dcterms:modified>
</cp:coreProperties>
</file>