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31"/>
  </p:notesMasterIdLst>
  <p:sldIdLst>
    <p:sldId id="256" r:id="rId2"/>
    <p:sldId id="261" r:id="rId3"/>
    <p:sldId id="265" r:id="rId4"/>
    <p:sldId id="258" r:id="rId5"/>
    <p:sldId id="257" r:id="rId6"/>
    <p:sldId id="259" r:id="rId7"/>
    <p:sldId id="260" r:id="rId8"/>
    <p:sldId id="263" r:id="rId9"/>
    <p:sldId id="266" r:id="rId10"/>
    <p:sldId id="267" r:id="rId11"/>
    <p:sldId id="270" r:id="rId12"/>
    <p:sldId id="269" r:id="rId13"/>
    <p:sldId id="271" r:id="rId14"/>
    <p:sldId id="272" r:id="rId15"/>
    <p:sldId id="273" r:id="rId16"/>
    <p:sldId id="268" r:id="rId17"/>
    <p:sldId id="274" r:id="rId18"/>
    <p:sldId id="275" r:id="rId19"/>
    <p:sldId id="277" r:id="rId20"/>
    <p:sldId id="281" r:id="rId21"/>
    <p:sldId id="282" r:id="rId22"/>
    <p:sldId id="283" r:id="rId23"/>
    <p:sldId id="284" r:id="rId24"/>
    <p:sldId id="276" r:id="rId25"/>
    <p:sldId id="286" r:id="rId26"/>
    <p:sldId id="288" r:id="rId27"/>
    <p:sldId id="287" r:id="rId28"/>
    <p:sldId id="290" r:id="rId29"/>
    <p:sldId id="291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0823A-056C-43CB-9624-867DA7E758C0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B3711-E424-4A84-ACB0-8ED8A74E4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340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2B3711-E424-4A84-ACB0-8ED8A74E406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618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44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21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7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66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61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83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243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07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027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81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193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256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078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09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951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060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4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187B39E-82DF-43AB-9CCB-175C44EE4A9E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D67F786-39E7-4ADB-B7F7-F20BB7898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289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2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Методы минимизации логических функций</a:t>
            </a:r>
          </a:p>
        </p:txBody>
      </p:sp>
    </p:spTree>
    <p:extLst>
      <p:ext uri="{BB962C8B-B14F-4D97-AF65-F5344CB8AC3E}">
        <p14:creationId xmlns:p14="http://schemas.microsoft.com/office/powerpoint/2010/main" val="424971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2514" y="426719"/>
            <a:ext cx="11033759" cy="1305729"/>
          </a:xfrm>
        </p:spPr>
        <p:txBody>
          <a:bodyPr>
            <a:noAutofit/>
          </a:bodyPr>
          <a:lstStyle/>
          <a:p>
            <a:r>
              <a:rPr lang="ru-RU" sz="4400" b="1" dirty="0">
                <a:latin typeface="Arial" panose="020B0604020202020204" pitchFamily="34" charset="0"/>
                <a:cs typeface="Arial" panose="020B0604020202020204" pitchFamily="34" charset="0"/>
              </a:rPr>
              <a:t>Задача минимизации логической функции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4616" y="1906621"/>
            <a:ext cx="11129553" cy="4607391"/>
          </a:xfrm>
        </p:spPr>
        <p:txBody>
          <a:bodyPr>
            <a:no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Заключается в том, чтобы найти наиболее компактное ее представление в виде нормальной формы минимальной сложности – Минимальной Дизъюнктивной Нормальной Формы (МДНФ) или Минимальной Конъюнктивной Нормальной Формы (МКНФ)</a:t>
            </a:r>
          </a:p>
        </p:txBody>
      </p:sp>
    </p:spTree>
    <p:extLst>
      <p:ext uri="{BB962C8B-B14F-4D97-AF65-F5344CB8AC3E}">
        <p14:creationId xmlns:p14="http://schemas.microsoft.com/office/powerpoint/2010/main" val="2450075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70559" y="2176586"/>
                <a:ext cx="10990217" cy="4398385"/>
              </a:xfrm>
            </p:spPr>
            <p:txBody>
              <a:bodyPr>
                <a:noAutofit/>
              </a:bodyPr>
              <a:lstStyle/>
              <a:p>
                <a:r>
                  <a:rPr lang="ru-RU" sz="4400" dirty="0"/>
                  <a:t>Минимальная нормальная форма логической функции – это из всех возможных нормальных форм такая нормальная форма, которая содержит наименьшее число компонентов </a:t>
                </a:r>
                <a:br>
                  <a:rPr lang="ru-RU" sz="4400" dirty="0"/>
                </a:br>
                <a:r>
                  <a:rPr lang="en-US" sz="4400" i="1" dirty="0"/>
                  <a:t>X</a:t>
                </a:r>
                <a:r>
                  <a:rPr lang="en-US" sz="4400" i="1" baseline="-25000" dirty="0"/>
                  <a:t>i</a:t>
                </a:r>
                <a:r>
                  <a:rPr lang="en-US" sz="4400" dirty="0"/>
                  <a:t> </a:t>
                </a:r>
                <a:r>
                  <a:rPr lang="ru-RU" sz="4400" dirty="0"/>
                  <a:t>или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ru-RU" sz="44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ru-RU" sz="4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bar>
                  </m:oMath>
                </a14:m>
                <a:endParaRPr lang="ru-RU" sz="4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0559" y="2176586"/>
                <a:ext cx="10990217" cy="4398385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22514" y="426719"/>
            <a:ext cx="11033759" cy="1305729"/>
          </a:xfrm>
        </p:spPr>
        <p:txBody>
          <a:bodyPr>
            <a:noAutofit/>
          </a:bodyPr>
          <a:lstStyle/>
          <a:p>
            <a:r>
              <a:rPr lang="ru-RU" sz="4400" b="1" dirty="0"/>
              <a:t>Задача минимизации логической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92258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7120" y="219075"/>
            <a:ext cx="10353762" cy="809625"/>
          </a:xfrm>
        </p:spPr>
        <p:txBody>
          <a:bodyPr>
            <a:noAutofit/>
          </a:bodyPr>
          <a:lstStyle/>
          <a:p>
            <a:r>
              <a:rPr lang="ru-RU" sz="5400" dirty="0"/>
              <a:t>Метод карт Карно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525" y="1204912"/>
            <a:ext cx="9283546" cy="531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9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6725" y="333375"/>
            <a:ext cx="11315699" cy="6105525"/>
          </a:xfrm>
        </p:spPr>
        <p:txBody>
          <a:bodyPr>
            <a:normAutofit fontScale="92500"/>
          </a:bodyPr>
          <a:lstStyle/>
          <a:p>
            <a:pPr marL="36900" indent="0">
              <a:buNone/>
            </a:pPr>
            <a:r>
              <a:rPr lang="ru-RU" sz="4400" b="1" dirty="0"/>
              <a:t>Пример. Функция задана вектором:</a:t>
            </a:r>
            <a:endParaRPr lang="en-US" sz="4400" b="1" dirty="0"/>
          </a:p>
          <a:p>
            <a:pPr marL="36900" indent="0">
              <a:buNone/>
            </a:pPr>
            <a:endParaRPr lang="en-US" sz="4400" dirty="0"/>
          </a:p>
          <a:p>
            <a:pPr marL="36900" indent="0">
              <a:buNone/>
            </a:pPr>
            <a:endParaRPr lang="en-US" sz="4400" dirty="0"/>
          </a:p>
          <a:p>
            <a:pPr marL="36900" indent="0">
              <a:buNone/>
            </a:pPr>
            <a:r>
              <a:rPr lang="ru-RU" sz="4400" dirty="0"/>
              <a:t>Требуется:</a:t>
            </a:r>
          </a:p>
          <a:p>
            <a:pPr marL="36900" indent="0">
              <a:buNone/>
            </a:pPr>
            <a:r>
              <a:rPr lang="ru-RU" sz="4400" dirty="0"/>
              <a:t>Построить таблицу истинности, СДНФ, минимизировать данную функцию методами карт Карно и </a:t>
            </a:r>
            <a:r>
              <a:rPr lang="ru-RU" sz="4400" dirty="0" err="1"/>
              <a:t>Квайна</a:t>
            </a:r>
            <a:r>
              <a:rPr lang="en-US" sz="4400" dirty="0"/>
              <a:t>, </a:t>
            </a:r>
            <a:r>
              <a:rPr lang="ru-RU" sz="4400" dirty="0"/>
              <a:t>построить логическую и контактную схемы минимальной ДНФ</a:t>
            </a:r>
          </a:p>
          <a:p>
            <a:endParaRPr lang="ru-R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66725" y="1484516"/>
                <a:ext cx="11172825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=1(</m:t>
                      </m:r>
                      <m:r>
                        <a:rPr lang="ru-RU" sz="4400" b="0" i="1" smtClean="0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ru-RU" sz="4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,5,</m:t>
                      </m:r>
                      <m:r>
                        <a:rPr lang="ru-RU" sz="4400" b="0" i="1" smtClean="0">
                          <a:latin typeface="Cambria Math" panose="02040503050406030204" pitchFamily="18" charset="0"/>
                        </a:rPr>
                        <m:t>7,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8,9,1</m:t>
                      </m:r>
                      <m:r>
                        <a:rPr lang="ru-RU" sz="4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,14,15)</m:t>
                      </m:r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5" y="1484516"/>
                <a:ext cx="11172825" cy="67710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9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3114093"/>
                  </p:ext>
                </p:extLst>
              </p:nvPr>
            </p:nvGraphicFramePr>
            <p:xfrm>
              <a:off x="5614734" y="178847"/>
              <a:ext cx="5855370" cy="6309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58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58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758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589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7589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7589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28779"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i="1" dirty="0"/>
                            <a:t>f</a:t>
                          </a:r>
                          <a:endParaRPr lang="ru-RU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4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5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6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7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8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9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12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13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14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3430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15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3114093"/>
                  </p:ext>
                </p:extLst>
              </p:nvPr>
            </p:nvGraphicFramePr>
            <p:xfrm>
              <a:off x="5614734" y="178847"/>
              <a:ext cx="5855370" cy="6309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5895"/>
                    <a:gridCol w="975895"/>
                    <a:gridCol w="975895"/>
                    <a:gridCol w="975895"/>
                    <a:gridCol w="975895"/>
                    <a:gridCol w="975895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625" t="-10667" r="-403125" b="-1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99379" t="-10667" r="-300621" b="-1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1250" t="-10667" r="-202500" b="-1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1250" t="-10667" r="-102500" b="-1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i="1" dirty="0" smtClean="0"/>
                            <a:t>f</a:t>
                          </a:r>
                          <a:endParaRPr lang="ru-RU" sz="2400" i="1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2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 smtClean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3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4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 smtClean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5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6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7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8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9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 smtClean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12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 smtClean="0"/>
                            <a:t>0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13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14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15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ru-R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 smtClean="0"/>
                            <a:t>1</a:t>
                          </a:r>
                          <a:endParaRPr lang="ru-RU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324092" y="169634"/>
            <a:ext cx="44678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Занесем значения функции в таблицу истинности</a:t>
            </a:r>
          </a:p>
        </p:txBody>
      </p:sp>
      <p:sp>
        <p:nvSpPr>
          <p:cNvPr id="4" name="Стрелка вправо 3"/>
          <p:cNvSpPr/>
          <p:nvPr/>
        </p:nvSpPr>
        <p:spPr>
          <a:xfrm>
            <a:off x="3125165" y="474563"/>
            <a:ext cx="1111171" cy="567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15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0.00579 L 0.06459 -0.004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068" y="2593601"/>
            <a:ext cx="800100" cy="1095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90915" y="5279182"/>
                <a:ext cx="1113948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15" y="5279182"/>
                <a:ext cx="11139489" cy="615553"/>
              </a:xfrm>
              <a:prstGeom prst="rect">
                <a:avLst/>
              </a:prstGeom>
              <a:blipFill rotWithShape="0">
                <a:blip r:embed="rId3"/>
                <a:stretch>
                  <a:fillRect l="-55" t="-24752" b="-495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68" y="1087061"/>
            <a:ext cx="4714875" cy="39052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602" y="1034631"/>
            <a:ext cx="4600575" cy="3819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6096357" y="2472857"/>
                <a:ext cx="7824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ba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357" y="2472857"/>
                <a:ext cx="782458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6095079" y="2759728"/>
                <a:ext cx="7824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079" y="2759728"/>
                <a:ext cx="782458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6095079" y="3039686"/>
                <a:ext cx="7311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079" y="3039686"/>
                <a:ext cx="731162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6006464" y="3326557"/>
                <a:ext cx="9747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464" y="3326557"/>
                <a:ext cx="974754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994212" y="92304"/>
            <a:ext cx="5764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/>
              <a:t>Метод карт Карно</a:t>
            </a:r>
          </a:p>
        </p:txBody>
      </p:sp>
    </p:spTree>
    <p:extLst>
      <p:ext uri="{BB962C8B-B14F-4D97-AF65-F5344CB8AC3E}">
        <p14:creationId xmlns:p14="http://schemas.microsoft.com/office/powerpoint/2010/main" val="2965372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07101" y="1993707"/>
            <a:ext cx="9433264" cy="628196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ru-RU" sz="3600" b="1" dirty="0"/>
              <a:t>Выпишем СДНФ данной функции:</a:t>
            </a:r>
          </a:p>
          <a:p>
            <a:pPr marL="36900" indent="0">
              <a:buNone/>
            </a:pPr>
            <a:endParaRPr lang="ru-RU" sz="3600" b="1" dirty="0"/>
          </a:p>
          <a:p>
            <a:pPr marL="36900" indent="0">
              <a:buNone/>
            </a:pPr>
            <a:endParaRPr lang="ru-RU" sz="3600" b="1" dirty="0"/>
          </a:p>
        </p:txBody>
      </p:sp>
      <p:sp>
        <p:nvSpPr>
          <p:cNvPr id="4" name="Заголовок 3"/>
          <p:cNvSpPr txBox="1">
            <a:spLocks noGrp="1"/>
          </p:cNvSpPr>
          <p:nvPr>
            <p:ph type="title"/>
          </p:nvPr>
        </p:nvSpPr>
        <p:spPr>
          <a:xfrm>
            <a:off x="913795" y="740882"/>
            <a:ext cx="10353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/>
              <a:t>Метод </a:t>
            </a:r>
            <a:r>
              <a:rPr lang="ru-RU" sz="4000" b="1" dirty="0" err="1"/>
              <a:t>Квайна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3442" y="3427598"/>
                <a:ext cx="11139489" cy="1832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)=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0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endParaRPr lang="ru-RU" sz="4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bar>
                        <m:barPr>
                          <m:pos m:val="top"/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4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bar>
                          <m:r>
                            <a:rPr lang="en-US" sz="4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ba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ru-RU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bar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ru-RU" sz="4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ru-RU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bar>
                        <m:barPr>
                          <m:pos m:val="top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bar>
                      <m:r>
                        <a:rPr lang="en-U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42" y="3427598"/>
                <a:ext cx="11139489" cy="1832489"/>
              </a:xfrm>
              <a:prstGeom prst="rect">
                <a:avLst/>
              </a:prstGeom>
              <a:blipFill rotWithShape="0">
                <a:blip r:embed="rId2"/>
                <a:stretch>
                  <a:fillRect l="-55" t="-83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96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1424473"/>
          </a:xfrm>
        </p:spPr>
        <p:txBody>
          <a:bodyPr>
            <a:normAutofit fontScale="90000"/>
          </a:bodyPr>
          <a:lstStyle/>
          <a:p>
            <a:r>
              <a:rPr lang="en-US" dirty="0"/>
              <a:t>I</a:t>
            </a:r>
            <a:r>
              <a:rPr lang="ru-RU" dirty="0"/>
              <a:t>. В</a:t>
            </a:r>
            <a:r>
              <a:rPr lang="ru-RU" dirty="0">
                <a:effectLst/>
              </a:rPr>
              <a:t>ыпишем все элементарные конъюнкции, входящие в данную функцию: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62066" y="2503869"/>
                <a:ext cx="8742783" cy="3693319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8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bar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4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4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  <m:r>
                          <a:rPr lang="en-US" sz="4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4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bar>
                  </m:oMath>
                </a14:m>
                <a:endParaRPr lang="ru-RU" sz="4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bar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066" y="2503869"/>
                <a:ext cx="8742783" cy="369331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702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373224"/>
            <a:ext cx="10353762" cy="1791478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II</a:t>
            </a:r>
            <a:r>
              <a:rPr lang="ru-RU" dirty="0">
                <a:effectLst/>
              </a:rPr>
              <a:t>. определим простые </a:t>
            </a:r>
            <a:r>
              <a:rPr lang="ru-RU" dirty="0" err="1">
                <a:effectLst/>
              </a:rPr>
              <a:t>импликанты</a:t>
            </a:r>
            <a:r>
              <a:rPr lang="ru-RU" dirty="0">
                <a:effectLst/>
              </a:rPr>
              <a:t> путем попарного сравнения (склеившиеся конъюнкции пометим знаком «*»):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46719" y="2483405"/>
                <a:ext cx="5831632" cy="3693319"/>
              </a:xfrm>
              <a:prstGeom prst="rect">
                <a:avLst/>
              </a:prstGeom>
              <a:noFill/>
            </p:spPr>
            <p:txBody>
              <a:bodyPr wrap="square" lIns="0" tIns="0" rIns="0" bIns="0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ru-RU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ru-RU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ru-RU" sz="40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ru-RU" sz="4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4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4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bar>
                          <m:r>
                            <a:rPr lang="en-US" sz="4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3−5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19" y="2483405"/>
                <a:ext cx="5831632" cy="369331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6090676" y="2099551"/>
                <a:ext cx="5514392" cy="44610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4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4−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bar>
                        <m:barPr>
                          <m:pos m:val="top"/>
                          <m:ctrlPr>
                            <a:rPr lang="ru-RU" sz="40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bar>
                            <m:barPr>
                              <m:pos m:val="top"/>
                              <m:ctrlPr>
                                <a:rPr lang="ru-RU" sz="40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4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ba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9−10</m:t>
                              </m:r>
                            </m:e>
                          </m:d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4000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676" y="2099551"/>
                <a:ext cx="5514392" cy="446102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723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1424473"/>
          </a:xfrm>
        </p:spPr>
        <p:txBody>
          <a:bodyPr>
            <a:normAutofit/>
          </a:bodyPr>
          <a:lstStyle/>
          <a:p>
            <a:r>
              <a:rPr lang="ru-RU" dirty="0"/>
              <a:t>На данном шаге не осталось непомеченных </a:t>
            </a:r>
            <a:r>
              <a:rPr lang="ru-RU" dirty="0" err="1"/>
              <a:t>импликант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29004" y="2503869"/>
                <a:ext cx="10375641" cy="3693319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8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bar>
                  </m:oMath>
                </a14:m>
                <a:r>
                  <a:rPr lang="ru-RU" sz="4800" i="1" dirty="0">
                    <a:latin typeface="Cambria Math" panose="02040503050406030204" pitchFamily="18" charset="0"/>
                  </a:rPr>
                  <a:t>  *</a:t>
                </a: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4800" b="0" i="1" smtClean="0">
                        <a:latin typeface="Cambria Math" panose="02040503050406030204" pitchFamily="18" charset="0"/>
                      </a:rPr>
                      <m:t>  ∗</m:t>
                    </m:r>
                  </m:oMath>
                </a14:m>
                <a:endParaRPr lang="ru-RU" sz="4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4800" b="0" i="1" smtClean="0">
                        <a:latin typeface="Cambria Math" panose="02040503050406030204" pitchFamily="18" charset="0"/>
                      </a:rPr>
                      <m:t>  ∗</m:t>
                    </m:r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4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4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4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  <m:r>
                          <a:rPr lang="en-US" sz="4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800" i="1" dirty="0">
                    <a:latin typeface="Cambria Math" panose="02040503050406030204" pitchFamily="18" charset="0"/>
                  </a:rPr>
                  <a:t>   *</a:t>
                </a: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4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4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800" i="1" dirty="0">
                    <a:latin typeface="Cambria Math" panose="02040503050406030204" pitchFamily="18" charset="0"/>
                  </a:rPr>
                  <a:t>   *</a:t>
                </a: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bar>
                    <m:r>
                      <a:rPr lang="ru-RU" sz="4800" b="0" i="1" smtClean="0">
                        <a:latin typeface="Cambria Math" panose="02040503050406030204" pitchFamily="18" charset="0"/>
                      </a:rPr>
                      <m:t> ∗</m:t>
                    </m:r>
                  </m:oMath>
                </a14:m>
                <a:endParaRPr lang="ru-RU" sz="4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4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ru-RU" sz="4800" i="1" dirty="0">
                    <a:latin typeface="Cambria Math" panose="02040503050406030204" pitchFamily="18" charset="0"/>
                  </a:rPr>
                  <a:t>*</a:t>
                </a: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4800" b="0" i="1" smtClean="0">
                        <a:latin typeface="Cambria Math" panose="02040503050406030204" pitchFamily="18" charset="0"/>
                      </a:rPr>
                      <m:t>  ∗</m:t>
                    </m:r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bar>
                    <m:r>
                      <a:rPr lang="ru-RU" sz="48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4800" b="0" i="1" smtClean="0">
                        <a:latin typeface="Cambria Math" panose="02040503050406030204" pitchFamily="18" charset="0"/>
                      </a:rPr>
                      <m:t> ∗</m:t>
                    </m:r>
                  </m:oMath>
                </a14:m>
                <a:endParaRPr lang="ru-RU" sz="48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sz="4800" b="0" i="1" smtClean="0">
                        <a:latin typeface="Cambria Math" panose="02040503050406030204" pitchFamily="18" charset="0"/>
                      </a:rPr>
                      <m:t> ∗</m:t>
                    </m:r>
                  </m:oMath>
                </a14:m>
                <a:endParaRPr lang="ru-RU" sz="4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004" y="2503869"/>
                <a:ext cx="10375641" cy="3693319"/>
              </a:xfrm>
              <a:prstGeom prst="rect">
                <a:avLst/>
              </a:prstGeom>
              <a:blipFill rotWithShape="0">
                <a:blip r:embed="rId2"/>
                <a:stretch>
                  <a:fillRect t="-5116" b="-89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529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373224"/>
            <a:ext cx="10740140" cy="1791478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III</a:t>
            </a:r>
            <a:r>
              <a:rPr lang="ru-RU" dirty="0">
                <a:effectLst/>
              </a:rPr>
              <a:t>. Продолжим попарное сравнение (склеившиеся конъюнкции пометим знаком «*»):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70305" y="2356051"/>
                <a:ext cx="4320072" cy="3693319"/>
              </a:xfrm>
              <a:prstGeom prst="rect">
                <a:avLst/>
              </a:prstGeom>
              <a:noFill/>
            </p:spPr>
            <p:txBody>
              <a:bodyPr wrap="square" lIns="0" tIns="0" rIns="0" bIns="0" numCol="1" rtlCol="0">
                <a:spAutoFit/>
              </a:bodyPr>
              <a:lstStyle/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0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ru-RU" sz="40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bar>
                  </m:oMath>
                </a14:m>
                <a:endParaRPr lang="ru-RU" sz="4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4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  <m:r>
                          <a:rPr lang="en-US" sz="4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000" dirty="0"/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305" y="2356051"/>
                <a:ext cx="4320072" cy="369331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6861872" y="1972197"/>
                <a:ext cx="3522608" cy="44610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ru-RU" sz="40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pos m:val="top"/>
                            <m:ctrlPr>
                              <a:rPr lang="ru-RU" sz="40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4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000" dirty="0"/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000" dirty="0"/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ru-RU" sz="4000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1872" y="1972197"/>
                <a:ext cx="3522608" cy="446102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519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373224"/>
            <a:ext cx="10740140" cy="1791478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III</a:t>
            </a:r>
            <a:r>
              <a:rPr lang="ru-RU" dirty="0">
                <a:effectLst/>
              </a:rPr>
              <a:t>. Продолжим попарное сравнение (склеившиеся конъюнкции пометим знаком «*»):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18051" y="2677885"/>
                <a:ext cx="4320072" cy="2462213"/>
              </a:xfrm>
              <a:prstGeom prst="rect">
                <a:avLst/>
              </a:prstGeom>
              <a:noFill/>
            </p:spPr>
            <p:txBody>
              <a:bodyPr wrap="square" lIns="0" tIns="0" rIns="0" bIns="0" numCol="1" rtlCol="0">
                <a:spAutoFit/>
              </a:bodyPr>
              <a:lstStyle/>
              <a:p>
                <a:r>
                  <a:rPr lang="ru-RU" sz="4000" dirty="0"/>
                  <a:t>(1-10)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0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4000" i="1" dirty="0">
                  <a:latin typeface="Cambria Math" panose="02040503050406030204" pitchFamily="18" charset="0"/>
                </a:endParaRPr>
              </a:p>
              <a:p>
                <a:r>
                  <a:rPr lang="ru-RU" sz="4000" dirty="0"/>
                  <a:t>(2-3)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4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sz="4000" dirty="0"/>
                  <a:t>(3-8)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000" i="1" dirty="0">
                  <a:latin typeface="Cambria Math" panose="02040503050406030204" pitchFamily="18" charset="0"/>
                </a:endParaRPr>
              </a:p>
              <a:p>
                <a:r>
                  <a:rPr lang="ru-RU" sz="4000" dirty="0"/>
                  <a:t>(4-7)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051" y="2677885"/>
                <a:ext cx="4320072" cy="2462213"/>
              </a:xfrm>
              <a:prstGeom prst="rect">
                <a:avLst/>
              </a:prstGeom>
              <a:blipFill rotWithShape="0">
                <a:blip r:embed="rId2"/>
                <a:stretch>
                  <a:fillRect l="-7052" t="-6188" b="-116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7254249" y="2677885"/>
                <a:ext cx="3522608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4000" dirty="0">
                    <a:ea typeface="Cambria Math" panose="02040503050406030204" pitchFamily="18" charset="0"/>
                  </a:rPr>
                  <a:t>(5-6)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000" dirty="0"/>
              </a:p>
              <a:p>
                <a:r>
                  <a:rPr lang="ru-RU" sz="4000" dirty="0"/>
                  <a:t>(5-11)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000" dirty="0"/>
              </a:p>
              <a:p>
                <a:r>
                  <a:rPr lang="ru-RU" sz="4000" dirty="0"/>
                  <a:t>(7-12)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sz="4000" dirty="0"/>
                  <a:t>(8-9)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4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249" y="2677885"/>
                <a:ext cx="3522608" cy="2554545"/>
              </a:xfrm>
              <a:prstGeom prst="rect">
                <a:avLst/>
              </a:prstGeom>
              <a:blipFill rotWithShape="0">
                <a:blip r:embed="rId3"/>
                <a:stretch>
                  <a:fillRect l="-6055" t="-4296" b="-93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25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373224"/>
            <a:ext cx="10740140" cy="1791478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III</a:t>
            </a:r>
            <a:r>
              <a:rPr lang="ru-RU" dirty="0">
                <a:effectLst/>
              </a:rPr>
              <a:t>. Оставшаяся непомеченной </a:t>
            </a:r>
            <a:r>
              <a:rPr lang="ru-RU" dirty="0" err="1">
                <a:effectLst/>
              </a:rPr>
              <a:t>импликанта</a:t>
            </a:r>
            <a:r>
              <a:rPr lang="ru-RU" dirty="0">
                <a:effectLst/>
              </a:rPr>
              <a:t>  номер 13 является простой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63793" y="2164702"/>
                <a:ext cx="4320072" cy="3816429"/>
              </a:xfrm>
              <a:prstGeom prst="rect">
                <a:avLst/>
              </a:prstGeom>
              <a:noFill/>
            </p:spPr>
            <p:txBody>
              <a:bodyPr wrap="square" lIns="0" tIns="0" rIns="0" bIns="0" numCol="1" rtlCol="0">
                <a:spAutoFit/>
              </a:bodyPr>
              <a:lstStyle/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0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r>
                  <a:rPr lang="ru-RU" sz="4000" i="1" dirty="0">
                    <a:latin typeface="Cambria Math" panose="02040503050406030204" pitchFamily="18" charset="0"/>
                  </a:rPr>
                  <a:t>  </a:t>
                </a:r>
                <a:r>
                  <a:rPr lang="ru-RU" sz="4000" dirty="0">
                    <a:latin typeface="Cambria Math" panose="02040503050406030204" pitchFamily="18" charset="0"/>
                  </a:rPr>
                  <a:t>*</a:t>
                </a: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ru-RU" sz="40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bar>
                  </m:oMath>
                </a14:m>
                <a:r>
                  <a:rPr lang="ru-RU" sz="4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ru-RU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*</a:t>
                </a: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000" i="1" dirty="0">
                    <a:latin typeface="Cambria Math" panose="02040503050406030204" pitchFamily="18" charset="0"/>
                  </a:rPr>
                  <a:t>   </a:t>
                </a:r>
                <a:r>
                  <a:rPr lang="ru-RU" sz="4400" dirty="0">
                    <a:latin typeface="Cambria Math" panose="02040503050406030204" pitchFamily="18" charset="0"/>
                  </a:rPr>
                  <a:t>*</a:t>
                </a:r>
                <a:endParaRPr lang="en-US" sz="4400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000" i="1" dirty="0">
                    <a:latin typeface="Cambria Math" panose="02040503050406030204" pitchFamily="18" charset="0"/>
                  </a:rPr>
                  <a:t>   </a:t>
                </a:r>
                <a:r>
                  <a:rPr lang="ru-RU" sz="4400" dirty="0">
                    <a:latin typeface="Cambria Math" panose="02040503050406030204" pitchFamily="18" charset="0"/>
                  </a:rPr>
                  <a:t>*</a:t>
                </a: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4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  <m:r>
                          <a:rPr lang="en-US" sz="4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000" dirty="0"/>
                  <a:t>   *</a:t>
                </a:r>
                <a:endParaRPr lang="en-US" sz="4000" dirty="0"/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000" dirty="0"/>
                  <a:t>   *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793" y="2164702"/>
                <a:ext cx="4320072" cy="3816429"/>
              </a:xfrm>
              <a:prstGeom prst="rect">
                <a:avLst/>
              </a:prstGeom>
              <a:blipFill rotWithShape="0">
                <a:blip r:embed="rId2"/>
                <a:stretch>
                  <a:fillRect t="-3994" b="-71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6541030" y="1873504"/>
                <a:ext cx="3522608" cy="44610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ru-RU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*</a:t>
                </a:r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000" i="1" dirty="0">
                    <a:latin typeface="Cambria Math" panose="02040503050406030204" pitchFamily="18" charset="0"/>
                  </a:rPr>
                  <a:t>    </a:t>
                </a:r>
                <a:r>
                  <a:rPr lang="ru-RU" sz="4000" dirty="0">
                    <a:latin typeface="Cambria Math" panose="02040503050406030204" pitchFamily="18" charset="0"/>
                  </a:rPr>
                  <a:t>*</a:t>
                </a:r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000" i="1" dirty="0">
                    <a:latin typeface="Cambria Math" panose="02040503050406030204" pitchFamily="18" charset="0"/>
                  </a:rPr>
                  <a:t>    </a:t>
                </a:r>
                <a:r>
                  <a:rPr lang="ru-RU" sz="4000" dirty="0">
                    <a:latin typeface="Cambria Math" panose="02040503050406030204" pitchFamily="18" charset="0"/>
                  </a:rPr>
                  <a:t>*</a:t>
                </a:r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ru-RU" sz="40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r>
                  <a:rPr lang="ru-RU" sz="4000" i="1" dirty="0">
                    <a:latin typeface="Cambria Math" panose="02040503050406030204" pitchFamily="18" charset="0"/>
                  </a:rPr>
                  <a:t>   </a:t>
                </a:r>
                <a:r>
                  <a:rPr lang="ru-RU" sz="4000" dirty="0">
                    <a:latin typeface="Cambria Math" panose="02040503050406030204" pitchFamily="18" charset="0"/>
                  </a:rPr>
                  <a:t>*</a:t>
                </a:r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pos m:val="top"/>
                            <m:ctrlPr>
                              <a:rPr lang="ru-RU" sz="40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4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000" dirty="0"/>
                  <a:t>   *</a:t>
                </a:r>
                <a:endParaRPr lang="en-US" sz="4000" dirty="0"/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4000" dirty="0"/>
                  <a:t>   *</a:t>
                </a:r>
                <a:endParaRPr lang="en-US" sz="4000" dirty="0"/>
              </a:p>
              <a:p>
                <a:pPr marL="742950" indent="-742950"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ru-RU" sz="4000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030" y="1873504"/>
                <a:ext cx="3522608" cy="4461029"/>
              </a:xfrm>
              <a:prstGeom prst="rect">
                <a:avLst/>
              </a:prstGeom>
              <a:blipFill rotWithShape="0">
                <a:blip r:embed="rId3"/>
                <a:stretch>
                  <a:fillRect t="-2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07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373224"/>
            <a:ext cx="10740140" cy="1791478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IV</a:t>
            </a:r>
            <a:r>
              <a:rPr lang="ru-RU" dirty="0">
                <a:effectLst/>
              </a:rPr>
              <a:t>. Вычеркнем повторяющиеся конъюнкции и продолжим попарное сравнение помечая знаком «*» склеивающиеся </a:t>
            </a:r>
            <a:r>
              <a:rPr lang="ru-RU" dirty="0" err="1">
                <a:effectLst/>
              </a:rPr>
              <a:t>импликанты</a:t>
            </a:r>
            <a:r>
              <a:rPr lang="ru-RU" dirty="0">
                <a:effectLst/>
              </a:rPr>
              <a:t>):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63793" y="2537925"/>
                <a:ext cx="4320072" cy="3693319"/>
              </a:xfrm>
              <a:prstGeom prst="rect">
                <a:avLst/>
              </a:prstGeom>
              <a:noFill/>
            </p:spPr>
            <p:txBody>
              <a:bodyPr wrap="square" lIns="0" tIns="0" rIns="0" bIns="0" numCol="1" rtlCol="0">
                <a:spAutoFit/>
              </a:bodyPr>
              <a:lstStyle/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6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6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6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6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6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6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6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6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6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6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793" y="2537925"/>
                <a:ext cx="4320072" cy="369331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114290" y="2537925"/>
            <a:ext cx="42503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Так как все </a:t>
            </a:r>
            <a:r>
              <a:rPr lang="ru-RU" sz="4000" dirty="0" err="1"/>
              <a:t>импликанты</a:t>
            </a:r>
            <a:r>
              <a:rPr lang="ru-RU" sz="4000" dirty="0"/>
              <a:t> различны, дальнейшее склеивание невозможно</a:t>
            </a:r>
          </a:p>
        </p:txBody>
      </p:sp>
    </p:spTree>
    <p:extLst>
      <p:ext uri="{BB962C8B-B14F-4D97-AF65-F5344CB8AC3E}">
        <p14:creationId xmlns:p14="http://schemas.microsoft.com/office/powerpoint/2010/main" val="3388776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9109" y="413657"/>
            <a:ext cx="10353762" cy="970450"/>
          </a:xfrm>
        </p:spPr>
        <p:txBody>
          <a:bodyPr>
            <a:noAutofit/>
          </a:bodyPr>
          <a:lstStyle/>
          <a:p>
            <a:r>
              <a:rPr lang="ru-RU" sz="6000" dirty="0"/>
              <a:t>Итак, простые </a:t>
            </a:r>
            <a:r>
              <a:rPr lang="ru-RU" sz="6000" dirty="0" err="1"/>
              <a:t>импликанты</a:t>
            </a:r>
            <a:r>
              <a:rPr lang="ru-RU" sz="60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779019" y="1384107"/>
                <a:ext cx="4320072" cy="4616648"/>
              </a:xfrm>
              <a:prstGeom prst="rect">
                <a:avLst/>
              </a:prstGeom>
              <a:noFill/>
            </p:spPr>
            <p:txBody>
              <a:bodyPr wrap="square" lIns="0" tIns="0" rIns="0" bIns="0" numCol="1" rtlCol="0">
                <a:spAutoFit/>
              </a:bodyPr>
              <a:lstStyle/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6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ru-RU" sz="6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6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6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6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6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6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6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6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6000" i="1" dirty="0">
                  <a:latin typeface="Cambria Math" panose="02040503050406030204" pitchFamily="18" charset="0"/>
                </a:endParaRPr>
              </a:p>
              <a:p>
                <a:pPr marL="742950" indent="-7429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6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6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6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6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ru-RU" sz="6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019" y="1384107"/>
                <a:ext cx="4320072" cy="461664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376330"/>
            <a:ext cx="10353762" cy="621115"/>
          </a:xfrm>
        </p:spPr>
        <p:txBody>
          <a:bodyPr>
            <a:noAutofit/>
          </a:bodyPr>
          <a:lstStyle/>
          <a:p>
            <a:r>
              <a:rPr lang="ru-RU" dirty="0"/>
              <a:t>Определение существенных </a:t>
            </a:r>
            <a:r>
              <a:rPr lang="ru-RU" dirty="0" err="1"/>
              <a:t>импликант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346780"/>
            <a:ext cx="10353762" cy="2282828"/>
          </a:xfrm>
        </p:spPr>
        <p:txBody>
          <a:bodyPr>
            <a:noAutofit/>
          </a:bodyPr>
          <a:lstStyle/>
          <a:p>
            <a:r>
              <a:rPr lang="ru-RU" sz="3200" dirty="0">
                <a:effectLst/>
              </a:rPr>
              <a:t>Составим таблицу расстановки меток:</a:t>
            </a:r>
          </a:p>
          <a:p>
            <a:pPr marL="36900" indent="0">
              <a:buNone/>
            </a:pPr>
            <a:r>
              <a:rPr lang="ru-RU" sz="3200" dirty="0">
                <a:effectLst/>
              </a:rPr>
              <a:t>	в заголовках столбцов содержатся все конъюнкции из СДНФ данной функции, а в заголовках строк – простые </a:t>
            </a:r>
            <a:r>
              <a:rPr lang="ru-RU" sz="3200" dirty="0" err="1">
                <a:effectLst/>
              </a:rPr>
              <a:t>импликанты</a:t>
            </a:r>
            <a:endParaRPr lang="ru-RU" sz="3200" dirty="0">
              <a:effectLst/>
            </a:endParaRPr>
          </a:p>
          <a:p>
            <a:pPr marL="36900" indent="0">
              <a:buNone/>
            </a:pPr>
            <a:endParaRPr lang="ru-RU" sz="3200" dirty="0">
              <a:effectLst/>
            </a:endParaRPr>
          </a:p>
          <a:p>
            <a:pPr marL="36900" indent="0">
              <a:buNone/>
            </a:pP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7274980"/>
                  </p:ext>
                </p:extLst>
              </p:nvPr>
            </p:nvGraphicFramePr>
            <p:xfrm>
              <a:off x="247085" y="3978943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 sz="16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7274980"/>
                  </p:ext>
                </p:extLst>
              </p:nvPr>
            </p:nvGraphicFramePr>
            <p:xfrm>
              <a:off x="247085" y="3978943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538" r="-897714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149" t="-1538" r="-802874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149" t="-1538" r="-702874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8857" t="-1538" r="-598857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724" t="-1538" r="-502299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286" t="-1538" r="-399429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2299" t="-1538" r="-301724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299" t="-1538" r="-201724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97143" t="-1538" r="-100571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874" t="-1538" r="-1149" b="-5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" t="-101538" r="-1003448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" t="-198485" r="-1003448" b="-29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" t="-303077" r="-1003448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" t="-403077" r="-1003448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" t="-503077" r="-1003448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1848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существенных </a:t>
            </a:r>
            <a:r>
              <a:rPr lang="ru-RU" dirty="0" err="1"/>
              <a:t>импликант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732450"/>
            <a:ext cx="10353762" cy="620226"/>
          </a:xfrm>
        </p:spPr>
        <p:txBody>
          <a:bodyPr>
            <a:noAutofit/>
          </a:bodyPr>
          <a:lstStyle/>
          <a:p>
            <a:r>
              <a:rPr lang="ru-RU" sz="3200" dirty="0">
                <a:effectLst/>
              </a:rPr>
              <a:t>Составим таблицу расстановки меток:</a:t>
            </a:r>
          </a:p>
          <a:p>
            <a:pPr marL="36900" indent="0">
              <a:buNone/>
            </a:pP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057599"/>
                  </p:ext>
                </p:extLst>
              </p:nvPr>
            </p:nvGraphicFramePr>
            <p:xfrm>
              <a:off x="247085" y="322316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 sz="16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057599"/>
                  </p:ext>
                </p:extLst>
              </p:nvPr>
            </p:nvGraphicFramePr>
            <p:xfrm>
              <a:off x="247085" y="322316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000" t="-1538" r="-897714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149" t="-1538" r="-802874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01149" t="-1538" r="-702874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98857" t="-1538" r="-598857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01724" t="-1538" r="-502299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98286" t="-1538" r="-399429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02299" t="-1538" r="-301724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02299" t="-1538" r="-201724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97143" t="-1538" r="-100571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2874" t="-1538" r="-1149" b="-529231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01538" r="-1003448" b="-4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98485" r="-1003448" b="-3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303077" r="-1003448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403077" r="-1003448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503077" r="-1003448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2145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2844" y="258275"/>
            <a:ext cx="10353762" cy="970450"/>
          </a:xfrm>
        </p:spPr>
        <p:txBody>
          <a:bodyPr/>
          <a:lstStyle/>
          <a:p>
            <a:r>
              <a:rPr lang="ru-RU" dirty="0"/>
              <a:t>Определение существенных </a:t>
            </a:r>
            <a:r>
              <a:rPr lang="ru-RU" dirty="0" err="1"/>
              <a:t>импликант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2844" y="1352550"/>
            <a:ext cx="10353762" cy="2457450"/>
          </a:xfrm>
        </p:spPr>
        <p:txBody>
          <a:bodyPr>
            <a:noAutofit/>
          </a:bodyPr>
          <a:lstStyle/>
          <a:p>
            <a:r>
              <a:rPr lang="ru-RU" sz="3200" dirty="0">
                <a:effectLst/>
              </a:rPr>
              <a:t>Вычеркнем в таблице столбцы, в которых имеется только одна метка, и строки, в которых стоят метки в вычеркнутых столбцах (это существенные </a:t>
            </a:r>
            <a:r>
              <a:rPr lang="ru-RU" sz="3200" dirty="0" err="1">
                <a:effectLst/>
              </a:rPr>
              <a:t>импликанты</a:t>
            </a:r>
            <a:r>
              <a:rPr lang="ru-RU" sz="3200" dirty="0">
                <a:effectLst/>
              </a:rPr>
              <a:t>):</a:t>
            </a:r>
          </a:p>
          <a:p>
            <a:pPr marL="36900" indent="0">
              <a:buNone/>
            </a:pP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3088898"/>
                  </p:ext>
                </p:extLst>
              </p:nvPr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 sz="16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3088898"/>
                  </p:ext>
                </p:extLst>
              </p:nvPr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000" t="-1538" r="-89771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149" t="-1538" r="-8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01149" t="-1538" r="-7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98857" t="-1538" r="-598857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01724" t="-1538" r="-50229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98286" t="-1538" r="-39942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02299" t="-1538" r="-3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02299" t="-1538" r="-2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97143" t="-1538" r="-100571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2874" t="-1538" r="-1149" b="-5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01538" r="-1003448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98485" r="-1003448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303077" r="-1003448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403077" r="-1003448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503077" r="-1003448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13895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2844" y="258275"/>
            <a:ext cx="10353762" cy="970450"/>
          </a:xfrm>
        </p:spPr>
        <p:txBody>
          <a:bodyPr/>
          <a:lstStyle/>
          <a:p>
            <a:r>
              <a:rPr lang="ru-RU" dirty="0"/>
              <a:t>Определение существенных </a:t>
            </a:r>
            <a:r>
              <a:rPr lang="ru-RU" dirty="0" err="1"/>
              <a:t>импликант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2844" y="1352550"/>
            <a:ext cx="10353762" cy="2457450"/>
          </a:xfrm>
        </p:spPr>
        <p:txBody>
          <a:bodyPr>
            <a:noAutofit/>
          </a:bodyPr>
          <a:lstStyle/>
          <a:p>
            <a:r>
              <a:rPr lang="ru-RU" sz="3200" dirty="0">
                <a:effectLst/>
              </a:rPr>
              <a:t>Вычеркнем в таблице столбцы, в которых имеется только одна метка, и строки, в которых стоят метки в вычеркнутых столбцах (это существенные </a:t>
            </a:r>
            <a:r>
              <a:rPr lang="ru-RU" sz="3200" dirty="0" err="1">
                <a:effectLst/>
              </a:rPr>
              <a:t>импликанты</a:t>
            </a:r>
            <a:r>
              <a:rPr lang="ru-RU" sz="3200" dirty="0">
                <a:effectLst/>
              </a:rPr>
              <a:t>):</a:t>
            </a:r>
          </a:p>
          <a:p>
            <a:pPr marL="36900" indent="0">
              <a:buNone/>
            </a:pP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1360524"/>
                  </p:ext>
                </p:extLst>
              </p:nvPr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 sz="16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1360524"/>
                  </p:ext>
                </p:extLst>
              </p:nvPr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000" t="-1538" r="-89771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149" t="-1538" r="-8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01149" t="-1538" r="-7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98857" t="-1538" r="-598857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01724" t="-1538" r="-50229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98286" t="-1538" r="-39942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02299" t="-1538" r="-3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02299" t="-1538" r="-2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97143" t="-1538" r="-100571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2874" t="-1538" r="-1149" b="-5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01538" r="-1003448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98485" r="-1003448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303077" r="-1003448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403077" r="-1003448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503077" r="-1003448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24068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2844" y="258275"/>
            <a:ext cx="10353762" cy="970450"/>
          </a:xfrm>
        </p:spPr>
        <p:txBody>
          <a:bodyPr/>
          <a:lstStyle/>
          <a:p>
            <a:r>
              <a:rPr lang="ru-RU" dirty="0"/>
              <a:t>Определение существенных </a:t>
            </a:r>
            <a:r>
              <a:rPr lang="ru-RU" dirty="0" err="1"/>
              <a:t>импликант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2844" y="1352550"/>
            <a:ext cx="10353762" cy="2457450"/>
          </a:xfrm>
        </p:spPr>
        <p:txBody>
          <a:bodyPr>
            <a:noAutofit/>
          </a:bodyPr>
          <a:lstStyle/>
          <a:p>
            <a:r>
              <a:rPr lang="ru-RU" sz="3200" dirty="0">
                <a:effectLst/>
              </a:rPr>
              <a:t>Теперь вычеркнем все столбцы, в которых имеются метки в вычеркнутых строках, получим: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4761414"/>
                  </p:ext>
                </p:extLst>
              </p:nvPr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 sz="16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4761414"/>
                  </p:ext>
                </p:extLst>
              </p:nvPr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000" t="-1538" r="-89771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149" t="-1538" r="-8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01149" t="-1538" r="-7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98857" t="-1538" r="-598857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01724" t="-1538" r="-50229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98286" t="-1538" r="-39942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02299" t="-1538" r="-3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02299" t="-1538" r="-2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97143" t="-1538" r="-100571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2874" t="-1538" r="-1149" b="-5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01538" r="-1003448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98485" r="-1003448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303077" r="-1003448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403077" r="-1003448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503077" r="-1003448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500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2844" y="258275"/>
            <a:ext cx="10353762" cy="970450"/>
          </a:xfrm>
        </p:spPr>
        <p:txBody>
          <a:bodyPr/>
          <a:lstStyle/>
          <a:p>
            <a:r>
              <a:rPr lang="ru-RU" dirty="0"/>
              <a:t>Определение существенных </a:t>
            </a:r>
            <a:r>
              <a:rPr lang="ru-RU" dirty="0" err="1"/>
              <a:t>импликант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2844" y="1352550"/>
            <a:ext cx="10353762" cy="2133600"/>
          </a:xfrm>
        </p:spPr>
        <p:txBody>
          <a:bodyPr>
            <a:noAutofit/>
          </a:bodyPr>
          <a:lstStyle/>
          <a:p>
            <a:r>
              <a:rPr lang="ru-RU" sz="3200" dirty="0">
                <a:effectLst/>
              </a:rPr>
              <a:t>В таблице остались 2 простые </a:t>
            </a:r>
            <a:r>
              <a:rPr lang="ru-RU" sz="3200" dirty="0" err="1">
                <a:effectLst/>
              </a:rPr>
              <a:t>импликанты</a:t>
            </a:r>
            <a:r>
              <a:rPr lang="ru-RU" sz="3200" dirty="0">
                <a:effectLst/>
              </a:rPr>
              <a:t>, которые покрывают одну и ту же конъюнкцию. В минимальную ДНФ может войти любая из них. </a:t>
            </a:r>
          </a:p>
          <a:p>
            <a:r>
              <a:rPr lang="ru-RU" sz="3200" dirty="0">
                <a:effectLst/>
              </a:rPr>
              <a:t>Существенные </a:t>
            </a:r>
            <a:r>
              <a:rPr lang="ru-RU" sz="3200" dirty="0" err="1">
                <a:effectLst/>
              </a:rPr>
              <a:t>импликанты</a:t>
            </a:r>
            <a:r>
              <a:rPr lang="ru-RU" sz="3200" dirty="0">
                <a:effectLst/>
              </a:rPr>
              <a:t> войдут все!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/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 sz="16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/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000" t="-1538" r="-89771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149" t="-1538" r="-8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01149" t="-1538" r="-7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98857" t="-1538" r="-598857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01724" t="-1538" r="-50229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98286" t="-1538" r="-39942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02299" t="-1538" r="-3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02299" t="-1538" r="-2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97143" t="-1538" r="-100571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2874" t="-1538" r="-1149" b="-5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01538" r="-1003448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98485" r="-1003448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303077" r="-1003448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403077" r="-1003448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503077" r="-1003448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1738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2844" y="258275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Запишем минимальную ДНФ данной функции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/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1062471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 sz="16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bar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bar>
                                  <m:barPr>
                                    <m:pos m:val="top"/>
                                    <m:ctrlP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/>
            </p:nvGraphicFramePr>
            <p:xfrm>
              <a:off x="266135" y="3928012"/>
              <a:ext cx="11687181" cy="237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  <a:gridCol w="1062471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ru-RU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000" t="-1538" r="-89771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149" t="-1538" r="-8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01149" t="-1538" r="-70287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98857" t="-1538" r="-598857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01724" t="-1538" r="-50229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98286" t="-1538" r="-399429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702299" t="-1538" r="-3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02299" t="-1538" r="-201724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897143" t="-1538" r="-100571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02874" t="-1538" r="-1149" b="-5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01538" r="-1003448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198485" r="-1003448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303077" r="-1003448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403077" r="-1003448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75" t="-503077" r="-1003448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>
                              <a:solidFill>
                                <a:schemeClr val="bg1"/>
                              </a:solidFill>
                            </a:rPr>
                            <a:t>+</a:t>
                          </a:r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13827" y="1456695"/>
                <a:ext cx="1113948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27" y="1456695"/>
                <a:ext cx="11139489" cy="615553"/>
              </a:xfrm>
              <a:prstGeom prst="rect">
                <a:avLst/>
              </a:prstGeom>
              <a:blipFill rotWithShape="0">
                <a:blip r:embed="rId3"/>
                <a:stretch>
                  <a:fillRect l="-109" t="-25743" b="-48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3826" y="2607784"/>
                <a:ext cx="1113948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4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26" y="2607784"/>
                <a:ext cx="11139489" cy="615553"/>
              </a:xfrm>
              <a:prstGeom prst="rect">
                <a:avLst/>
              </a:prstGeom>
              <a:blipFill rotWithShape="0">
                <a:blip r:embed="rId4"/>
                <a:stretch>
                  <a:fillRect l="-109" t="-25743" b="-48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793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6945" y="186225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ru-RU" dirty="0"/>
              <a:t>Построим функциональную схему, реализующую данную логическую функцию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470822" y="1484778"/>
                <a:ext cx="813760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822" y="1484778"/>
                <a:ext cx="8137608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75" t="-25714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Группа 99"/>
          <p:cNvGrpSpPr/>
          <p:nvPr/>
        </p:nvGrpSpPr>
        <p:grpSpPr>
          <a:xfrm>
            <a:off x="604582" y="1269093"/>
            <a:ext cx="9681232" cy="4898152"/>
            <a:chOff x="781045" y="1365345"/>
            <a:chExt cx="9681232" cy="4898152"/>
          </a:xfrm>
        </p:grpSpPr>
        <p:cxnSp>
          <p:nvCxnSpPr>
            <p:cNvPr id="30" name="Прямая со стрелкой 29"/>
            <p:cNvCxnSpPr/>
            <p:nvPr/>
          </p:nvCxnSpPr>
          <p:spPr>
            <a:xfrm flipV="1">
              <a:off x="1465843" y="3099029"/>
              <a:ext cx="2328471" cy="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Группа 98"/>
            <p:cNvGrpSpPr/>
            <p:nvPr/>
          </p:nvGrpSpPr>
          <p:grpSpPr>
            <a:xfrm>
              <a:off x="781045" y="1365345"/>
              <a:ext cx="9681232" cy="4898152"/>
              <a:chOff x="465324" y="1700221"/>
              <a:chExt cx="9681232" cy="4898152"/>
            </a:xfrm>
          </p:grpSpPr>
          <p:cxnSp>
            <p:nvCxnSpPr>
              <p:cNvPr id="63" name="Соединительная линия уступом 62"/>
              <p:cNvCxnSpPr>
                <a:stCxn id="41" idx="6"/>
              </p:cNvCxnSpPr>
              <p:nvPr/>
            </p:nvCxnSpPr>
            <p:spPr>
              <a:xfrm>
                <a:off x="3213167" y="5502558"/>
                <a:ext cx="2044645" cy="313306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Группа 94"/>
              <p:cNvGrpSpPr/>
              <p:nvPr/>
            </p:nvGrpSpPr>
            <p:grpSpPr>
              <a:xfrm>
                <a:off x="465324" y="1700221"/>
                <a:ext cx="9681232" cy="4898152"/>
                <a:chOff x="520516" y="1757656"/>
                <a:chExt cx="9681232" cy="489815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" name="Прямоугольник 85"/>
                    <p:cNvSpPr/>
                    <p:nvPr/>
                  </p:nvSpPr>
                  <p:spPr>
                    <a:xfrm>
                      <a:off x="3178359" y="2346080"/>
                      <a:ext cx="924227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86" name="Прямоугольник 8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78359" y="2346080"/>
                      <a:ext cx="924227" cy="369332"/>
                    </a:xfrm>
                    <a:prstGeom prst="rect">
                      <a:avLst/>
                    </a:prstGeom>
                    <a:blipFill rotWithShape="0">
                      <a:blip r:embed="rId3"/>
                      <a:stretch>
                        <a:fillRect b="-1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Прямоугольник 86"/>
                    <p:cNvSpPr/>
                    <p:nvPr/>
                  </p:nvSpPr>
                  <p:spPr>
                    <a:xfrm>
                      <a:off x="4120309" y="3158389"/>
                      <a:ext cx="701026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87" name="Прямоугольник 8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20309" y="3158389"/>
                      <a:ext cx="701026" cy="369332"/>
                    </a:xfrm>
                    <a:prstGeom prst="rect">
                      <a:avLst/>
                    </a:prstGeom>
                    <a:blipFill rotWithShape="0"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Прямоугольник 89"/>
                    <p:cNvSpPr/>
                    <p:nvPr/>
                  </p:nvSpPr>
                  <p:spPr>
                    <a:xfrm>
                      <a:off x="3237865" y="5163923"/>
                      <a:ext cx="47250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bar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90" name="Прямоугольник 8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37865" y="5163923"/>
                      <a:ext cx="472501" cy="369332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1" name="Прямоугольник 90"/>
                    <p:cNvSpPr/>
                    <p:nvPr/>
                  </p:nvSpPr>
                  <p:spPr>
                    <a:xfrm>
                      <a:off x="3239883" y="5992770"/>
                      <a:ext cx="47250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bar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91" name="Прямоугольник 9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39883" y="5992770"/>
                      <a:ext cx="472501" cy="369332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Прямоугольник 91"/>
                    <p:cNvSpPr/>
                    <p:nvPr/>
                  </p:nvSpPr>
                  <p:spPr>
                    <a:xfrm>
                      <a:off x="3224061" y="4372952"/>
                      <a:ext cx="467179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bar>
                          </m:oMath>
                        </m:oMathPara>
                      </a14:m>
                      <a:endParaRPr lang="ru-RU" dirty="0"/>
                    </a:p>
                  </p:txBody>
                </p:sp>
              </mc:Choice>
              <mc:Fallback xmlns="">
                <p:sp>
                  <p:nvSpPr>
                    <p:cNvPr id="92" name="Прямоугольник 9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24061" y="4372952"/>
                      <a:ext cx="467179" cy="369332"/>
                    </a:xfrm>
                    <a:prstGeom prst="rect">
                      <a:avLst/>
                    </a:prstGeom>
                    <a:blipFill rotWithShape="0"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94" name="Группа 93"/>
                <p:cNvGrpSpPr/>
                <p:nvPr/>
              </p:nvGrpSpPr>
              <p:grpSpPr>
                <a:xfrm>
                  <a:off x="520516" y="1757656"/>
                  <a:ext cx="9681232" cy="4898152"/>
                  <a:chOff x="520516" y="1757656"/>
                  <a:chExt cx="9681232" cy="4898152"/>
                </a:xfrm>
              </p:grpSpPr>
              <p:sp>
                <p:nvSpPr>
                  <p:cNvPr id="5" name="Прямоугольник 4"/>
                  <p:cNvSpPr>
                    <a:spLocks noChangeAspect="1"/>
                  </p:cNvSpPr>
                  <p:nvPr/>
                </p:nvSpPr>
                <p:spPr>
                  <a:xfrm>
                    <a:off x="3533785" y="3148776"/>
                    <a:ext cx="540000" cy="81000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360000" rtlCol="0" anchor="ctr"/>
                  <a:lstStyle/>
                  <a:p>
                    <a:pPr algn="ctr"/>
                    <a:r>
                      <a:rPr lang="en-US" dirty="0"/>
                      <a:t>&amp;</a:t>
                    </a:r>
                    <a:endParaRPr lang="ru-RU" dirty="0"/>
                  </a:p>
                </p:txBody>
              </p:sp>
              <p:grpSp>
                <p:nvGrpSpPr>
                  <p:cNvPr id="28" name="Группа 27"/>
                  <p:cNvGrpSpPr/>
                  <p:nvPr/>
                </p:nvGrpSpPr>
                <p:grpSpPr>
                  <a:xfrm>
                    <a:off x="520516" y="1757656"/>
                    <a:ext cx="1886414" cy="4898152"/>
                    <a:chOff x="520516" y="1757656"/>
                    <a:chExt cx="1886414" cy="4628154"/>
                  </a:xfrm>
                </p:grpSpPr>
                <p:cxnSp>
                  <p:nvCxnSpPr>
                    <p:cNvPr id="7" name="Прямая со стрелкой 6"/>
                    <p:cNvCxnSpPr/>
                    <p:nvPr/>
                  </p:nvCxnSpPr>
                  <p:spPr>
                    <a:xfrm>
                      <a:off x="715853" y="2323475"/>
                      <a:ext cx="58661" cy="4062335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headEnd type="oval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" name="Прямая со стрелкой 10"/>
                    <p:cNvCxnSpPr/>
                    <p:nvPr/>
                  </p:nvCxnSpPr>
                  <p:spPr>
                    <a:xfrm>
                      <a:off x="1183046" y="2323474"/>
                      <a:ext cx="58661" cy="4062335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headEnd type="oval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" name="Прямая со стрелкой 11"/>
                    <p:cNvCxnSpPr/>
                    <p:nvPr/>
                  </p:nvCxnSpPr>
                  <p:spPr>
                    <a:xfrm>
                      <a:off x="1623735" y="2323473"/>
                      <a:ext cx="58661" cy="4062335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headEnd type="oval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Прямая со стрелкой 12"/>
                    <p:cNvCxnSpPr/>
                    <p:nvPr/>
                  </p:nvCxnSpPr>
                  <p:spPr>
                    <a:xfrm>
                      <a:off x="2117432" y="2323473"/>
                      <a:ext cx="58661" cy="4062335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headEnd type="oval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" name="Прямоугольник 13"/>
                        <p:cNvSpPr/>
                        <p:nvPr/>
                      </p:nvSpPr>
                      <p:spPr>
                        <a:xfrm>
                          <a:off x="520516" y="1757656"/>
                          <a:ext cx="1886414" cy="400110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2000" dirty="0"/>
                            <a:t>   </a:t>
                          </a:r>
                          <a:r>
                            <a:rPr lang="en-US" sz="20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2000" dirty="0"/>
                            <a:t>   </a:t>
                          </a:r>
                          <a:r>
                            <a:rPr lang="en-US" sz="20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endParaRPr lang="ru-RU" sz="2000" dirty="0"/>
                        </a:p>
                      </p:txBody>
                    </p:sp>
                  </mc:Choice>
                  <mc:Fallback xmlns="">
                    <p:sp>
                      <p:nvSpPr>
                        <p:cNvPr id="14" name="Прямоугольник 13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20516" y="1757656"/>
                          <a:ext cx="1886414" cy="400110"/>
                        </a:xfrm>
                        <a:prstGeom prst="rect">
                          <a:avLst/>
                        </a:prstGeom>
                        <a:blipFill rotWithShape="0">
                          <a:blip r:embed="rId8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5" name="Прямоугольник 14"/>
                  <p:cNvSpPr>
                    <a:spLocks noChangeAspect="1"/>
                  </p:cNvSpPr>
                  <p:nvPr/>
                </p:nvSpPr>
                <p:spPr>
                  <a:xfrm>
                    <a:off x="8705785" y="3466692"/>
                    <a:ext cx="540000" cy="108000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360000" rtlCol="0" anchor="ctr"/>
                  <a:lstStyle/>
                  <a:p>
                    <a:pPr algn="ctr"/>
                    <a:r>
                      <a:rPr lang="en-US" dirty="0"/>
                      <a:t>1</a:t>
                    </a:r>
                    <a:endParaRPr lang="ru-RU" dirty="0"/>
                  </a:p>
                </p:txBody>
              </p:sp>
              <p:grpSp>
                <p:nvGrpSpPr>
                  <p:cNvPr id="29" name="Группа 28"/>
                  <p:cNvGrpSpPr/>
                  <p:nvPr/>
                </p:nvGrpSpPr>
                <p:grpSpPr>
                  <a:xfrm>
                    <a:off x="731931" y="2317126"/>
                    <a:ext cx="2397001" cy="945000"/>
                    <a:chOff x="731931" y="2505808"/>
                    <a:chExt cx="2397001" cy="945000"/>
                  </a:xfrm>
                </p:grpSpPr>
                <p:cxnSp>
                  <p:nvCxnSpPr>
                    <p:cNvPr id="24" name="Прямая со стрелкой 23"/>
                    <p:cNvCxnSpPr/>
                    <p:nvPr/>
                  </p:nvCxnSpPr>
                  <p:spPr>
                    <a:xfrm flipV="1">
                      <a:off x="1196298" y="2979618"/>
                      <a:ext cx="1833125" cy="40078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headEnd type="oval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Прямоугольник 16"/>
                    <p:cNvSpPr>
                      <a:spLocks noChangeAspect="1"/>
                    </p:cNvSpPr>
                    <p:nvPr/>
                  </p:nvSpPr>
                  <p:spPr>
                    <a:xfrm>
                      <a:off x="2588932" y="2505808"/>
                      <a:ext cx="540000" cy="945000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360000" rtlCol="0" anchor="ctr"/>
                    <a:lstStyle/>
                    <a:p>
                      <a:pPr algn="ctr"/>
                      <a:r>
                        <a:rPr lang="en-US" dirty="0"/>
                        <a:t>&amp;</a:t>
                      </a:r>
                      <a:endParaRPr lang="ru-RU" dirty="0"/>
                    </a:p>
                  </p:txBody>
                </p:sp>
                <p:cxnSp>
                  <p:nvCxnSpPr>
                    <p:cNvPr id="18" name="Прямая со стрелкой 17"/>
                    <p:cNvCxnSpPr/>
                    <p:nvPr/>
                  </p:nvCxnSpPr>
                  <p:spPr>
                    <a:xfrm flipV="1">
                      <a:off x="731931" y="2750263"/>
                      <a:ext cx="1833125" cy="40078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headEnd type="oval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Прямая со стрелкой 24"/>
                    <p:cNvCxnSpPr/>
                    <p:nvPr/>
                  </p:nvCxnSpPr>
                  <p:spPr>
                    <a:xfrm flipV="1">
                      <a:off x="1648493" y="3243526"/>
                      <a:ext cx="916563" cy="20039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headEnd type="oval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2" name="Прямая со стрелкой 31"/>
                  <p:cNvCxnSpPr/>
                  <p:nvPr/>
                </p:nvCxnSpPr>
                <p:spPr>
                  <a:xfrm>
                    <a:off x="2146039" y="3721192"/>
                    <a:ext cx="1387746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headEnd type="oval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8" name="Группа 37"/>
                  <p:cNvGrpSpPr/>
                  <p:nvPr/>
                </p:nvGrpSpPr>
                <p:grpSpPr>
                  <a:xfrm>
                    <a:off x="2638359" y="4451683"/>
                    <a:ext cx="630000" cy="540000"/>
                    <a:chOff x="2638359" y="4451683"/>
                    <a:chExt cx="630000" cy="540000"/>
                  </a:xfrm>
                </p:grpSpPr>
                <p:sp>
                  <p:nvSpPr>
                    <p:cNvPr id="16" name="Прямоугольник 15"/>
                    <p:cNvSpPr>
                      <a:spLocks noChangeAspect="1"/>
                    </p:cNvSpPr>
                    <p:nvPr/>
                  </p:nvSpPr>
                  <p:spPr>
                    <a:xfrm>
                      <a:off x="2638359" y="4451683"/>
                      <a:ext cx="540000" cy="540000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360000" rtlCol="0" anchor="ctr"/>
                    <a:lstStyle/>
                    <a:p>
                      <a:pPr algn="ctr"/>
                      <a:endParaRPr lang="ru-RU" dirty="0"/>
                    </a:p>
                  </p:txBody>
                </p:sp>
                <p:sp>
                  <p:nvSpPr>
                    <p:cNvPr id="37" name="Овал 36"/>
                    <p:cNvSpPr/>
                    <p:nvPr/>
                  </p:nvSpPr>
                  <p:spPr>
                    <a:xfrm>
                      <a:off x="3088359" y="4645812"/>
                      <a:ext cx="180000" cy="180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grpSp>
                <p:nvGrpSpPr>
                  <p:cNvPr id="39" name="Группа 38"/>
                  <p:cNvGrpSpPr/>
                  <p:nvPr/>
                </p:nvGrpSpPr>
                <p:grpSpPr>
                  <a:xfrm>
                    <a:off x="2638359" y="5275864"/>
                    <a:ext cx="630000" cy="540000"/>
                    <a:chOff x="2638359" y="4451683"/>
                    <a:chExt cx="630000" cy="540000"/>
                  </a:xfrm>
                </p:grpSpPr>
                <p:sp>
                  <p:nvSpPr>
                    <p:cNvPr id="40" name="Прямоугольник 39"/>
                    <p:cNvSpPr>
                      <a:spLocks noChangeAspect="1"/>
                    </p:cNvSpPr>
                    <p:nvPr/>
                  </p:nvSpPr>
                  <p:spPr>
                    <a:xfrm>
                      <a:off x="2638359" y="4451683"/>
                      <a:ext cx="540000" cy="540000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360000" rtlCol="0" anchor="ctr"/>
                    <a:lstStyle/>
                    <a:p>
                      <a:pPr algn="ctr"/>
                      <a:endParaRPr lang="ru-RU" dirty="0"/>
                    </a:p>
                  </p:txBody>
                </p:sp>
                <p:sp>
                  <p:nvSpPr>
                    <p:cNvPr id="41" name="Овал 40"/>
                    <p:cNvSpPr/>
                    <p:nvPr/>
                  </p:nvSpPr>
                  <p:spPr>
                    <a:xfrm>
                      <a:off x="3088359" y="4645812"/>
                      <a:ext cx="180000" cy="180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grpSp>
                <p:nvGrpSpPr>
                  <p:cNvPr id="42" name="Группа 41"/>
                  <p:cNvGrpSpPr/>
                  <p:nvPr/>
                </p:nvGrpSpPr>
                <p:grpSpPr>
                  <a:xfrm>
                    <a:off x="2638359" y="6115808"/>
                    <a:ext cx="630000" cy="540000"/>
                    <a:chOff x="2638359" y="4451683"/>
                    <a:chExt cx="630000" cy="540000"/>
                  </a:xfrm>
                </p:grpSpPr>
                <p:sp>
                  <p:nvSpPr>
                    <p:cNvPr id="43" name="Прямоугольник 42"/>
                    <p:cNvSpPr>
                      <a:spLocks noChangeAspect="1"/>
                    </p:cNvSpPr>
                    <p:nvPr/>
                  </p:nvSpPr>
                  <p:spPr>
                    <a:xfrm>
                      <a:off x="2638359" y="4451683"/>
                      <a:ext cx="540000" cy="540000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360000" rtlCol="0" anchor="ctr"/>
                    <a:lstStyle/>
                    <a:p>
                      <a:pPr algn="ctr"/>
                      <a:endParaRPr lang="ru-RU" dirty="0"/>
                    </a:p>
                  </p:txBody>
                </p:sp>
                <p:sp>
                  <p:nvSpPr>
                    <p:cNvPr id="44" name="Овал 43"/>
                    <p:cNvSpPr/>
                    <p:nvPr/>
                  </p:nvSpPr>
                  <p:spPr>
                    <a:xfrm>
                      <a:off x="3088359" y="4645812"/>
                      <a:ext cx="180000" cy="180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cxnSp>
                <p:nvCxnSpPr>
                  <p:cNvPr id="45" name="Прямая со стрелкой 44"/>
                  <p:cNvCxnSpPr/>
                  <p:nvPr/>
                </p:nvCxnSpPr>
                <p:spPr>
                  <a:xfrm>
                    <a:off x="758293" y="4721683"/>
                    <a:ext cx="1880066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headEnd type="oval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Прямая со стрелкой 46"/>
                  <p:cNvCxnSpPr/>
                  <p:nvPr/>
                </p:nvCxnSpPr>
                <p:spPr>
                  <a:xfrm>
                    <a:off x="1241707" y="5496305"/>
                    <a:ext cx="1396652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headEnd type="oval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Прямая со стрелкой 48"/>
                  <p:cNvCxnSpPr/>
                  <p:nvPr/>
                </p:nvCxnSpPr>
                <p:spPr>
                  <a:xfrm>
                    <a:off x="1682396" y="6292706"/>
                    <a:ext cx="955963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headEnd type="oval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Прямоугольник 50"/>
                  <p:cNvSpPr>
                    <a:spLocks noChangeAspect="1"/>
                  </p:cNvSpPr>
                  <p:nvPr/>
                </p:nvSpPr>
                <p:spPr>
                  <a:xfrm>
                    <a:off x="5305939" y="4181683"/>
                    <a:ext cx="540000" cy="81000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360000" rtlCol="0" anchor="ctr"/>
                  <a:lstStyle/>
                  <a:p>
                    <a:pPr algn="ctr"/>
                    <a:r>
                      <a:rPr lang="en-US" dirty="0"/>
                      <a:t>&amp;</a:t>
                    </a:r>
                    <a:endParaRPr lang="ru-RU" dirty="0"/>
                  </a:p>
                </p:txBody>
              </p:sp>
              <p:sp>
                <p:nvSpPr>
                  <p:cNvPr id="52" name="Прямоугольник 51"/>
                  <p:cNvSpPr>
                    <a:spLocks noChangeAspect="1"/>
                  </p:cNvSpPr>
                  <p:nvPr/>
                </p:nvSpPr>
                <p:spPr>
                  <a:xfrm>
                    <a:off x="5305939" y="5575808"/>
                    <a:ext cx="540000" cy="81000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360000" rtlCol="0" anchor="ctr"/>
                  <a:lstStyle/>
                  <a:p>
                    <a:pPr algn="ctr"/>
                    <a:r>
                      <a:rPr lang="en-US" dirty="0"/>
                      <a:t>&amp;</a:t>
                    </a:r>
                    <a:endParaRPr lang="ru-RU" dirty="0"/>
                  </a:p>
                </p:txBody>
              </p:sp>
              <p:cxnSp>
                <p:nvCxnSpPr>
                  <p:cNvPr id="54" name="Соединительная линия уступом 53"/>
                  <p:cNvCxnSpPr/>
                  <p:nvPr/>
                </p:nvCxnSpPr>
                <p:spPr>
                  <a:xfrm>
                    <a:off x="2146039" y="4179997"/>
                    <a:ext cx="3159900" cy="264209"/>
                  </a:xfrm>
                  <a:prstGeom prst="bentConnector3">
                    <a:avLst>
                      <a:gd name="adj1" fmla="val 50000"/>
                    </a:avLst>
                  </a:prstGeom>
                  <a:ln w="38100">
                    <a:solidFill>
                      <a:schemeClr val="tx1"/>
                    </a:solidFill>
                    <a:head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/>
                  <p:cNvCxnSpPr>
                    <a:stCxn id="37" idx="6"/>
                  </p:cNvCxnSpPr>
                  <p:nvPr/>
                </p:nvCxnSpPr>
                <p:spPr>
                  <a:xfrm>
                    <a:off x="3268359" y="4735812"/>
                    <a:ext cx="2037580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Соединительная линия уступом 65"/>
                  <p:cNvCxnSpPr>
                    <a:stCxn id="44" idx="6"/>
                  </p:cNvCxnSpPr>
                  <p:nvPr/>
                </p:nvCxnSpPr>
                <p:spPr>
                  <a:xfrm flipV="1">
                    <a:off x="3268359" y="6115387"/>
                    <a:ext cx="2009104" cy="284550"/>
                  </a:xfrm>
                  <a:prstGeom prst="bentConnector3">
                    <a:avLst>
                      <a:gd name="adj1" fmla="val 50000"/>
                    </a:avLst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Соединительная линия уступом 69"/>
                  <p:cNvCxnSpPr>
                    <a:stCxn id="17" idx="3"/>
                  </p:cNvCxnSpPr>
                  <p:nvPr/>
                </p:nvCxnSpPr>
                <p:spPr>
                  <a:xfrm>
                    <a:off x="3128932" y="2789626"/>
                    <a:ext cx="5576853" cy="994984"/>
                  </a:xfrm>
                  <a:prstGeom prst="bentConnector3">
                    <a:avLst>
                      <a:gd name="adj1" fmla="val 65355"/>
                    </a:avLst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Соединительная линия уступом 70"/>
                  <p:cNvCxnSpPr>
                    <a:stCxn id="5" idx="3"/>
                    <a:endCxn id="15" idx="1"/>
                  </p:cNvCxnSpPr>
                  <p:nvPr/>
                </p:nvCxnSpPr>
                <p:spPr>
                  <a:xfrm>
                    <a:off x="4073785" y="3553776"/>
                    <a:ext cx="4632000" cy="452916"/>
                  </a:xfrm>
                  <a:prstGeom prst="bentConnector3">
                    <a:avLst>
                      <a:gd name="adj1" fmla="val 50000"/>
                    </a:avLst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Соединительная линия уступом 71"/>
                  <p:cNvCxnSpPr>
                    <a:stCxn id="52" idx="3"/>
                  </p:cNvCxnSpPr>
                  <p:nvPr/>
                </p:nvCxnSpPr>
                <p:spPr>
                  <a:xfrm flipV="1">
                    <a:off x="5845939" y="4383340"/>
                    <a:ext cx="2859846" cy="1597468"/>
                  </a:xfrm>
                  <a:prstGeom prst="bentConnector3">
                    <a:avLst>
                      <a:gd name="adj1" fmla="val 60658"/>
                    </a:avLst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Соединительная линия уступом 72"/>
                  <p:cNvCxnSpPr>
                    <a:stCxn id="51" idx="3"/>
                  </p:cNvCxnSpPr>
                  <p:nvPr/>
                </p:nvCxnSpPr>
                <p:spPr>
                  <a:xfrm flipV="1">
                    <a:off x="5845939" y="4179997"/>
                    <a:ext cx="2859846" cy="406686"/>
                  </a:xfrm>
                  <a:prstGeom prst="bentConnector3">
                    <a:avLst>
                      <a:gd name="adj1" fmla="val 50000"/>
                    </a:avLst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Прямая со стрелкой 84"/>
                  <p:cNvCxnSpPr/>
                  <p:nvPr/>
                </p:nvCxnSpPr>
                <p:spPr>
                  <a:xfrm>
                    <a:off x="9245785" y="4021852"/>
                    <a:ext cx="955963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8" name="Прямоугольник 87"/>
                      <p:cNvSpPr/>
                      <p:nvPr/>
                    </p:nvSpPr>
                    <p:spPr>
                      <a:xfrm>
                        <a:off x="5891641" y="4177360"/>
                        <a:ext cx="695703" cy="369332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ba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ru-RU" dirty="0"/>
                      </a:p>
                    </p:txBody>
                  </p:sp>
                </mc:Choice>
                <mc:Fallback xmlns="">
                  <p:sp>
                    <p:nvSpPr>
                      <p:cNvPr id="88" name="Прямоугольник 8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891641" y="4177360"/>
                        <a:ext cx="695703" cy="369332"/>
                      </a:xfrm>
                      <a:prstGeom prst="rect">
                        <a:avLst/>
                      </a:prstGeom>
                      <a:blipFill rotWithShape="0"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9" name="Прямоугольник 88"/>
                      <p:cNvSpPr/>
                      <p:nvPr/>
                    </p:nvSpPr>
                    <p:spPr>
                      <a:xfrm>
                        <a:off x="5919450" y="5545864"/>
                        <a:ext cx="752322" cy="369332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ba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bar>
                            </m:oMath>
                          </m:oMathPara>
                        </a14:m>
                        <a:endParaRPr lang="ru-RU" dirty="0"/>
                      </a:p>
                    </p:txBody>
                  </p:sp>
                </mc:Choice>
                <mc:Fallback xmlns="">
                  <p:sp>
                    <p:nvSpPr>
                      <p:cNvPr id="89" name="Прямоугольник 88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919450" y="5545864"/>
                        <a:ext cx="752322" cy="369332"/>
                      </a:xfrm>
                      <a:prstGeom prst="rect">
                        <a:avLst/>
                      </a:prstGeom>
                      <a:blipFill rotWithShape="0">
                        <a:blip r:embed="rId10"/>
                        <a:stretch>
                          <a:fillRect b="-1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3" name="Прямоугольник 92"/>
                      <p:cNvSpPr/>
                      <p:nvPr/>
                    </p:nvSpPr>
                    <p:spPr>
                      <a:xfrm>
                        <a:off x="9469950" y="3595568"/>
                        <a:ext cx="377347" cy="369332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m:oMathPara>
                        </a14:m>
                        <a:endParaRPr lang="ru-RU" dirty="0"/>
                      </a:p>
                    </p:txBody>
                  </p:sp>
                </mc:Choice>
                <mc:Fallback xmlns="">
                  <p:sp>
                    <p:nvSpPr>
                      <p:cNvPr id="93" name="Прямоугольник 92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69950" y="3595568"/>
                        <a:ext cx="377347" cy="369332"/>
                      </a:xfrm>
                      <a:prstGeom prst="rect">
                        <a:avLst/>
                      </a:prstGeom>
                      <a:blipFill rotWithShape="0">
                        <a:blip r:embed="rId11"/>
                        <a:stretch>
                          <a:fillRect b="-15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</p:grpSp>
    </p:spTree>
    <p:extLst>
      <p:ext uri="{BB962C8B-B14F-4D97-AF65-F5344CB8AC3E}">
        <p14:creationId xmlns:p14="http://schemas.microsoft.com/office/powerpoint/2010/main" val="2441126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913795" y="20391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Построим контактную схему, реализующую данную логическую функцию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14377" y="1434014"/>
                <a:ext cx="813760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377" y="1434014"/>
                <a:ext cx="8137608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75" t="-25352" b="-492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579" y="2548988"/>
            <a:ext cx="8726905" cy="3770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4482789" y="2934365"/>
                <a:ext cx="4671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789" y="2934365"/>
                <a:ext cx="467179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5727031" y="2934365"/>
                <a:ext cx="4725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031" y="2934365"/>
                <a:ext cx="472502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7056806" y="2934365"/>
                <a:ext cx="4725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806" y="2934365"/>
                <a:ext cx="472502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6437265" y="3950186"/>
                <a:ext cx="4725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265" y="3950186"/>
                <a:ext cx="472502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4573599" y="3987784"/>
                <a:ext cx="4725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599" y="3987784"/>
                <a:ext cx="472502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4430282" y="5105371"/>
                <a:ext cx="4671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282" y="5105371"/>
                <a:ext cx="467179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4358951" y="6134792"/>
                <a:ext cx="68715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951" y="6134792"/>
                <a:ext cx="687150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6315265" y="6134792"/>
                <a:ext cx="4725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265" y="6134792"/>
                <a:ext cx="472502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6315265" y="5041070"/>
                <a:ext cx="4725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265" y="5041070"/>
                <a:ext cx="472502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527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6725" y="1363579"/>
            <a:ext cx="11315699" cy="5075321"/>
          </a:xfrm>
        </p:spPr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ru-RU" sz="4400" b="1" dirty="0"/>
              <a:t>Функция задана вектором:</a:t>
            </a:r>
            <a:endParaRPr lang="en-US" sz="4400" b="1" dirty="0"/>
          </a:p>
          <a:p>
            <a:pPr marL="36900" indent="0">
              <a:buNone/>
            </a:pPr>
            <a:endParaRPr lang="en-US" sz="4400" dirty="0"/>
          </a:p>
          <a:p>
            <a:pPr marL="36900" indent="0">
              <a:buNone/>
            </a:pPr>
            <a:endParaRPr lang="en-US" sz="4400" dirty="0"/>
          </a:p>
          <a:p>
            <a:pPr marL="36900" indent="0">
              <a:buNone/>
            </a:pPr>
            <a:r>
              <a:rPr lang="ru-RU" sz="4400" dirty="0"/>
              <a:t>Требуется:</a:t>
            </a:r>
          </a:p>
          <a:p>
            <a:pPr marL="36900" indent="0">
              <a:buNone/>
            </a:pPr>
            <a:r>
              <a:rPr lang="ru-RU" sz="4400" dirty="0"/>
              <a:t>Построить таблицу истинности, СДНФ, минимизировать данную функцию методами карт Карно и </a:t>
            </a:r>
            <a:r>
              <a:rPr lang="ru-RU" sz="4400" dirty="0" err="1"/>
              <a:t>Квайна</a:t>
            </a:r>
            <a:r>
              <a:rPr lang="en-US" sz="4400" dirty="0"/>
              <a:t>, </a:t>
            </a:r>
            <a:r>
              <a:rPr lang="ru-RU" sz="4400" dirty="0"/>
              <a:t>построить логическую и контактную схемы минимальной ДНФ</a:t>
            </a:r>
          </a:p>
          <a:p>
            <a:endParaRPr lang="ru-R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66725" y="2431000"/>
                <a:ext cx="11172825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44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∈[0;15]</m:t>
                      </m:r>
                    </m:oMath>
                  </m:oMathPara>
                </a14:m>
                <a:endParaRPr lang="ru-RU" sz="4400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5" y="2431000"/>
                <a:ext cx="11172825" cy="67710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66726" y="186225"/>
            <a:ext cx="11172824" cy="970450"/>
          </a:xfrm>
        </p:spPr>
        <p:txBody>
          <a:bodyPr>
            <a:noAutofit/>
          </a:bodyPr>
          <a:lstStyle/>
          <a:p>
            <a:r>
              <a:rPr lang="ru-RU" sz="4400" b="1" dirty="0"/>
              <a:t>Задания для самостоятельной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241383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3" y="200527"/>
            <a:ext cx="10353762" cy="613144"/>
          </a:xfrm>
        </p:spPr>
        <p:txBody>
          <a:bodyPr>
            <a:noAutofit/>
          </a:bodyPr>
          <a:lstStyle/>
          <a:p>
            <a:r>
              <a:rPr lang="ru-RU" sz="4400" dirty="0"/>
              <a:t>Варианты заданий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445897"/>
              </p:ext>
            </p:extLst>
          </p:nvPr>
        </p:nvGraphicFramePr>
        <p:xfrm>
          <a:off x="1145659" y="1267073"/>
          <a:ext cx="9900681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№ вари-анта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</a:rPr>
                        <a:t>Номер набора функции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744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3" y="200527"/>
            <a:ext cx="10353762" cy="613144"/>
          </a:xfrm>
        </p:spPr>
        <p:txBody>
          <a:bodyPr>
            <a:noAutofit/>
          </a:bodyPr>
          <a:lstStyle/>
          <a:p>
            <a:r>
              <a:rPr lang="ru-RU" sz="4400" dirty="0"/>
              <a:t>Варианты заданий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401913"/>
              </p:ext>
            </p:extLst>
          </p:nvPr>
        </p:nvGraphicFramePr>
        <p:xfrm>
          <a:off x="1062129" y="1164432"/>
          <a:ext cx="9900681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№ вари-анта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</a:rPr>
                        <a:t>Номер набора функции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490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3" y="200527"/>
            <a:ext cx="10353762" cy="613144"/>
          </a:xfrm>
        </p:spPr>
        <p:txBody>
          <a:bodyPr>
            <a:noAutofit/>
          </a:bodyPr>
          <a:lstStyle/>
          <a:p>
            <a:r>
              <a:rPr lang="ru-RU" sz="4400" dirty="0"/>
              <a:t>Варианты заданий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84190"/>
              </p:ext>
            </p:extLst>
          </p:nvPr>
        </p:nvGraphicFramePr>
        <p:xfrm>
          <a:off x="1062129" y="1164432"/>
          <a:ext cx="9900681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676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№ вари-анта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tx1"/>
                          </a:solidFill>
                        </a:rPr>
                        <a:t>Номер набора функции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5793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рифель">
  <a:themeElements>
    <a:clrScheme name="Грифель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Грифель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ифель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TM04033929[[fn=Грифель]]</Template>
  <TotalTime>1312</TotalTime>
  <Words>2063</Words>
  <Application>Microsoft Office PowerPoint</Application>
  <PresentationFormat>Широкоэкранный</PresentationFormat>
  <Paragraphs>1093</Paragraphs>
  <Slides>29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Calisto MT</vt:lpstr>
      <vt:lpstr>Cambria Math</vt:lpstr>
      <vt:lpstr>Wingdings 2</vt:lpstr>
      <vt:lpstr>Грифель</vt:lpstr>
      <vt:lpstr>Методы минимизации логических функций</vt:lpstr>
      <vt:lpstr>Задача минимизации логической функции</vt:lpstr>
      <vt:lpstr>Задача минимизации логической функции</vt:lpstr>
      <vt:lpstr>Метод карт Карно</vt:lpstr>
      <vt:lpstr>Презентация PowerPoint</vt:lpstr>
      <vt:lpstr>Презентация PowerPoint</vt:lpstr>
      <vt:lpstr>Презентация PowerPoint</vt:lpstr>
      <vt:lpstr>Метод Квайна</vt:lpstr>
      <vt:lpstr>I. Выпишем все элементарные конъюнкции, входящие в данную функцию:</vt:lpstr>
      <vt:lpstr>II. определим простые импликанты путем попарного сравнения (склеившиеся конъюнкции пометим знаком «*»):</vt:lpstr>
      <vt:lpstr>На данном шаге не осталось непомеченных импликант</vt:lpstr>
      <vt:lpstr>III. Продолжим попарное сравнение (склеившиеся конъюнкции пометим знаком «*»):</vt:lpstr>
      <vt:lpstr>III. Продолжим попарное сравнение (склеившиеся конъюнкции пометим знаком «*»):</vt:lpstr>
      <vt:lpstr>III. Оставшаяся непомеченной импликанта  номер 13 является простой</vt:lpstr>
      <vt:lpstr>IV. Вычеркнем повторяющиеся конъюнкции и продолжим попарное сравнение помечая знаком «*» склеивающиеся импликанты):</vt:lpstr>
      <vt:lpstr>Итак, простые импликанты:</vt:lpstr>
      <vt:lpstr>Определение существенных импликант</vt:lpstr>
      <vt:lpstr>Определение существенных импликант</vt:lpstr>
      <vt:lpstr>Определение существенных импликант</vt:lpstr>
      <vt:lpstr>Определение существенных импликант</vt:lpstr>
      <vt:lpstr>Определение существенных импликант</vt:lpstr>
      <vt:lpstr>Определение существенных импликант</vt:lpstr>
      <vt:lpstr>Запишем минимальную ДНФ данной функции </vt:lpstr>
      <vt:lpstr>Построим функциональную схему, реализующую данную логическую функцию</vt:lpstr>
      <vt:lpstr>Презентация PowerPoint</vt:lpstr>
      <vt:lpstr>Задания для самостоятельной работы</vt:lpstr>
      <vt:lpstr>Варианты заданий</vt:lpstr>
      <vt:lpstr>Варианты заданий</vt:lpstr>
      <vt:lpstr>Варианты заданий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Минимизация логических функций</dc:title>
  <dc:creator>Ирина</dc:creator>
  <cp:lastModifiedBy>Eduard Tigranyan</cp:lastModifiedBy>
  <cp:revision>70</cp:revision>
  <dcterms:created xsi:type="dcterms:W3CDTF">2019-02-17T19:18:47Z</dcterms:created>
  <dcterms:modified xsi:type="dcterms:W3CDTF">2024-11-02T08:28:57Z</dcterms:modified>
</cp:coreProperties>
</file>